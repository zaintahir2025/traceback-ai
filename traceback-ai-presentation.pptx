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 are presenting TraceBack AI, an autonomous multi-agent platform designed to eliminate enterprise procurement spend leakage. By combining Zetaris Zero-ETL Data Virtualization, Meterless Relay Orchestration, and Meterless Nightshift local intelligence, TraceBack AI reconciles purchase orders, delivery notes, supplier invoices, and legal contracts in under 200 milliseconds with an immutable, cell-level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mission is simple: transform procurement auditing from a slow, sample-based, manual retrospective into a real-time, 100% census spend defense system. Traditional systems fail because data is siloed across ERP, warehouse, accounts payable, and legal contracts. TraceBack AI connects these systems virtually, analyzes discrepancies deterministically, and prepares ready-to-send dispute claims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B2B procurement processes 14 trillion dollars every year. Yet, less than 5% of invoices ever receive rigorous, multi-point cross-source verification before payment. ERPs perform basic two-way matching that only compares the invoice against the purchase order. They completely miss the warehouse receiving dock notes where items were damaged or unreceived, and they miss the contract pricing schedule where unit price ceilings were negotiated.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metrics define TraceBack AI. 184 milliseconds per audit, meaning we can audit an entire enterprise monthly transaction ledger in minutes. $1,200 recovered on a single $6,000 purchase order, demonstrating immediate ROI. 96.5% audit confidence backed by deterministic cell-level citations. And zero false positives, proven on our benchmark test of clean order PO-1002.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money go? 45% of procurement leakage is quantity overbilling, where suppliers bill for ordered units rather than delivered units. 30% is contract rate escalation, where suppliers charge catalogue rates instead of negotiated contract rates. 15% is unapproved surcharges. And 10% is duplicate billing. TraceBack AI targets all four vectors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illustrates why the enterprise remains vulnerable: every system is an island. SAP ERP knows what was ordered. The WMS knows what was received. The AP portal knows what was billed. And the legal repository knows the agreed rates. No single system has visibility into the other three. This gap is where spend leakage thrives.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CFOs believe their ERP protects them with automated 2-way or 3-way matching. In reality, 2-way matching completely ignores the receiving dock, and 3-way matching completely ignores contract pricing schedules. If a supplier bills for 100 received units at $50 instead of contracted $48, 3-way matching clears the invoice without a hiccup. TraceBack AI is a true 4-way reconciliation agent that checks all four vectors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just build an ETL data lakehouse? Because moving data is slow, expensive, and insecure. Nightly batch ETL means you are always auditing yesterday's data. Zetaris completely rethinks this by querying data where it lives. Through Zero-ETL Data Virtualization, TraceBack AI joins ERP, WMS, invoice, and contract datasets across sources in 12 milliseconds with zero data duplication.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auditing is physically unable to handle enterprise volume. When auditors inspect only a 5% random sample, 95% of spend leakage walks out the door. Third-party recovery audit firms charge up to 35% contingency fees to find these mistakes a year later. TraceBack AI conducts a 100% census audit in real time, stopping overpayments before they occur.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TraceBack AI serves the complete enterprise financial hierarchy. The CPO gains contract compliance. The Financial Auditor gains a bulletproof audit trail. The AP Controller eliminates manual verification backlogs. And the Supply Chain VP ensures that warehouse receiving dock records govern financial disbursements.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Chief Procurement Officer, TraceBack AI ensures that every negotiated dollar actually reaches the bottom line. It stops supplier price creep and provides factual vendor scorecards based on real reconciliation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Financial Auditors and Controllers, TraceBack AI provides the gold standard of audit defensibility: zero hallucination. Every claim cites the exact file, row, and column. It replaces random sampling with a 100% census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AP Controllers, TraceBack AI auto-drafts polite, fact-based dispute letters with exact proof attached. For Supply Chain leads, it guarantees that warehouse dock receipts govern financial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four pillars of the TraceBack AI solution: First, Virtualize with Zetaris. Second, Orchestrate with Meterless. Third, Reason locally with Meterless Nightshift at zero token cost. And fourth, Act and Recover with human-in-the-loop dispute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live benchmark order, PO-1001. The supplier billed for $6,000. Traditional 2-way matching approves it because the PO authorized $6,000. But TraceBack AI compares it with the warehouse receiving log and contract schedule, immediately uncovering $1,200 in overcharges in 184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Discrepancy 1 is straightforward quantity overbilling. The supplier billed for 120 units, but warehouse dock receipt DN-045 proved only 100 units were delivered. That is 20 phantom units billed at $50, creating a direct $1,000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Discrepancy 2 is contract rate escalation. The invoice charged $50 per unit, exceeding our contracted ceiling price of $48. On the 100 delivered units, that $2 unauthorized increase created an additional $200 in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Crucially, an AI auditor is only as good as its false positive rate. If an agent raises false alarms, finance teams ignore it. On clean order PO-1002, where 50 units were ordered, 50 delivered, and 50 invoiced at contract price, TraceBack AI returns exactly $0 overcharge and 100% concordance. Zero false alarms.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system architecture is structured in four high-performance tiers. Tier 1 is Data Virtualization powered by Zetaris. Tier 2 is Multi-Agent Orchestration powered by Meterless. Tier 3 is the Evidence Index that locks down immutable coordinates. And Tier 4 is our interactive React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5-stage mission pipeline. Stage 1: Scout parses intent. Stage 2: Relay coordinates Zetaris queries. Stage 3: Reconciliation calculates variance. Stage 4: Confidence scoring verifies multi-source alignment. Stage 5: Meterless Nightshift performs autonomous local reasoning. The entire sequence executes in 184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Audit defensibility is our core differentiator. Every dollar flagged links to an immutable coordinate citing file, row, column, and value. Generative AI is never allowed to guess numbers; math is computed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TraceBack AI keeps the human in the loop. The lead auditor approves the claim with one click, and the platform instantly drafts a professional, fact-based dispute letter citing exact delivery notes and contract clauses.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Zetaris is our primary data integration foundation. Rather than copying files into a staging warehouse, our agents issue a federated SQL query directly through Zetaris, joining ERP, WMS, invoice, and contract datasets on the fly in 12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ensure 100% resilience, TraceBack AI implements an Enterprise Hybrid architecture. In production, it connects to the live Zetaris Network API. In offline hackathon environments or GitHub Pages, it spins up an identical in-memory federator that mirrors the exact Zetaris SQL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agent orchestration, we leverage the Meterless Engine. Scout parses audit intent, Relay routes data and tool calls, and Gaia H-MEM provides persistent working memory so auditors never lose context across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Meterless Nightshift acts as our AI provider. It executes a 4-stage Race, Judge, Verify, Generate reasoning cycle entirely on local compute. Because it runs locally, it consumes zero cloud tokens, keeps financial data strictly private, and outputs an immutable cryptographic audit receipt.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for TraceBack AI is immediate: on a $50 million spend baseline, capturing 2.5% leakage delivers $1.25 million directly back to EBITDA. With zero ETL infrastructure, implementation takes less than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TraceBack AI demonstrates that autonomous agents, when grounded in Zero-ETL Data Virtualization and local intelligence, solve real multi-million dollar enterprise problems. Everything shown today is live, verifiable, and open-source. Thank you very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731520"/>
            <a:ext cx="10725912" cy="5303520"/>
          </a:xfrm>
          <a:prstGeom prst="roundRect">
            <a:avLst>
              <a:gd name="adj" fmla="val 3448"/>
            </a:avLst>
          </a:prstGeom>
          <a:solidFill>
            <a:srgbClr val="0B1120"/>
          </a:solidFill>
          <a:ln w="25400">
            <a:solidFill>
              <a:srgbClr val="312E81"/>
            </a:solidFill>
            <a:prstDash val="solid"/>
          </a:ln>
        </p:spPr>
      </p:sp>
      <p:sp>
        <p:nvSpPr>
          <p:cNvPr id="3" name="Shape 1"/>
          <p:cNvSpPr/>
          <p:nvPr/>
        </p:nvSpPr>
        <p:spPr>
          <a:xfrm>
            <a:off x="1188720" y="1188720"/>
            <a:ext cx="3200400" cy="329184"/>
          </a:xfrm>
          <a:prstGeom prst="roundRect">
            <a:avLst>
              <a:gd name="adj" fmla="val 50000"/>
            </a:avLst>
          </a:prstGeom>
          <a:solidFill>
            <a:srgbClr val="1E1B4B"/>
          </a:solidFill>
          <a:ln w="19050">
            <a:solidFill>
              <a:srgbClr val="6366F1"/>
            </a:solidFill>
            <a:prstDash val="solid"/>
          </a:ln>
        </p:spPr>
      </p:sp>
      <p:sp>
        <p:nvSpPr>
          <p:cNvPr id="4" name="Text 2"/>
          <p:cNvSpPr/>
          <p:nvPr/>
        </p:nvSpPr>
        <p:spPr>
          <a:xfrm>
            <a:off x="1188720" y="1188720"/>
            <a:ext cx="3200400" cy="329184"/>
          </a:xfrm>
          <a:prstGeom prst="rect">
            <a:avLst/>
          </a:prstGeom>
          <a:noFill/>
          <a:ln/>
        </p:spPr>
        <p:txBody>
          <a:bodyPr wrap="square" rtlCol="0" anchor="ctr"/>
          <a:lstStyle/>
          <a:p>
            <a:pPr algn="ctr" indent="0" marL="0">
              <a:buNone/>
            </a:pPr>
            <a:r>
              <a:rPr lang="en-US" sz="1100" b="1" dirty="0">
                <a:solidFill>
                  <a:srgbClr val="C7D2FE"/>
                </a:solidFill>
                <a:latin typeface="Calibri" pitchFamily="34" charset="0"/>
                <a:ea typeface="Calibri" pitchFamily="34" charset="-122"/>
                <a:cs typeface="Calibri" pitchFamily="34" charset="-120"/>
              </a:rPr>
              <a:t>GLOBAL AI HACKATHON 2026</a:t>
            </a:r>
            <a:endParaRPr lang="en-US" sz="1100" dirty="0"/>
          </a:p>
        </p:txBody>
      </p:sp>
      <p:sp>
        <p:nvSpPr>
          <p:cNvPr id="5" name="Text 3"/>
          <p:cNvSpPr/>
          <p:nvPr/>
        </p:nvSpPr>
        <p:spPr>
          <a:xfrm>
            <a:off x="1188720" y="1691640"/>
            <a:ext cx="9601200" cy="868680"/>
          </a:xfrm>
          <a:prstGeom prst="rect">
            <a:avLst/>
          </a:prstGeom>
          <a:noFill/>
          <a:ln/>
        </p:spPr>
        <p:txBody>
          <a:bodyPr wrap="square"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TraceBack AI</a:t>
            </a:r>
            <a:endParaRPr lang="en-US" sz="4600" dirty="0"/>
          </a:p>
        </p:txBody>
      </p:sp>
      <p:sp>
        <p:nvSpPr>
          <p:cNvPr id="6" name="Text 4"/>
          <p:cNvSpPr/>
          <p:nvPr/>
        </p:nvSpPr>
        <p:spPr>
          <a:xfrm>
            <a:off x="1188720" y="2560320"/>
            <a:ext cx="9601200" cy="411480"/>
          </a:xfrm>
          <a:prstGeom prst="rect">
            <a:avLst/>
          </a:prstGeom>
          <a:noFill/>
          <a:ln/>
        </p:spPr>
        <p:txBody>
          <a:bodyPr wrap="square" rtlCol="0" anchor="t"/>
          <a:lstStyle/>
          <a:p>
            <a:pPr indent="0" marL="0">
              <a:buNone/>
            </a:pPr>
            <a:r>
              <a:rPr lang="en-US" sz="1700" b="1" dirty="0">
                <a:solidFill>
                  <a:srgbClr val="38BDF8"/>
                </a:solidFill>
                <a:latin typeface="Calibri" pitchFamily="34" charset="0"/>
                <a:ea typeface="Calibri" pitchFamily="34" charset="-122"/>
                <a:cs typeface="Calibri" pitchFamily="34" charset="-120"/>
              </a:rPr>
              <a:t>Autonomous 4-Way Cross-Source Data Virtualization &amp; Spend Recovery Agent</a:t>
            </a:r>
            <a:endParaRPr lang="en-US" sz="1700" dirty="0"/>
          </a:p>
        </p:txBody>
      </p:sp>
      <p:sp>
        <p:nvSpPr>
          <p:cNvPr id="7" name="Text 5"/>
          <p:cNvSpPr/>
          <p:nvPr/>
        </p:nvSpPr>
        <p:spPr>
          <a:xfrm>
            <a:off x="1188720" y="3017520"/>
            <a:ext cx="9601200" cy="594360"/>
          </a:xfrm>
          <a:prstGeom prst="rect">
            <a:avLst/>
          </a:prstGeom>
          <a:noFill/>
          <a:ln/>
        </p:spPr>
        <p:txBody>
          <a:bodyPr wrap="square" rtlCol="0" anchor="t"/>
          <a:lstStyle/>
          <a:p>
            <a:pPr indent="0" marL="0">
              <a:buNone/>
            </a:pPr>
            <a:r>
              <a:rPr lang="en-US" sz="1350" dirty="0">
                <a:solidFill>
                  <a:srgbClr val="CBD5E1"/>
                </a:solidFill>
                <a:latin typeface="Calibri" pitchFamily="34" charset="0"/>
                <a:ea typeface="Calibri" pitchFamily="34" charset="-122"/>
                <a:cs typeface="Calibri" pitchFamily="34" charset="-120"/>
              </a:rPr>
              <a:t>Unifying ERP purchase orders, warehouse delivery notes, AP invoices, and master contracts with Zero-ETL virtualization, cell-level audit defensibility, and $0.00 local AI execution.</a:t>
            </a:r>
            <a:endParaRPr lang="en-US" sz="1350" dirty="0"/>
          </a:p>
        </p:txBody>
      </p:sp>
      <p:sp>
        <p:nvSpPr>
          <p:cNvPr id="8" name="Shape 6"/>
          <p:cNvSpPr/>
          <p:nvPr/>
        </p:nvSpPr>
        <p:spPr>
          <a:xfrm>
            <a:off x="1188720" y="3886200"/>
            <a:ext cx="3108960" cy="1143000"/>
          </a:xfrm>
          <a:prstGeom prst="roundRect">
            <a:avLst>
              <a:gd name="adj" fmla="val 12000"/>
            </a:avLst>
          </a:prstGeom>
          <a:solidFill>
            <a:srgbClr val="082F49"/>
          </a:solidFill>
          <a:ln w="19050">
            <a:solidFill>
              <a:srgbClr val="38BDF8"/>
            </a:solidFill>
            <a:prstDash val="solid"/>
          </a:ln>
        </p:spPr>
      </p:sp>
      <p:sp>
        <p:nvSpPr>
          <p:cNvPr id="9" name="Text 7"/>
          <p:cNvSpPr/>
          <p:nvPr/>
        </p:nvSpPr>
        <p:spPr>
          <a:xfrm>
            <a:off x="1325880" y="3977640"/>
            <a:ext cx="2834640" cy="274320"/>
          </a:xfrm>
          <a:prstGeom prst="rect">
            <a:avLst/>
          </a:prstGeom>
          <a:noFill/>
          <a:ln/>
        </p:spPr>
        <p:txBody>
          <a:bodyPr wrap="square" rtlCol="0" anchor="ctr"/>
          <a:lstStyle/>
          <a:p>
            <a:pPr indent="0" marL="0">
              <a:buNone/>
            </a:pPr>
            <a:r>
              <a:rPr lang="en-US" sz="1050" b="1" dirty="0">
                <a:solidFill>
                  <a:srgbClr val="38BDF8"/>
                </a:solidFill>
                <a:latin typeface="Calibri" pitchFamily="34" charset="0"/>
                <a:ea typeface="Calibri" pitchFamily="34" charset="-122"/>
                <a:cs typeface="Calibri" pitchFamily="34" charset="-120"/>
              </a:rPr>
              <a:t>ZETARIS VIRTUALIZATION</a:t>
            </a:r>
            <a:endParaRPr lang="en-US" sz="1050" dirty="0"/>
          </a:p>
        </p:txBody>
      </p:sp>
      <p:sp>
        <p:nvSpPr>
          <p:cNvPr id="10" name="Text 8"/>
          <p:cNvSpPr/>
          <p:nvPr/>
        </p:nvSpPr>
        <p:spPr>
          <a:xfrm>
            <a:off x="1325880" y="4251960"/>
            <a:ext cx="2834640" cy="68580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Zero-ETL federated queries across 4 enterprise datasets in 12ms</a:t>
            </a:r>
            <a:endParaRPr lang="en-US" sz="1050" dirty="0"/>
          </a:p>
        </p:txBody>
      </p:sp>
      <p:sp>
        <p:nvSpPr>
          <p:cNvPr id="11" name="Shape 9"/>
          <p:cNvSpPr/>
          <p:nvPr/>
        </p:nvSpPr>
        <p:spPr>
          <a:xfrm>
            <a:off x="4480560" y="3886200"/>
            <a:ext cx="3108960" cy="1143000"/>
          </a:xfrm>
          <a:prstGeom prst="roundRect">
            <a:avLst>
              <a:gd name="adj" fmla="val 12000"/>
            </a:avLst>
          </a:prstGeom>
          <a:solidFill>
            <a:srgbClr val="064E3B"/>
          </a:solidFill>
          <a:ln w="19050">
            <a:solidFill>
              <a:srgbClr val="10B981"/>
            </a:solidFill>
            <a:prstDash val="solid"/>
          </a:ln>
        </p:spPr>
      </p:sp>
      <p:sp>
        <p:nvSpPr>
          <p:cNvPr id="12" name="Text 10"/>
          <p:cNvSpPr/>
          <p:nvPr/>
        </p:nvSpPr>
        <p:spPr>
          <a:xfrm>
            <a:off x="4617720" y="3977640"/>
            <a:ext cx="2834640" cy="274320"/>
          </a:xfrm>
          <a:prstGeom prst="rect">
            <a:avLst/>
          </a:prstGeom>
          <a:noFill/>
          <a:ln/>
        </p:spPr>
        <p:txBody>
          <a:bodyPr wrap="square" rtlCol="0" anchor="ctr"/>
          <a:lstStyle/>
          <a:p>
            <a:pPr indent="0" marL="0">
              <a:buNone/>
            </a:pPr>
            <a:r>
              <a:rPr lang="en-US" sz="1050" b="1" dirty="0">
                <a:solidFill>
                  <a:srgbClr val="10B981"/>
                </a:solidFill>
                <a:latin typeface="Calibri" pitchFamily="34" charset="0"/>
                <a:ea typeface="Calibri" pitchFamily="34" charset="-122"/>
                <a:cs typeface="Calibri" pitchFamily="34" charset="-120"/>
              </a:rPr>
              <a:t>METERLESS RELAY &amp; H-MEM</a:t>
            </a:r>
            <a:endParaRPr lang="en-US" sz="1050" dirty="0"/>
          </a:p>
        </p:txBody>
      </p:sp>
      <p:sp>
        <p:nvSpPr>
          <p:cNvPr id="13" name="Text 11"/>
          <p:cNvSpPr/>
          <p:nvPr/>
        </p:nvSpPr>
        <p:spPr>
          <a:xfrm>
            <a:off x="4617720" y="4251960"/>
            <a:ext cx="2834640" cy="68580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Scout intent, relay coordination, and persistent Gaia memory</a:t>
            </a:r>
            <a:endParaRPr lang="en-US" sz="1050" dirty="0"/>
          </a:p>
        </p:txBody>
      </p:sp>
      <p:sp>
        <p:nvSpPr>
          <p:cNvPr id="14" name="Shape 12"/>
          <p:cNvSpPr/>
          <p:nvPr/>
        </p:nvSpPr>
        <p:spPr>
          <a:xfrm>
            <a:off x="7772400" y="3886200"/>
            <a:ext cx="3108960" cy="1143000"/>
          </a:xfrm>
          <a:prstGeom prst="roundRect">
            <a:avLst>
              <a:gd name="adj" fmla="val 12000"/>
            </a:avLst>
          </a:prstGeom>
          <a:solidFill>
            <a:srgbClr val="2E1065"/>
          </a:solidFill>
          <a:ln w="19050">
            <a:solidFill>
              <a:srgbClr val="A855F7"/>
            </a:solidFill>
            <a:prstDash val="solid"/>
          </a:ln>
        </p:spPr>
      </p:sp>
      <p:sp>
        <p:nvSpPr>
          <p:cNvPr id="15" name="Text 13"/>
          <p:cNvSpPr/>
          <p:nvPr/>
        </p:nvSpPr>
        <p:spPr>
          <a:xfrm>
            <a:off x="7909560" y="3977640"/>
            <a:ext cx="2834640" cy="274320"/>
          </a:xfrm>
          <a:prstGeom prst="rect">
            <a:avLst/>
          </a:prstGeom>
          <a:noFill/>
          <a:ln/>
        </p:spPr>
        <p:txBody>
          <a:bodyPr wrap="square" rtlCol="0" anchor="ctr"/>
          <a:lstStyle/>
          <a:p>
            <a:pPr indent="0" marL="0">
              <a:buNone/>
            </a:pPr>
            <a:r>
              <a:rPr lang="en-US" sz="1050" b="1" dirty="0">
                <a:solidFill>
                  <a:srgbClr val="A855F7"/>
                </a:solidFill>
                <a:latin typeface="Calibri" pitchFamily="34" charset="0"/>
                <a:ea typeface="Calibri" pitchFamily="34" charset="-122"/>
                <a:cs typeface="Calibri" pitchFamily="34" charset="-120"/>
              </a:rPr>
              <a:t>NIGHTSHIFT AI PROVIDER</a:t>
            </a:r>
            <a:endParaRPr lang="en-US" sz="1050" dirty="0"/>
          </a:p>
        </p:txBody>
      </p:sp>
      <p:sp>
        <p:nvSpPr>
          <p:cNvPr id="16" name="Text 14"/>
          <p:cNvSpPr/>
          <p:nvPr/>
        </p:nvSpPr>
        <p:spPr>
          <a:xfrm>
            <a:off x="7909560" y="4251960"/>
            <a:ext cx="2834640" cy="68580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4-stage Race/Judge/Verify/Generate cycle at $0 cloud token cost</a:t>
            </a:r>
            <a:endParaRPr lang="en-US" sz="1050" dirty="0"/>
          </a:p>
        </p:txBody>
      </p:sp>
      <p:sp>
        <p:nvSpPr>
          <p:cNvPr id="17" name="Text 15"/>
          <p:cNvSpPr/>
          <p:nvPr/>
        </p:nvSpPr>
        <p:spPr>
          <a:xfrm>
            <a:off x="1188720" y="5394960"/>
            <a:ext cx="9601200" cy="274320"/>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Live Deployment: https://zaintahir2025.github.io/traceback-ai/   |   Lead Developer: Zain Tahir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EXECUTIVE SUMMARY</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Mission &amp; Core Value Proposition</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Eliminating enterprise procurement leakage through autonomous cross-source data virtualization.</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19050">
            <a:solidFill>
              <a:srgbClr val="1E293B"/>
            </a:solidFill>
            <a:prstDash val="solid"/>
          </a:ln>
        </p:spPr>
      </p:sp>
      <p:sp>
        <p:nvSpPr>
          <p:cNvPr id="13" name="Shape 11"/>
          <p:cNvSpPr/>
          <p:nvPr/>
        </p:nvSpPr>
        <p:spPr>
          <a:xfrm>
            <a:off x="1005840" y="1920240"/>
            <a:ext cx="4937760" cy="1874520"/>
          </a:xfrm>
          <a:prstGeom prst="roundRect">
            <a:avLst>
              <a:gd name="adj" fmla="val 4878"/>
            </a:avLst>
          </a:prstGeom>
          <a:solidFill>
            <a:srgbClr val="0F172A"/>
          </a:solidFill>
          <a:ln w="12700">
            <a:solidFill>
              <a:srgbClr val="F43F5E"/>
            </a:solidFill>
            <a:prstDash val="solid"/>
          </a:ln>
        </p:spPr>
      </p:sp>
      <p:sp>
        <p:nvSpPr>
          <p:cNvPr id="14" name="Text 12"/>
          <p:cNvSpPr/>
          <p:nvPr/>
        </p:nvSpPr>
        <p:spPr>
          <a:xfrm>
            <a:off x="1188720" y="2057400"/>
            <a:ext cx="731520" cy="320040"/>
          </a:xfrm>
          <a:prstGeom prst="rect">
            <a:avLst/>
          </a:prstGeom>
          <a:noFill/>
          <a:ln/>
        </p:spPr>
        <p:txBody>
          <a:bodyPr wrap="square" rtlCol="0" anchor="ctr"/>
          <a:lstStyle/>
          <a:p>
            <a:pPr indent="0" marL="0">
              <a:buNone/>
            </a:pPr>
            <a:r>
              <a:rPr lang="en-US" sz="1600" b="1" dirty="0">
                <a:solidFill>
                  <a:srgbClr val="F43F5E"/>
                </a:solidFill>
                <a:latin typeface="Calibri" pitchFamily="34" charset="0"/>
                <a:ea typeface="Calibri" pitchFamily="34" charset="-122"/>
                <a:cs typeface="Calibri" pitchFamily="34" charset="-120"/>
              </a:rPr>
              <a:t>01</a:t>
            </a:r>
            <a:endParaRPr lang="en-US" sz="1600" dirty="0"/>
          </a:p>
        </p:txBody>
      </p:sp>
      <p:sp>
        <p:nvSpPr>
          <p:cNvPr id="15" name="Text 13"/>
          <p:cNvSpPr/>
          <p:nvPr/>
        </p:nvSpPr>
        <p:spPr>
          <a:xfrm>
            <a:off x="1920240" y="2057400"/>
            <a:ext cx="384048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Industry Imperative</a:t>
            </a:r>
            <a:endParaRPr lang="en-US" sz="1400" dirty="0"/>
          </a:p>
        </p:txBody>
      </p:sp>
      <p:sp>
        <p:nvSpPr>
          <p:cNvPr id="16" name="Text 14"/>
          <p:cNvSpPr/>
          <p:nvPr/>
        </p:nvSpPr>
        <p:spPr>
          <a:xfrm>
            <a:off x="1188720" y="2423160"/>
            <a:ext cx="4572000" cy="123444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Fortune 500 enterprises lose 1.5% to 4.0% of their total procurement spend to uncaptured invoice discrepancies, quantity mismatches, and contract rate creep.</a:t>
            </a:r>
            <a:endParaRPr lang="en-US" sz="1100" dirty="0"/>
          </a:p>
        </p:txBody>
      </p:sp>
      <p:sp>
        <p:nvSpPr>
          <p:cNvPr id="17" name="Shape 15"/>
          <p:cNvSpPr/>
          <p:nvPr/>
        </p:nvSpPr>
        <p:spPr>
          <a:xfrm>
            <a:off x="6172200" y="1920240"/>
            <a:ext cx="4937760" cy="1874520"/>
          </a:xfrm>
          <a:prstGeom prst="roundRect">
            <a:avLst>
              <a:gd name="adj" fmla="val 4878"/>
            </a:avLst>
          </a:prstGeom>
          <a:solidFill>
            <a:srgbClr val="0F172A"/>
          </a:solidFill>
          <a:ln w="12700">
            <a:solidFill>
              <a:srgbClr val="38BDF8"/>
            </a:solidFill>
            <a:prstDash val="solid"/>
          </a:ln>
        </p:spPr>
      </p:sp>
      <p:sp>
        <p:nvSpPr>
          <p:cNvPr id="18" name="Text 16"/>
          <p:cNvSpPr/>
          <p:nvPr/>
        </p:nvSpPr>
        <p:spPr>
          <a:xfrm>
            <a:off x="6355080" y="2057400"/>
            <a:ext cx="731520" cy="320040"/>
          </a:xfrm>
          <a:prstGeom prst="rect">
            <a:avLst/>
          </a:prstGeom>
          <a:noFill/>
          <a:ln/>
        </p:spPr>
        <p:txBody>
          <a:bodyPr wrap="square" rtlCol="0" anchor="ctr"/>
          <a:lstStyle/>
          <a:p>
            <a:pPr indent="0" marL="0">
              <a:buNone/>
            </a:pPr>
            <a:r>
              <a:rPr lang="en-US" sz="1600" b="1" dirty="0">
                <a:solidFill>
                  <a:srgbClr val="38BDF8"/>
                </a:solidFill>
                <a:latin typeface="Calibri" pitchFamily="34" charset="0"/>
                <a:ea typeface="Calibri" pitchFamily="34" charset="-122"/>
                <a:cs typeface="Calibri" pitchFamily="34" charset="-120"/>
              </a:rPr>
              <a:t>02</a:t>
            </a:r>
            <a:endParaRPr lang="en-US" sz="1600" dirty="0"/>
          </a:p>
        </p:txBody>
      </p:sp>
      <p:sp>
        <p:nvSpPr>
          <p:cNvPr id="19" name="Text 17"/>
          <p:cNvSpPr/>
          <p:nvPr/>
        </p:nvSpPr>
        <p:spPr>
          <a:xfrm>
            <a:off x="7086600" y="2057400"/>
            <a:ext cx="384048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Architectural Breakthrough</a:t>
            </a:r>
            <a:endParaRPr lang="en-US" sz="1400" dirty="0"/>
          </a:p>
        </p:txBody>
      </p:sp>
      <p:sp>
        <p:nvSpPr>
          <p:cNvPr id="20" name="Text 18"/>
          <p:cNvSpPr/>
          <p:nvPr/>
        </p:nvSpPr>
        <p:spPr>
          <a:xfrm>
            <a:off x="6355080" y="2423160"/>
            <a:ext cx="4572000" cy="123444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Instead of building expensive, slow ETL data pipelines, TraceBack AI employs Zetaris Data Virtualization to query live enterprise datasets in place with zero data movement.</a:t>
            </a:r>
            <a:endParaRPr lang="en-US" sz="1100" dirty="0"/>
          </a:p>
        </p:txBody>
      </p:sp>
      <p:sp>
        <p:nvSpPr>
          <p:cNvPr id="21" name="Shape 19"/>
          <p:cNvSpPr/>
          <p:nvPr/>
        </p:nvSpPr>
        <p:spPr>
          <a:xfrm>
            <a:off x="1005840" y="3977640"/>
            <a:ext cx="4937760" cy="1874520"/>
          </a:xfrm>
          <a:prstGeom prst="roundRect">
            <a:avLst>
              <a:gd name="adj" fmla="val 4878"/>
            </a:avLst>
          </a:prstGeom>
          <a:solidFill>
            <a:srgbClr val="0F172A"/>
          </a:solidFill>
          <a:ln w="12700">
            <a:solidFill>
              <a:srgbClr val="10B981"/>
            </a:solidFill>
            <a:prstDash val="solid"/>
          </a:ln>
        </p:spPr>
      </p:sp>
      <p:sp>
        <p:nvSpPr>
          <p:cNvPr id="22" name="Text 20"/>
          <p:cNvSpPr/>
          <p:nvPr/>
        </p:nvSpPr>
        <p:spPr>
          <a:xfrm>
            <a:off x="1188720" y="4114800"/>
            <a:ext cx="731520" cy="320040"/>
          </a:xfrm>
          <a:prstGeom prst="rect">
            <a:avLst/>
          </a:prstGeom>
          <a:noFill/>
          <a:ln/>
        </p:spPr>
        <p:txBody>
          <a:bodyPr wrap="square"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03</a:t>
            </a:r>
            <a:endParaRPr lang="en-US" sz="1600" dirty="0"/>
          </a:p>
        </p:txBody>
      </p:sp>
      <p:sp>
        <p:nvSpPr>
          <p:cNvPr id="23" name="Text 21"/>
          <p:cNvSpPr/>
          <p:nvPr/>
        </p:nvSpPr>
        <p:spPr>
          <a:xfrm>
            <a:off x="1920240" y="4114800"/>
            <a:ext cx="384048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Autonomous Multi-Agent Audit</a:t>
            </a:r>
            <a:endParaRPr lang="en-US" sz="1400" dirty="0"/>
          </a:p>
        </p:txBody>
      </p:sp>
      <p:sp>
        <p:nvSpPr>
          <p:cNvPr id="24" name="Text 22"/>
          <p:cNvSpPr/>
          <p:nvPr/>
        </p:nvSpPr>
        <p:spPr>
          <a:xfrm>
            <a:off x="1188720" y="4480560"/>
            <a:ext cx="4572000" cy="123444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Meterless Engine orchestrates Scout Intent and Relay tools, while Meterless Nightshift provides local reasoning at $0.00 cloud token cost with cryptographic receipts.</a:t>
            </a:r>
            <a:endParaRPr lang="en-US" sz="1100" dirty="0"/>
          </a:p>
        </p:txBody>
      </p:sp>
      <p:sp>
        <p:nvSpPr>
          <p:cNvPr id="25" name="Shape 23"/>
          <p:cNvSpPr/>
          <p:nvPr/>
        </p:nvSpPr>
        <p:spPr>
          <a:xfrm>
            <a:off x="6172200" y="3977640"/>
            <a:ext cx="4937760" cy="1874520"/>
          </a:xfrm>
          <a:prstGeom prst="roundRect">
            <a:avLst>
              <a:gd name="adj" fmla="val 4878"/>
            </a:avLst>
          </a:prstGeom>
          <a:solidFill>
            <a:srgbClr val="0F172A"/>
          </a:solidFill>
          <a:ln w="12700">
            <a:solidFill>
              <a:srgbClr val="A855F7"/>
            </a:solidFill>
            <a:prstDash val="solid"/>
          </a:ln>
        </p:spPr>
      </p:sp>
      <p:sp>
        <p:nvSpPr>
          <p:cNvPr id="26" name="Text 24"/>
          <p:cNvSpPr/>
          <p:nvPr/>
        </p:nvSpPr>
        <p:spPr>
          <a:xfrm>
            <a:off x="6355080" y="4114800"/>
            <a:ext cx="731520" cy="320040"/>
          </a:xfrm>
          <a:prstGeom prst="rect">
            <a:avLst/>
          </a:prstGeom>
          <a:noFill/>
          <a:ln/>
        </p:spPr>
        <p:txBody>
          <a:bodyPr wrap="square" rtlCol="0" anchor="ctr"/>
          <a:lstStyle/>
          <a:p>
            <a:pPr indent="0" marL="0">
              <a:buNone/>
            </a:pPr>
            <a:r>
              <a:rPr lang="en-US" sz="1600" b="1" dirty="0">
                <a:solidFill>
                  <a:srgbClr val="A855F7"/>
                </a:solidFill>
                <a:latin typeface="Calibri" pitchFamily="34" charset="0"/>
                <a:ea typeface="Calibri" pitchFamily="34" charset="-122"/>
                <a:cs typeface="Calibri" pitchFamily="34" charset="-120"/>
              </a:rPr>
              <a:t>04</a:t>
            </a:r>
            <a:endParaRPr lang="en-US" sz="1600" dirty="0"/>
          </a:p>
        </p:txBody>
      </p:sp>
      <p:sp>
        <p:nvSpPr>
          <p:cNvPr id="27" name="Text 25"/>
          <p:cNvSpPr/>
          <p:nvPr/>
        </p:nvSpPr>
        <p:spPr>
          <a:xfrm>
            <a:off x="7086600" y="4114800"/>
            <a:ext cx="384048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Human Governance &amp; Action</a:t>
            </a:r>
            <a:endParaRPr lang="en-US" sz="1400" dirty="0"/>
          </a:p>
        </p:txBody>
      </p:sp>
      <p:sp>
        <p:nvSpPr>
          <p:cNvPr id="28" name="Text 26"/>
          <p:cNvSpPr/>
          <p:nvPr/>
        </p:nvSpPr>
        <p:spPr>
          <a:xfrm>
            <a:off x="6355080" y="4480560"/>
            <a:ext cx="4572000" cy="123444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Lead auditors retain 1-click claim approval authority, generating automated supplier dispute notices citing exact contract clauses and delivery notes.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MARKET CONTEXT</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3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$14 Trillion Global Procurement Challenge</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Massive transaction velocity overwhelms traditional financial controls.</a:t>
            </a:r>
            <a:endParaRPr lang="en-US" sz="1250" dirty="0"/>
          </a:p>
        </p:txBody>
      </p:sp>
      <p:sp>
        <p:nvSpPr>
          <p:cNvPr id="12" name="Shape 10"/>
          <p:cNvSpPr/>
          <p:nvPr/>
        </p:nvSpPr>
        <p:spPr>
          <a:xfrm>
            <a:off x="731520" y="1691640"/>
            <a:ext cx="2606040" cy="1920240"/>
          </a:xfrm>
          <a:prstGeom prst="roundRect">
            <a:avLst>
              <a:gd name="adj" fmla="val 5714"/>
            </a:avLst>
          </a:prstGeom>
          <a:solidFill>
            <a:srgbClr val="0B1120"/>
          </a:solidFill>
          <a:ln w="19050">
            <a:solidFill>
              <a:srgbClr val="38BDF8"/>
            </a:solidFill>
            <a:prstDash val="solid"/>
          </a:ln>
        </p:spPr>
      </p:sp>
      <p:sp>
        <p:nvSpPr>
          <p:cNvPr id="13" name="Text 11"/>
          <p:cNvSpPr/>
          <p:nvPr/>
        </p:nvSpPr>
        <p:spPr>
          <a:xfrm>
            <a:off x="868680" y="1828800"/>
            <a:ext cx="2331720" cy="640080"/>
          </a:xfrm>
          <a:prstGeom prst="rect">
            <a:avLst/>
          </a:prstGeom>
          <a:noFill/>
          <a:ln/>
        </p:spPr>
        <p:txBody>
          <a:bodyPr wrap="square" rtlCol="0" anchor="ctr"/>
          <a:lstStyle/>
          <a:p>
            <a:pPr algn="ctr" indent="0" marL="0">
              <a:buNone/>
            </a:pPr>
            <a:r>
              <a:rPr lang="en-US" sz="3400" b="1" dirty="0">
                <a:solidFill>
                  <a:srgbClr val="38BDF8"/>
                </a:solidFill>
                <a:latin typeface="Calibri" pitchFamily="34" charset="0"/>
                <a:ea typeface="Calibri" pitchFamily="34" charset="-122"/>
                <a:cs typeface="Calibri" pitchFamily="34" charset="-120"/>
              </a:rPr>
              <a:t>$14T</a:t>
            </a:r>
            <a:endParaRPr lang="en-US" sz="3400" dirty="0"/>
          </a:p>
        </p:txBody>
      </p:sp>
      <p:sp>
        <p:nvSpPr>
          <p:cNvPr id="14" name="Text 12"/>
          <p:cNvSpPr/>
          <p:nvPr/>
        </p:nvSpPr>
        <p:spPr>
          <a:xfrm>
            <a:off x="868680" y="2514600"/>
            <a:ext cx="23317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Global B2B Spend</a:t>
            </a:r>
            <a:endParaRPr lang="en-US" sz="1300" dirty="0"/>
          </a:p>
        </p:txBody>
      </p:sp>
      <p:sp>
        <p:nvSpPr>
          <p:cNvPr id="15" name="Text 13"/>
          <p:cNvSpPr/>
          <p:nvPr/>
        </p:nvSpPr>
        <p:spPr>
          <a:xfrm>
            <a:off x="868680" y="2834640"/>
            <a:ext cx="2331720" cy="68580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Annual goods and services procured by commercial enterprises worldwide.</a:t>
            </a:r>
            <a:endParaRPr lang="en-US" sz="1000" dirty="0"/>
          </a:p>
        </p:txBody>
      </p:sp>
      <p:sp>
        <p:nvSpPr>
          <p:cNvPr id="16" name="Shape 14"/>
          <p:cNvSpPr/>
          <p:nvPr/>
        </p:nvSpPr>
        <p:spPr>
          <a:xfrm>
            <a:off x="3456432" y="1691640"/>
            <a:ext cx="2606040" cy="1920240"/>
          </a:xfrm>
          <a:prstGeom prst="roundRect">
            <a:avLst>
              <a:gd name="adj" fmla="val 5714"/>
            </a:avLst>
          </a:prstGeom>
          <a:solidFill>
            <a:srgbClr val="0B1120"/>
          </a:solidFill>
          <a:ln w="19050">
            <a:solidFill>
              <a:srgbClr val="F43F5E"/>
            </a:solidFill>
            <a:prstDash val="solid"/>
          </a:ln>
        </p:spPr>
      </p:sp>
      <p:sp>
        <p:nvSpPr>
          <p:cNvPr id="17" name="Text 15"/>
          <p:cNvSpPr/>
          <p:nvPr/>
        </p:nvSpPr>
        <p:spPr>
          <a:xfrm>
            <a:off x="3593592" y="1828800"/>
            <a:ext cx="2331720" cy="640080"/>
          </a:xfrm>
          <a:prstGeom prst="rect">
            <a:avLst/>
          </a:prstGeom>
          <a:noFill/>
          <a:ln/>
        </p:spPr>
        <p:txBody>
          <a:bodyPr wrap="square" rtlCol="0" anchor="ctr"/>
          <a:lstStyle/>
          <a:p>
            <a:pPr algn="ctr" indent="0" marL="0">
              <a:buNone/>
            </a:pPr>
            <a:r>
              <a:rPr lang="en-US" sz="3400" b="1" dirty="0">
                <a:solidFill>
                  <a:srgbClr val="F43F5E"/>
                </a:solidFill>
                <a:latin typeface="Calibri" pitchFamily="34" charset="0"/>
                <a:ea typeface="Calibri" pitchFamily="34" charset="-122"/>
                <a:cs typeface="Calibri" pitchFamily="34" charset="-120"/>
              </a:rPr>
              <a:t>4.0%</a:t>
            </a:r>
            <a:endParaRPr lang="en-US" sz="3400" dirty="0"/>
          </a:p>
        </p:txBody>
      </p:sp>
      <p:sp>
        <p:nvSpPr>
          <p:cNvPr id="18" name="Text 16"/>
          <p:cNvSpPr/>
          <p:nvPr/>
        </p:nvSpPr>
        <p:spPr>
          <a:xfrm>
            <a:off x="3593592" y="2514600"/>
            <a:ext cx="23317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Max Spend Leakage</a:t>
            </a:r>
            <a:endParaRPr lang="en-US" sz="1300" dirty="0"/>
          </a:p>
        </p:txBody>
      </p:sp>
      <p:sp>
        <p:nvSpPr>
          <p:cNvPr id="19" name="Text 17"/>
          <p:cNvSpPr/>
          <p:nvPr/>
        </p:nvSpPr>
        <p:spPr>
          <a:xfrm>
            <a:off x="3593592" y="2834640"/>
            <a:ext cx="2331720" cy="68580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Observed variance between contracted rates, dock receipts, and paid invoices.</a:t>
            </a:r>
            <a:endParaRPr lang="en-US" sz="1000" dirty="0"/>
          </a:p>
        </p:txBody>
      </p:sp>
      <p:sp>
        <p:nvSpPr>
          <p:cNvPr id="20" name="Shape 18"/>
          <p:cNvSpPr/>
          <p:nvPr/>
        </p:nvSpPr>
        <p:spPr>
          <a:xfrm>
            <a:off x="6181344" y="1691640"/>
            <a:ext cx="2606040" cy="1920240"/>
          </a:xfrm>
          <a:prstGeom prst="roundRect">
            <a:avLst>
              <a:gd name="adj" fmla="val 5714"/>
            </a:avLst>
          </a:prstGeom>
          <a:solidFill>
            <a:srgbClr val="0B1120"/>
          </a:solidFill>
          <a:ln w="19050">
            <a:solidFill>
              <a:srgbClr val="F59E0B"/>
            </a:solidFill>
            <a:prstDash val="solid"/>
          </a:ln>
        </p:spPr>
      </p:sp>
      <p:sp>
        <p:nvSpPr>
          <p:cNvPr id="21" name="Text 19"/>
          <p:cNvSpPr/>
          <p:nvPr/>
        </p:nvSpPr>
        <p:spPr>
          <a:xfrm>
            <a:off x="6318504" y="1828800"/>
            <a:ext cx="2331720" cy="640080"/>
          </a:xfrm>
          <a:prstGeom prst="rect">
            <a:avLst/>
          </a:prstGeom>
          <a:noFill/>
          <a:ln/>
        </p:spPr>
        <p:txBody>
          <a:bodyPr wrap="square" rtlCol="0" anchor="ctr"/>
          <a:lstStyle/>
          <a:p>
            <a:pPr algn="ctr" indent="0" marL="0">
              <a:buNone/>
            </a:pPr>
            <a:r>
              <a:rPr lang="en-US" sz="3400" b="1" dirty="0">
                <a:solidFill>
                  <a:srgbClr val="F59E0B"/>
                </a:solidFill>
                <a:latin typeface="Calibri" pitchFamily="34" charset="0"/>
                <a:ea typeface="Calibri" pitchFamily="34" charset="-122"/>
                <a:cs typeface="Calibri" pitchFamily="34" charset="-120"/>
              </a:rPr>
              <a:t>100K+</a:t>
            </a:r>
            <a:endParaRPr lang="en-US" sz="3400" dirty="0"/>
          </a:p>
        </p:txBody>
      </p:sp>
      <p:sp>
        <p:nvSpPr>
          <p:cNvPr id="22" name="Text 20"/>
          <p:cNvSpPr/>
          <p:nvPr/>
        </p:nvSpPr>
        <p:spPr>
          <a:xfrm>
            <a:off x="6318504" y="2514600"/>
            <a:ext cx="23317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Invoices / Year</a:t>
            </a:r>
            <a:endParaRPr lang="en-US" sz="1300" dirty="0"/>
          </a:p>
        </p:txBody>
      </p:sp>
      <p:sp>
        <p:nvSpPr>
          <p:cNvPr id="23" name="Text 21"/>
          <p:cNvSpPr/>
          <p:nvPr/>
        </p:nvSpPr>
        <p:spPr>
          <a:xfrm>
            <a:off x="6318504" y="2834640"/>
            <a:ext cx="2331720" cy="68580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Average enterprise transaction volume processed by Accounts Payable teams.</a:t>
            </a:r>
            <a:endParaRPr lang="en-US" sz="1000" dirty="0"/>
          </a:p>
        </p:txBody>
      </p:sp>
      <p:sp>
        <p:nvSpPr>
          <p:cNvPr id="24" name="Shape 22"/>
          <p:cNvSpPr/>
          <p:nvPr/>
        </p:nvSpPr>
        <p:spPr>
          <a:xfrm>
            <a:off x="8906256" y="1691640"/>
            <a:ext cx="2606040" cy="1920240"/>
          </a:xfrm>
          <a:prstGeom prst="roundRect">
            <a:avLst>
              <a:gd name="adj" fmla="val 5714"/>
            </a:avLst>
          </a:prstGeom>
          <a:solidFill>
            <a:srgbClr val="0B1120"/>
          </a:solidFill>
          <a:ln w="19050">
            <a:solidFill>
              <a:srgbClr val="A855F7"/>
            </a:solidFill>
            <a:prstDash val="solid"/>
          </a:ln>
        </p:spPr>
      </p:sp>
      <p:sp>
        <p:nvSpPr>
          <p:cNvPr id="25" name="Text 23"/>
          <p:cNvSpPr/>
          <p:nvPr/>
        </p:nvSpPr>
        <p:spPr>
          <a:xfrm>
            <a:off x="9043416" y="1828800"/>
            <a:ext cx="2331720" cy="640080"/>
          </a:xfrm>
          <a:prstGeom prst="rect">
            <a:avLst/>
          </a:prstGeom>
          <a:noFill/>
          <a:ln/>
        </p:spPr>
        <p:txBody>
          <a:bodyPr wrap="square" rtlCol="0" anchor="ctr"/>
          <a:lstStyle/>
          <a:p>
            <a:pPr algn="ctr" indent="0" marL="0">
              <a:buNone/>
            </a:pPr>
            <a:r>
              <a:rPr lang="en-US" sz="3400" b="1" dirty="0">
                <a:solidFill>
                  <a:srgbClr val="A855F7"/>
                </a:solidFill>
                <a:latin typeface="Calibri" pitchFamily="34" charset="0"/>
                <a:ea typeface="Calibri" pitchFamily="34" charset="-122"/>
                <a:cs typeface="Calibri" pitchFamily="34" charset="-120"/>
              </a:rPr>
              <a:t>&lt;5%</a:t>
            </a:r>
            <a:endParaRPr lang="en-US" sz="3400" dirty="0"/>
          </a:p>
        </p:txBody>
      </p:sp>
      <p:sp>
        <p:nvSpPr>
          <p:cNvPr id="26" name="Text 24"/>
          <p:cNvSpPr/>
          <p:nvPr/>
        </p:nvSpPr>
        <p:spPr>
          <a:xfrm>
            <a:off x="9043416" y="2514600"/>
            <a:ext cx="2331720"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Audit Coverage</a:t>
            </a:r>
            <a:endParaRPr lang="en-US" sz="1300" dirty="0"/>
          </a:p>
        </p:txBody>
      </p:sp>
      <p:sp>
        <p:nvSpPr>
          <p:cNvPr id="27" name="Text 25"/>
          <p:cNvSpPr/>
          <p:nvPr/>
        </p:nvSpPr>
        <p:spPr>
          <a:xfrm>
            <a:off x="9043416" y="2834640"/>
            <a:ext cx="2331720" cy="68580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Typical percentage of invoices audited in depth before disbursement.</a:t>
            </a:r>
            <a:endParaRPr lang="en-US" sz="1000" dirty="0"/>
          </a:p>
        </p:txBody>
      </p:sp>
      <p:sp>
        <p:nvSpPr>
          <p:cNvPr id="28" name="Shape 26"/>
          <p:cNvSpPr/>
          <p:nvPr/>
        </p:nvSpPr>
        <p:spPr>
          <a:xfrm>
            <a:off x="731520" y="3794760"/>
            <a:ext cx="10725912" cy="2423160"/>
          </a:xfrm>
          <a:prstGeom prst="roundRect">
            <a:avLst>
              <a:gd name="adj" fmla="val 5660"/>
            </a:avLst>
          </a:prstGeom>
          <a:solidFill>
            <a:srgbClr val="0F172A"/>
          </a:solidFill>
          <a:ln w="19050">
            <a:solidFill>
              <a:srgbClr val="1E293B"/>
            </a:solidFill>
            <a:prstDash val="solid"/>
          </a:ln>
        </p:spPr>
      </p:sp>
      <p:sp>
        <p:nvSpPr>
          <p:cNvPr id="29" name="Text 27"/>
          <p:cNvSpPr/>
          <p:nvPr/>
        </p:nvSpPr>
        <p:spPr>
          <a:xfrm>
            <a:off x="1005840" y="3977640"/>
            <a:ext cx="10149840" cy="27432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WHY ENTERPRISES FAIL TO CAPTURE OVERCHARGES TODAY:</a:t>
            </a:r>
            <a:endParaRPr lang="en-US" sz="1100" dirty="0"/>
          </a:p>
        </p:txBody>
      </p:sp>
      <p:sp>
        <p:nvSpPr>
          <p:cNvPr id="30" name="Text 28"/>
          <p:cNvSpPr/>
          <p:nvPr/>
        </p:nvSpPr>
        <p:spPr>
          <a:xfrm>
            <a:off x="1005840" y="4343400"/>
            <a:ext cx="10149840" cy="169164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1. Disconnected Software Systems: SAP ERP, Blue Yonder WMS, Coupa AP, and DocuSign contracts do not share a common query model.</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2. Fragile Data Pipelines: Traditional ETL data lakehouse projects take 6-12 months and $500K+ in engineering before returning insights.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3. Human Bottlenecks: Clerks match PO totals against invoice headers, ignoring line-item rate escalations and warehouse receipt exceptions.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4. Commercial Erosion: Suppliers quietly test rate increases; when unflagged on the first invoice, higher rates become the de facto baseline.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PERFORMANCE METRICS</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4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TraceBack AI Quantitative Benchmark Results</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Rigorous empirical results across live enterprise reconciliation tests.</a:t>
            </a:r>
            <a:endParaRPr lang="en-US" sz="1250" dirty="0"/>
          </a:p>
        </p:txBody>
      </p:sp>
      <p:sp>
        <p:nvSpPr>
          <p:cNvPr id="12" name="Shape 10"/>
          <p:cNvSpPr/>
          <p:nvPr/>
        </p:nvSpPr>
        <p:spPr>
          <a:xfrm>
            <a:off x="731520" y="1691640"/>
            <a:ext cx="2606040" cy="2194560"/>
          </a:xfrm>
          <a:prstGeom prst="roundRect">
            <a:avLst>
              <a:gd name="adj" fmla="val 6250"/>
            </a:avLst>
          </a:prstGeom>
          <a:solidFill>
            <a:srgbClr val="0B1120"/>
          </a:solidFill>
          <a:ln w="25400">
            <a:solidFill>
              <a:srgbClr val="38BDF8"/>
            </a:solidFill>
            <a:prstDash val="solid"/>
          </a:ln>
        </p:spPr>
      </p:sp>
      <p:sp>
        <p:nvSpPr>
          <p:cNvPr id="13" name="Text 11"/>
          <p:cNvSpPr/>
          <p:nvPr/>
        </p:nvSpPr>
        <p:spPr>
          <a:xfrm>
            <a:off x="868680" y="1874520"/>
            <a:ext cx="2331720" cy="731520"/>
          </a:xfrm>
          <a:prstGeom prst="rect">
            <a:avLst/>
          </a:prstGeom>
          <a:noFill/>
          <a:ln/>
        </p:spPr>
        <p:txBody>
          <a:bodyPr wrap="square" rtlCol="0" anchor="ctr"/>
          <a:lstStyle/>
          <a:p>
            <a:pPr algn="ctr" indent="0" marL="0">
              <a:buNone/>
            </a:pPr>
            <a:r>
              <a:rPr lang="en-US" sz="3600" b="1" dirty="0">
                <a:solidFill>
                  <a:srgbClr val="38BDF8"/>
                </a:solidFill>
                <a:latin typeface="Calibri" pitchFamily="34" charset="0"/>
                <a:ea typeface="Calibri" pitchFamily="34" charset="-122"/>
                <a:cs typeface="Calibri" pitchFamily="34" charset="-120"/>
              </a:rPr>
              <a:t>184ms</a:t>
            </a:r>
            <a:endParaRPr lang="en-US" sz="3600" dirty="0"/>
          </a:p>
        </p:txBody>
      </p:sp>
      <p:sp>
        <p:nvSpPr>
          <p:cNvPr id="14" name="Text 12"/>
          <p:cNvSpPr/>
          <p:nvPr/>
        </p:nvSpPr>
        <p:spPr>
          <a:xfrm>
            <a:off x="868680" y="2651760"/>
            <a:ext cx="2331720"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End-to-End Latency</a:t>
            </a:r>
            <a:endParaRPr lang="en-US" sz="1300" dirty="0"/>
          </a:p>
        </p:txBody>
      </p:sp>
      <p:sp>
        <p:nvSpPr>
          <p:cNvPr id="15" name="Text 13"/>
          <p:cNvSpPr/>
          <p:nvPr/>
        </p:nvSpPr>
        <p:spPr>
          <a:xfrm>
            <a:off x="868680" y="3017520"/>
            <a:ext cx="2331720" cy="77724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Complete 4-way cross-source audit cycle time per purchase order</a:t>
            </a:r>
            <a:endParaRPr lang="en-US" sz="1000" dirty="0"/>
          </a:p>
        </p:txBody>
      </p:sp>
      <p:sp>
        <p:nvSpPr>
          <p:cNvPr id="16" name="Shape 14"/>
          <p:cNvSpPr/>
          <p:nvPr/>
        </p:nvSpPr>
        <p:spPr>
          <a:xfrm>
            <a:off x="3456432" y="1691640"/>
            <a:ext cx="2606040" cy="2194560"/>
          </a:xfrm>
          <a:prstGeom prst="roundRect">
            <a:avLst>
              <a:gd name="adj" fmla="val 6250"/>
            </a:avLst>
          </a:prstGeom>
          <a:solidFill>
            <a:srgbClr val="0B1120"/>
          </a:solidFill>
          <a:ln w="25400">
            <a:solidFill>
              <a:srgbClr val="10B981"/>
            </a:solidFill>
            <a:prstDash val="solid"/>
          </a:ln>
        </p:spPr>
      </p:sp>
      <p:sp>
        <p:nvSpPr>
          <p:cNvPr id="17" name="Text 15"/>
          <p:cNvSpPr/>
          <p:nvPr/>
        </p:nvSpPr>
        <p:spPr>
          <a:xfrm>
            <a:off x="3593592" y="1874520"/>
            <a:ext cx="2331720" cy="731520"/>
          </a:xfrm>
          <a:prstGeom prst="rect">
            <a:avLst/>
          </a:prstGeom>
          <a:noFill/>
          <a:ln/>
        </p:spPr>
        <p:txBody>
          <a:bodyPr wrap="square" rtlCol="0" anchor="ctr"/>
          <a:lstStyle/>
          <a:p>
            <a:pPr algn="ctr" indent="0" marL="0">
              <a:buNone/>
            </a:pPr>
            <a:r>
              <a:rPr lang="en-US" sz="3600" b="1" dirty="0">
                <a:solidFill>
                  <a:srgbClr val="10B981"/>
                </a:solidFill>
                <a:latin typeface="Calibri" pitchFamily="34" charset="0"/>
                <a:ea typeface="Calibri" pitchFamily="34" charset="-122"/>
                <a:cs typeface="Calibri" pitchFamily="34" charset="-120"/>
              </a:rPr>
              <a:t>$1,200</a:t>
            </a:r>
            <a:endParaRPr lang="en-US" sz="3600" dirty="0"/>
          </a:p>
        </p:txBody>
      </p:sp>
      <p:sp>
        <p:nvSpPr>
          <p:cNvPr id="18" name="Text 16"/>
          <p:cNvSpPr/>
          <p:nvPr/>
        </p:nvSpPr>
        <p:spPr>
          <a:xfrm>
            <a:off x="3593592" y="2651760"/>
            <a:ext cx="2331720"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Direct Recovery / PO</a:t>
            </a:r>
            <a:endParaRPr lang="en-US" sz="1300" dirty="0"/>
          </a:p>
        </p:txBody>
      </p:sp>
      <p:sp>
        <p:nvSpPr>
          <p:cNvPr id="19" name="Text 17"/>
          <p:cNvSpPr/>
          <p:nvPr/>
        </p:nvSpPr>
        <p:spPr>
          <a:xfrm>
            <a:off x="3593592" y="3017520"/>
            <a:ext cx="2331720" cy="77724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Recovered overcharge on benchmark order PO-1001 with supplier SUP-42</a:t>
            </a:r>
            <a:endParaRPr lang="en-US" sz="1000" dirty="0"/>
          </a:p>
        </p:txBody>
      </p:sp>
      <p:sp>
        <p:nvSpPr>
          <p:cNvPr id="20" name="Shape 18"/>
          <p:cNvSpPr/>
          <p:nvPr/>
        </p:nvSpPr>
        <p:spPr>
          <a:xfrm>
            <a:off x="6181344" y="1691640"/>
            <a:ext cx="2606040" cy="2194560"/>
          </a:xfrm>
          <a:prstGeom prst="roundRect">
            <a:avLst>
              <a:gd name="adj" fmla="val 6250"/>
            </a:avLst>
          </a:prstGeom>
          <a:solidFill>
            <a:srgbClr val="0B1120"/>
          </a:solidFill>
          <a:ln w="25400">
            <a:solidFill>
              <a:srgbClr val="F59E0B"/>
            </a:solidFill>
            <a:prstDash val="solid"/>
          </a:ln>
        </p:spPr>
      </p:sp>
      <p:sp>
        <p:nvSpPr>
          <p:cNvPr id="21" name="Text 19"/>
          <p:cNvSpPr/>
          <p:nvPr/>
        </p:nvSpPr>
        <p:spPr>
          <a:xfrm>
            <a:off x="6318504" y="1874520"/>
            <a:ext cx="2331720" cy="731520"/>
          </a:xfrm>
          <a:prstGeom prst="rect">
            <a:avLst/>
          </a:prstGeom>
          <a:noFill/>
          <a:ln/>
        </p:spPr>
        <p:txBody>
          <a:bodyPr wrap="square" rtlCol="0" anchor="ctr"/>
          <a:lstStyle/>
          <a:p>
            <a:pPr algn="ctr" indent="0" marL="0">
              <a:buNone/>
            </a:pPr>
            <a:r>
              <a:rPr lang="en-US" sz="3600" b="1" dirty="0">
                <a:solidFill>
                  <a:srgbClr val="F59E0B"/>
                </a:solidFill>
                <a:latin typeface="Calibri" pitchFamily="34" charset="0"/>
                <a:ea typeface="Calibri" pitchFamily="34" charset="-122"/>
                <a:cs typeface="Calibri" pitchFamily="34" charset="-120"/>
              </a:rPr>
              <a:t>96.5%</a:t>
            </a:r>
            <a:endParaRPr lang="en-US" sz="3600" dirty="0"/>
          </a:p>
        </p:txBody>
      </p:sp>
      <p:sp>
        <p:nvSpPr>
          <p:cNvPr id="22" name="Text 20"/>
          <p:cNvSpPr/>
          <p:nvPr/>
        </p:nvSpPr>
        <p:spPr>
          <a:xfrm>
            <a:off x="6318504" y="2651760"/>
            <a:ext cx="2331720"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Audit Confidence</a:t>
            </a:r>
            <a:endParaRPr lang="en-US" sz="1300" dirty="0"/>
          </a:p>
        </p:txBody>
      </p:sp>
      <p:sp>
        <p:nvSpPr>
          <p:cNvPr id="23" name="Text 21"/>
          <p:cNvSpPr/>
          <p:nvPr/>
        </p:nvSpPr>
        <p:spPr>
          <a:xfrm>
            <a:off x="6318504" y="3017520"/>
            <a:ext cx="2331720" cy="77724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Deterministic multi-point corroboration across all 4 independent data sources</a:t>
            </a:r>
            <a:endParaRPr lang="en-US" sz="1000" dirty="0"/>
          </a:p>
        </p:txBody>
      </p:sp>
      <p:sp>
        <p:nvSpPr>
          <p:cNvPr id="24" name="Shape 22"/>
          <p:cNvSpPr/>
          <p:nvPr/>
        </p:nvSpPr>
        <p:spPr>
          <a:xfrm>
            <a:off x="8906256" y="1691640"/>
            <a:ext cx="2606040" cy="2194560"/>
          </a:xfrm>
          <a:prstGeom prst="roundRect">
            <a:avLst>
              <a:gd name="adj" fmla="val 6250"/>
            </a:avLst>
          </a:prstGeom>
          <a:solidFill>
            <a:srgbClr val="0B1120"/>
          </a:solidFill>
          <a:ln w="25400">
            <a:solidFill>
              <a:srgbClr val="A855F7"/>
            </a:solidFill>
            <a:prstDash val="solid"/>
          </a:ln>
        </p:spPr>
      </p:sp>
      <p:sp>
        <p:nvSpPr>
          <p:cNvPr id="25" name="Text 23"/>
          <p:cNvSpPr/>
          <p:nvPr/>
        </p:nvSpPr>
        <p:spPr>
          <a:xfrm>
            <a:off x="9043416" y="1874520"/>
            <a:ext cx="2331720" cy="731520"/>
          </a:xfrm>
          <a:prstGeom prst="rect">
            <a:avLst/>
          </a:prstGeom>
          <a:noFill/>
          <a:ln/>
        </p:spPr>
        <p:txBody>
          <a:bodyPr wrap="square" rtlCol="0" anchor="ctr"/>
          <a:lstStyle/>
          <a:p>
            <a:pPr algn="ctr" indent="0" marL="0">
              <a:buNone/>
            </a:pPr>
            <a:r>
              <a:rPr lang="en-US" sz="3600" b="1" dirty="0">
                <a:solidFill>
                  <a:srgbClr val="A855F7"/>
                </a:solidFill>
                <a:latin typeface="Calibri" pitchFamily="34" charset="0"/>
                <a:ea typeface="Calibri" pitchFamily="34" charset="-122"/>
                <a:cs typeface="Calibri" pitchFamily="34" charset="-120"/>
              </a:rPr>
              <a:t>0.00%</a:t>
            </a:r>
            <a:endParaRPr lang="en-US" sz="3600" dirty="0"/>
          </a:p>
        </p:txBody>
      </p:sp>
      <p:sp>
        <p:nvSpPr>
          <p:cNvPr id="26" name="Text 24"/>
          <p:cNvSpPr/>
          <p:nvPr/>
        </p:nvSpPr>
        <p:spPr>
          <a:xfrm>
            <a:off x="9043416" y="2651760"/>
            <a:ext cx="2331720"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False Positive Rate</a:t>
            </a:r>
            <a:endParaRPr lang="en-US" sz="1300" dirty="0"/>
          </a:p>
        </p:txBody>
      </p:sp>
      <p:sp>
        <p:nvSpPr>
          <p:cNvPr id="27" name="Text 25"/>
          <p:cNvSpPr/>
          <p:nvPr/>
        </p:nvSpPr>
        <p:spPr>
          <a:xfrm>
            <a:off x="9043416" y="3017520"/>
            <a:ext cx="2331720" cy="777240"/>
          </a:xfrm>
          <a:prstGeom prst="rect">
            <a:avLst/>
          </a:prstGeom>
          <a:noFill/>
          <a:ln/>
        </p:spPr>
        <p:txBody>
          <a:bodyPr wrap="square" rtlCol="0" anchor="ctr"/>
          <a:lstStyle/>
          <a:p>
            <a:pPr algn="ctr" indent="0" marL="0">
              <a:buNone/>
            </a:pPr>
            <a:r>
              <a:rPr lang="en-US" sz="1000" dirty="0">
                <a:solidFill>
                  <a:srgbClr val="CBD5E1"/>
                </a:solidFill>
                <a:latin typeface="Calibri" pitchFamily="34" charset="0"/>
                <a:ea typeface="Calibri" pitchFamily="34" charset="-122"/>
                <a:cs typeface="Calibri" pitchFamily="34" charset="-120"/>
              </a:rPr>
              <a:t>Validated on PO-1002 clean benchmark order with 100% concordance ($0 flagged)</a:t>
            </a:r>
            <a:endParaRPr lang="en-US" sz="1000" dirty="0"/>
          </a:p>
        </p:txBody>
      </p:sp>
      <p:sp>
        <p:nvSpPr>
          <p:cNvPr id="28" name="Shape 26"/>
          <p:cNvSpPr/>
          <p:nvPr/>
        </p:nvSpPr>
        <p:spPr>
          <a:xfrm>
            <a:off x="731520" y="4069080"/>
            <a:ext cx="10725912" cy="2148840"/>
          </a:xfrm>
          <a:prstGeom prst="roundRect">
            <a:avLst>
              <a:gd name="adj" fmla="val 6383"/>
            </a:avLst>
          </a:prstGeom>
          <a:solidFill>
            <a:srgbClr val="0F172A"/>
          </a:solidFill>
          <a:ln w="19050">
            <a:solidFill>
              <a:srgbClr val="6366F1"/>
            </a:solidFill>
            <a:prstDash val="solid"/>
          </a:ln>
        </p:spPr>
      </p:sp>
      <p:sp>
        <p:nvSpPr>
          <p:cNvPr id="29" name="Text 27"/>
          <p:cNvSpPr/>
          <p:nvPr/>
        </p:nvSpPr>
        <p:spPr>
          <a:xfrm>
            <a:off x="1005840" y="4251960"/>
            <a:ext cx="10149840" cy="274320"/>
          </a:xfrm>
          <a:prstGeom prst="rect">
            <a:avLst/>
          </a:prstGeom>
          <a:noFill/>
          <a:ln/>
        </p:spPr>
        <p:txBody>
          <a:bodyPr wrap="square" rtlCol="0" anchor="ctr"/>
          <a:lstStyle/>
          <a:p>
            <a:pPr indent="0" marL="0">
              <a:buNone/>
            </a:pPr>
            <a:r>
              <a:rPr lang="en-US" sz="1100" b="1" dirty="0">
                <a:solidFill>
                  <a:srgbClr val="6366F1"/>
                </a:solidFill>
                <a:latin typeface="Calibri" pitchFamily="34" charset="0"/>
                <a:ea typeface="Calibri" pitchFamily="34" charset="-122"/>
                <a:cs typeface="Calibri" pitchFamily="34" charset="-120"/>
              </a:rPr>
              <a:t>ADDITIONAL SYSTEM BENCHMARKS &amp; VERIFIED RECEIPT TELEMETRY:</a:t>
            </a:r>
            <a:endParaRPr lang="en-US" sz="1100" dirty="0"/>
          </a:p>
        </p:txBody>
      </p:sp>
      <p:sp>
        <p:nvSpPr>
          <p:cNvPr id="30" name="Text 28"/>
          <p:cNvSpPr/>
          <p:nvPr/>
        </p:nvSpPr>
        <p:spPr>
          <a:xfrm>
            <a:off x="1005840" y="4572000"/>
            <a:ext cx="10149840" cy="150876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 Zetaris Zero-ETL Query Latency: 12ms average response time across 4 virtual tables</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Meterless Nightshift AI Inference: 42ms local execution time with 0ms cloud network delay</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Cloud Token Compute Cost: Exactly $0.00 USD (verified via Nightshift cryptographic receipt ns-rcpt-8f3a9e)</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Evidence Provenance Granularity: 100% of financial claims cite exact CSV/table coordinates {file, row, column, value}</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False Alarm Defense: 100% concordance on clean order PO-1002 (50 ordered = 50 received = 50 billed @ $20 contract rate)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PROBLEM ANALYSIS</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5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Anatomy of Spend Leakage: 4 Primary Vectors</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Quantifying where enterprise cash disappears in procurement cycles.</a:t>
            </a:r>
            <a:endParaRPr lang="en-US" sz="1250" dirty="0"/>
          </a:p>
        </p:txBody>
      </p:sp>
      <p:sp>
        <p:nvSpPr>
          <p:cNvPr id="12" name="Shape 10"/>
          <p:cNvSpPr/>
          <p:nvPr/>
        </p:nvSpPr>
        <p:spPr>
          <a:xfrm>
            <a:off x="731520" y="1691640"/>
            <a:ext cx="2606040" cy="4526280"/>
          </a:xfrm>
          <a:prstGeom prst="roundRect">
            <a:avLst>
              <a:gd name="adj" fmla="val 4211"/>
            </a:avLst>
          </a:prstGeom>
          <a:solidFill>
            <a:srgbClr val="0B1120"/>
          </a:solidFill>
          <a:ln w="19050">
            <a:solidFill>
              <a:srgbClr val="F43F5E"/>
            </a:solidFill>
            <a:prstDash val="solid"/>
          </a:ln>
        </p:spPr>
      </p:sp>
      <p:sp>
        <p:nvSpPr>
          <p:cNvPr id="13" name="Text 11"/>
          <p:cNvSpPr/>
          <p:nvPr/>
        </p:nvSpPr>
        <p:spPr>
          <a:xfrm>
            <a:off x="868680" y="1874520"/>
            <a:ext cx="2331720"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Quantity Overbilling</a:t>
            </a:r>
            <a:endParaRPr lang="en-US" sz="1250" dirty="0"/>
          </a:p>
        </p:txBody>
      </p:sp>
      <p:sp>
        <p:nvSpPr>
          <p:cNvPr id="14" name="Shape 12"/>
          <p:cNvSpPr/>
          <p:nvPr/>
        </p:nvSpPr>
        <p:spPr>
          <a:xfrm>
            <a:off x="868680" y="2331720"/>
            <a:ext cx="2331720" cy="292608"/>
          </a:xfrm>
          <a:prstGeom prst="roundRect">
            <a:avLst>
              <a:gd name="adj" fmla="val 25000"/>
            </a:avLst>
          </a:prstGeom>
          <a:solidFill>
            <a:srgbClr val="0F172A"/>
          </a:solidFill>
          <a:ln w="12700">
            <a:solidFill>
              <a:srgbClr val="F43F5E"/>
            </a:solidFill>
            <a:prstDash val="solid"/>
          </a:ln>
        </p:spPr>
      </p:sp>
      <p:sp>
        <p:nvSpPr>
          <p:cNvPr id="15" name="Text 13"/>
          <p:cNvSpPr/>
          <p:nvPr/>
        </p:nvSpPr>
        <p:spPr>
          <a:xfrm>
            <a:off x="868680" y="2331720"/>
            <a:ext cx="2331720" cy="292608"/>
          </a:xfrm>
          <a:prstGeom prst="rect">
            <a:avLst/>
          </a:prstGeom>
          <a:noFill/>
          <a:ln/>
        </p:spPr>
        <p:txBody>
          <a:bodyPr wrap="square" rtlCol="0" anchor="ctr"/>
          <a:lstStyle/>
          <a:p>
            <a:pPr algn="ctr" indent="0" marL="0">
              <a:buNone/>
            </a:pPr>
            <a:r>
              <a:rPr lang="en-US" sz="950" b="1" dirty="0">
                <a:solidFill>
                  <a:srgbClr val="F43F5E"/>
                </a:solidFill>
                <a:latin typeface="Calibri" pitchFamily="34" charset="0"/>
                <a:ea typeface="Calibri" pitchFamily="34" charset="-122"/>
                <a:cs typeface="Calibri" pitchFamily="34" charset="-120"/>
              </a:rPr>
              <a:t>45% of Total Leakage</a:t>
            </a:r>
            <a:endParaRPr lang="en-US" sz="950" dirty="0"/>
          </a:p>
        </p:txBody>
      </p:sp>
      <p:sp>
        <p:nvSpPr>
          <p:cNvPr id="16" name="Text 14"/>
          <p:cNvSpPr/>
          <p:nvPr/>
        </p:nvSpPr>
        <p:spPr>
          <a:xfrm>
            <a:off x="868680" y="2743200"/>
            <a:ext cx="2331720" cy="1691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Suppliers invoice for ordered quantities rather than delivered quantities. When warehouse dock receiving logs damaged, short, or backordered units, the AP payment loop rarely reflects the decrement.</a:t>
            </a:r>
            <a:endParaRPr lang="en-US" sz="1000" dirty="0"/>
          </a:p>
        </p:txBody>
      </p:sp>
      <p:sp>
        <p:nvSpPr>
          <p:cNvPr id="17" name="Shape 15"/>
          <p:cNvSpPr/>
          <p:nvPr/>
        </p:nvSpPr>
        <p:spPr>
          <a:xfrm>
            <a:off x="868680" y="4526280"/>
            <a:ext cx="2331720" cy="1508760"/>
          </a:xfrm>
          <a:prstGeom prst="roundRect">
            <a:avLst>
              <a:gd name="adj" fmla="val 4848"/>
            </a:avLst>
          </a:prstGeom>
          <a:solidFill>
            <a:srgbClr val="1C1917"/>
          </a:solidFill>
          <a:ln w="12700">
            <a:solidFill>
              <a:srgbClr val="44403C"/>
            </a:solidFill>
            <a:prstDash val="solid"/>
          </a:ln>
        </p:spPr>
      </p:sp>
      <p:sp>
        <p:nvSpPr>
          <p:cNvPr id="18" name="Text 16"/>
          <p:cNvSpPr/>
          <p:nvPr/>
        </p:nvSpPr>
        <p:spPr>
          <a:xfrm>
            <a:off x="960120" y="4617720"/>
            <a:ext cx="2148840" cy="228600"/>
          </a:xfrm>
          <a:prstGeom prst="rect">
            <a:avLst/>
          </a:prstGeom>
          <a:noFill/>
          <a:ln/>
        </p:spPr>
        <p:txBody>
          <a:bodyPr wrap="square" rtlCol="0" anchor="ctr"/>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19" name="Text 17"/>
          <p:cNvSpPr/>
          <p:nvPr/>
        </p:nvSpPr>
        <p:spPr>
          <a:xfrm>
            <a:off x="960120" y="4846320"/>
            <a:ext cx="2148840" cy="1097280"/>
          </a:xfrm>
          <a:prstGeom prst="rect">
            <a:avLst/>
          </a:prstGeom>
          <a:noFill/>
          <a:ln/>
        </p:spPr>
        <p:txBody>
          <a:bodyPr wrap="square" rtlCol="0" anchor="ctr"/>
          <a:lstStyle/>
          <a:p>
            <a:pPr indent="0" marL="0">
              <a:buNone/>
            </a:pPr>
            <a:r>
              <a:rPr lang="en-US" sz="950" dirty="0">
                <a:solidFill>
                  <a:srgbClr val="F8FAFC"/>
                </a:solidFill>
                <a:latin typeface="Calibri" pitchFamily="34" charset="0"/>
                <a:ea typeface="Calibri" pitchFamily="34" charset="-122"/>
                <a:cs typeface="Calibri" pitchFamily="34" charset="-120"/>
              </a:rPr>
              <a:t>PO-1001: 120 units invoiced vs 100 units physically received. 20 units paid for nothing = $1,000.00 loss.</a:t>
            </a:r>
            <a:endParaRPr lang="en-US" sz="950" dirty="0"/>
          </a:p>
        </p:txBody>
      </p:sp>
      <p:sp>
        <p:nvSpPr>
          <p:cNvPr id="20" name="Shape 18"/>
          <p:cNvSpPr/>
          <p:nvPr/>
        </p:nvSpPr>
        <p:spPr>
          <a:xfrm>
            <a:off x="3456432" y="1691640"/>
            <a:ext cx="2606040" cy="4526280"/>
          </a:xfrm>
          <a:prstGeom prst="roundRect">
            <a:avLst>
              <a:gd name="adj" fmla="val 4211"/>
            </a:avLst>
          </a:prstGeom>
          <a:solidFill>
            <a:srgbClr val="0B1120"/>
          </a:solidFill>
          <a:ln w="19050">
            <a:solidFill>
              <a:srgbClr val="F59E0B"/>
            </a:solidFill>
            <a:prstDash val="solid"/>
          </a:ln>
        </p:spPr>
      </p:sp>
      <p:sp>
        <p:nvSpPr>
          <p:cNvPr id="21" name="Text 19"/>
          <p:cNvSpPr/>
          <p:nvPr/>
        </p:nvSpPr>
        <p:spPr>
          <a:xfrm>
            <a:off x="3593592" y="1874520"/>
            <a:ext cx="2331720"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Contract Rate Escalation</a:t>
            </a:r>
            <a:endParaRPr lang="en-US" sz="1250" dirty="0"/>
          </a:p>
        </p:txBody>
      </p:sp>
      <p:sp>
        <p:nvSpPr>
          <p:cNvPr id="22" name="Shape 20"/>
          <p:cNvSpPr/>
          <p:nvPr/>
        </p:nvSpPr>
        <p:spPr>
          <a:xfrm>
            <a:off x="3593592" y="2331720"/>
            <a:ext cx="2331720" cy="292608"/>
          </a:xfrm>
          <a:prstGeom prst="roundRect">
            <a:avLst>
              <a:gd name="adj" fmla="val 25000"/>
            </a:avLst>
          </a:prstGeom>
          <a:solidFill>
            <a:srgbClr val="0F172A"/>
          </a:solidFill>
          <a:ln w="12700">
            <a:solidFill>
              <a:srgbClr val="F59E0B"/>
            </a:solidFill>
            <a:prstDash val="solid"/>
          </a:ln>
        </p:spPr>
      </p:sp>
      <p:sp>
        <p:nvSpPr>
          <p:cNvPr id="23" name="Text 21"/>
          <p:cNvSpPr/>
          <p:nvPr/>
        </p:nvSpPr>
        <p:spPr>
          <a:xfrm>
            <a:off x="3593592" y="2331720"/>
            <a:ext cx="2331720" cy="292608"/>
          </a:xfrm>
          <a:prstGeom prst="rect">
            <a:avLst/>
          </a:prstGeom>
          <a:noFill/>
          <a:ln/>
        </p:spPr>
        <p:txBody>
          <a:bodyPr wrap="square" rtlCol="0" anchor="ctr"/>
          <a:lstStyle/>
          <a:p>
            <a:pPr algn="ctr" indent="0" marL="0">
              <a:buNone/>
            </a:pPr>
            <a:r>
              <a:rPr lang="en-US" sz="950" b="1" dirty="0">
                <a:solidFill>
                  <a:srgbClr val="F59E0B"/>
                </a:solidFill>
                <a:latin typeface="Calibri" pitchFamily="34" charset="0"/>
                <a:ea typeface="Calibri" pitchFamily="34" charset="-122"/>
                <a:cs typeface="Calibri" pitchFamily="34" charset="-120"/>
              </a:rPr>
              <a:t>30% of Total Leakage</a:t>
            </a:r>
            <a:endParaRPr lang="en-US" sz="950" dirty="0"/>
          </a:p>
        </p:txBody>
      </p:sp>
      <p:sp>
        <p:nvSpPr>
          <p:cNvPr id="24" name="Text 22"/>
          <p:cNvSpPr/>
          <p:nvPr/>
        </p:nvSpPr>
        <p:spPr>
          <a:xfrm>
            <a:off x="3593592" y="2743200"/>
            <a:ext cx="2331720" cy="1691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Suppliers quietly bill standard catalogue prices instead of negotiated master contract schedules. Over time, price creep accumulates across thousands of line items unnoticed by AP clerks.</a:t>
            </a:r>
            <a:endParaRPr lang="en-US" sz="1000" dirty="0"/>
          </a:p>
        </p:txBody>
      </p:sp>
      <p:sp>
        <p:nvSpPr>
          <p:cNvPr id="25" name="Shape 23"/>
          <p:cNvSpPr/>
          <p:nvPr/>
        </p:nvSpPr>
        <p:spPr>
          <a:xfrm>
            <a:off x="3593592" y="4526280"/>
            <a:ext cx="2331720" cy="1508760"/>
          </a:xfrm>
          <a:prstGeom prst="roundRect">
            <a:avLst>
              <a:gd name="adj" fmla="val 4848"/>
            </a:avLst>
          </a:prstGeom>
          <a:solidFill>
            <a:srgbClr val="1C1917"/>
          </a:solidFill>
          <a:ln w="12700">
            <a:solidFill>
              <a:srgbClr val="44403C"/>
            </a:solidFill>
            <a:prstDash val="solid"/>
          </a:ln>
        </p:spPr>
      </p:sp>
      <p:sp>
        <p:nvSpPr>
          <p:cNvPr id="26" name="Text 24"/>
          <p:cNvSpPr/>
          <p:nvPr/>
        </p:nvSpPr>
        <p:spPr>
          <a:xfrm>
            <a:off x="3685032" y="4617720"/>
            <a:ext cx="2148840" cy="228600"/>
          </a:xfrm>
          <a:prstGeom prst="rect">
            <a:avLst/>
          </a:prstGeom>
          <a:noFill/>
          <a:ln/>
        </p:spPr>
        <p:txBody>
          <a:bodyPr wrap="square" rtlCol="0" anchor="ctr"/>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27" name="Text 25"/>
          <p:cNvSpPr/>
          <p:nvPr/>
        </p:nvSpPr>
        <p:spPr>
          <a:xfrm>
            <a:off x="3685032" y="4846320"/>
            <a:ext cx="2148840" cy="1097280"/>
          </a:xfrm>
          <a:prstGeom prst="rect">
            <a:avLst/>
          </a:prstGeom>
          <a:noFill/>
          <a:ln/>
        </p:spPr>
        <p:txBody>
          <a:bodyPr wrap="square" rtlCol="0" anchor="ctr"/>
          <a:lstStyle/>
          <a:p>
            <a:pPr indent="0" marL="0">
              <a:buNone/>
            </a:pPr>
            <a:r>
              <a:rPr lang="en-US" sz="950" dirty="0">
                <a:solidFill>
                  <a:srgbClr val="F8FAFC"/>
                </a:solidFill>
                <a:latin typeface="Calibri" pitchFamily="34" charset="0"/>
                <a:ea typeface="Calibri" pitchFamily="34" charset="-122"/>
                <a:cs typeface="Calibri" pitchFamily="34" charset="-120"/>
              </a:rPr>
              <a:t>PO-1001: Billed $50.00/unit vs $48.00 contract schedule cap. $2.00 rate creep on 100 units = $200.00 loss.</a:t>
            </a:r>
            <a:endParaRPr lang="en-US" sz="950" dirty="0"/>
          </a:p>
        </p:txBody>
      </p:sp>
      <p:sp>
        <p:nvSpPr>
          <p:cNvPr id="28" name="Shape 26"/>
          <p:cNvSpPr/>
          <p:nvPr/>
        </p:nvSpPr>
        <p:spPr>
          <a:xfrm>
            <a:off x="6181344" y="1691640"/>
            <a:ext cx="2606040" cy="4526280"/>
          </a:xfrm>
          <a:prstGeom prst="roundRect">
            <a:avLst>
              <a:gd name="adj" fmla="val 4211"/>
            </a:avLst>
          </a:prstGeom>
          <a:solidFill>
            <a:srgbClr val="0B1120"/>
          </a:solidFill>
          <a:ln w="19050">
            <a:solidFill>
              <a:srgbClr val="38BDF8"/>
            </a:solidFill>
            <a:prstDash val="solid"/>
          </a:ln>
        </p:spPr>
      </p:sp>
      <p:sp>
        <p:nvSpPr>
          <p:cNvPr id="29" name="Text 27"/>
          <p:cNvSpPr/>
          <p:nvPr/>
        </p:nvSpPr>
        <p:spPr>
          <a:xfrm>
            <a:off x="6318504" y="1874520"/>
            <a:ext cx="2331720"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3. Phantom &amp; Unapproved Fees</a:t>
            </a:r>
            <a:endParaRPr lang="en-US" sz="1250" dirty="0"/>
          </a:p>
        </p:txBody>
      </p:sp>
      <p:sp>
        <p:nvSpPr>
          <p:cNvPr id="30" name="Shape 28"/>
          <p:cNvSpPr/>
          <p:nvPr/>
        </p:nvSpPr>
        <p:spPr>
          <a:xfrm>
            <a:off x="6318504" y="2331720"/>
            <a:ext cx="2331720" cy="292608"/>
          </a:xfrm>
          <a:prstGeom prst="roundRect">
            <a:avLst>
              <a:gd name="adj" fmla="val 25000"/>
            </a:avLst>
          </a:prstGeom>
          <a:solidFill>
            <a:srgbClr val="0F172A"/>
          </a:solidFill>
          <a:ln w="12700">
            <a:solidFill>
              <a:srgbClr val="38BDF8"/>
            </a:solidFill>
            <a:prstDash val="solid"/>
          </a:ln>
        </p:spPr>
      </p:sp>
      <p:sp>
        <p:nvSpPr>
          <p:cNvPr id="31" name="Text 29"/>
          <p:cNvSpPr/>
          <p:nvPr/>
        </p:nvSpPr>
        <p:spPr>
          <a:xfrm>
            <a:off x="6318504" y="2331720"/>
            <a:ext cx="2331720" cy="292608"/>
          </a:xfrm>
          <a:prstGeom prst="rect">
            <a:avLst/>
          </a:prstGeom>
          <a:noFill/>
          <a:ln/>
        </p:spPr>
        <p:txBody>
          <a:bodyPr wrap="square" rtlCol="0" anchor="ctr"/>
          <a:lstStyle/>
          <a:p>
            <a:pPr algn="ctr" indent="0" marL="0">
              <a:buNone/>
            </a:pPr>
            <a:r>
              <a:rPr lang="en-US" sz="950" b="1" dirty="0">
                <a:solidFill>
                  <a:srgbClr val="38BDF8"/>
                </a:solidFill>
                <a:latin typeface="Calibri" pitchFamily="34" charset="0"/>
                <a:ea typeface="Calibri" pitchFamily="34" charset="-122"/>
                <a:cs typeface="Calibri" pitchFamily="34" charset="-120"/>
              </a:rPr>
              <a:t>15% of Total Leakage</a:t>
            </a:r>
            <a:endParaRPr lang="en-US" sz="950" dirty="0"/>
          </a:p>
        </p:txBody>
      </p:sp>
      <p:sp>
        <p:nvSpPr>
          <p:cNvPr id="32" name="Text 30"/>
          <p:cNvSpPr/>
          <p:nvPr/>
        </p:nvSpPr>
        <p:spPr>
          <a:xfrm>
            <a:off x="6318504" y="2743200"/>
            <a:ext cx="2331720" cy="1691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Invoices add unapproved handling fees, logistics surcharges, fuel indexing, or expediting tariffs that violate master contract terms prohibiting auxiliary billing without pre-authorization.</a:t>
            </a:r>
            <a:endParaRPr lang="en-US" sz="1000" dirty="0"/>
          </a:p>
        </p:txBody>
      </p:sp>
      <p:sp>
        <p:nvSpPr>
          <p:cNvPr id="33" name="Shape 31"/>
          <p:cNvSpPr/>
          <p:nvPr/>
        </p:nvSpPr>
        <p:spPr>
          <a:xfrm>
            <a:off x="6318504" y="4526280"/>
            <a:ext cx="2331720" cy="1508760"/>
          </a:xfrm>
          <a:prstGeom prst="roundRect">
            <a:avLst>
              <a:gd name="adj" fmla="val 4848"/>
            </a:avLst>
          </a:prstGeom>
          <a:solidFill>
            <a:srgbClr val="1C1917"/>
          </a:solidFill>
          <a:ln w="12700">
            <a:solidFill>
              <a:srgbClr val="44403C"/>
            </a:solidFill>
            <a:prstDash val="solid"/>
          </a:ln>
        </p:spPr>
      </p:sp>
      <p:sp>
        <p:nvSpPr>
          <p:cNvPr id="34" name="Text 32"/>
          <p:cNvSpPr/>
          <p:nvPr/>
        </p:nvSpPr>
        <p:spPr>
          <a:xfrm>
            <a:off x="6409944" y="4617720"/>
            <a:ext cx="2148840" cy="228600"/>
          </a:xfrm>
          <a:prstGeom prst="rect">
            <a:avLst/>
          </a:prstGeom>
          <a:noFill/>
          <a:ln/>
        </p:spPr>
        <p:txBody>
          <a:bodyPr wrap="square" rtlCol="0" anchor="ctr"/>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35" name="Text 33"/>
          <p:cNvSpPr/>
          <p:nvPr/>
        </p:nvSpPr>
        <p:spPr>
          <a:xfrm>
            <a:off x="6409944" y="4846320"/>
            <a:ext cx="2148840" cy="1097280"/>
          </a:xfrm>
          <a:prstGeom prst="rect">
            <a:avLst/>
          </a:prstGeom>
          <a:noFill/>
          <a:ln/>
        </p:spPr>
        <p:txBody>
          <a:bodyPr wrap="square" rtlCol="0" anchor="ctr"/>
          <a:lstStyle/>
          <a:p>
            <a:pPr indent="0" marL="0">
              <a:buNone/>
            </a:pPr>
            <a:r>
              <a:rPr lang="en-US" sz="950" dirty="0">
                <a:solidFill>
                  <a:srgbClr val="F8FAFC"/>
                </a:solidFill>
                <a:latin typeface="Calibri" pitchFamily="34" charset="0"/>
                <a:ea typeface="Calibri" pitchFamily="34" charset="-122"/>
                <a:cs typeface="Calibri" pitchFamily="34" charset="-120"/>
              </a:rPr>
              <a:t>Unapproved $150 logistics fee appended to invoice without prior written CPO authorization.</a:t>
            </a:r>
            <a:endParaRPr lang="en-US" sz="950" dirty="0"/>
          </a:p>
        </p:txBody>
      </p:sp>
      <p:sp>
        <p:nvSpPr>
          <p:cNvPr id="36" name="Shape 34"/>
          <p:cNvSpPr/>
          <p:nvPr/>
        </p:nvSpPr>
        <p:spPr>
          <a:xfrm>
            <a:off x="8906256" y="1691640"/>
            <a:ext cx="2606040" cy="4526280"/>
          </a:xfrm>
          <a:prstGeom prst="roundRect">
            <a:avLst>
              <a:gd name="adj" fmla="val 4211"/>
            </a:avLst>
          </a:prstGeom>
          <a:solidFill>
            <a:srgbClr val="0B1120"/>
          </a:solidFill>
          <a:ln w="19050">
            <a:solidFill>
              <a:srgbClr val="A855F7"/>
            </a:solidFill>
            <a:prstDash val="solid"/>
          </a:ln>
        </p:spPr>
      </p:sp>
      <p:sp>
        <p:nvSpPr>
          <p:cNvPr id="37" name="Text 35"/>
          <p:cNvSpPr/>
          <p:nvPr/>
        </p:nvSpPr>
        <p:spPr>
          <a:xfrm>
            <a:off x="9043416" y="1874520"/>
            <a:ext cx="2331720"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4. Duplicate / Stale Invoicing</a:t>
            </a:r>
            <a:endParaRPr lang="en-US" sz="1250" dirty="0"/>
          </a:p>
        </p:txBody>
      </p:sp>
      <p:sp>
        <p:nvSpPr>
          <p:cNvPr id="38" name="Shape 36"/>
          <p:cNvSpPr/>
          <p:nvPr/>
        </p:nvSpPr>
        <p:spPr>
          <a:xfrm>
            <a:off x="9043416" y="2331720"/>
            <a:ext cx="2331720" cy="292608"/>
          </a:xfrm>
          <a:prstGeom prst="roundRect">
            <a:avLst>
              <a:gd name="adj" fmla="val 25000"/>
            </a:avLst>
          </a:prstGeom>
          <a:solidFill>
            <a:srgbClr val="0F172A"/>
          </a:solidFill>
          <a:ln w="12700">
            <a:solidFill>
              <a:srgbClr val="A855F7"/>
            </a:solidFill>
            <a:prstDash val="solid"/>
          </a:ln>
        </p:spPr>
      </p:sp>
      <p:sp>
        <p:nvSpPr>
          <p:cNvPr id="39" name="Text 37"/>
          <p:cNvSpPr/>
          <p:nvPr/>
        </p:nvSpPr>
        <p:spPr>
          <a:xfrm>
            <a:off x="9043416" y="2331720"/>
            <a:ext cx="2331720" cy="292608"/>
          </a:xfrm>
          <a:prstGeom prst="rect">
            <a:avLst/>
          </a:prstGeom>
          <a:noFill/>
          <a:ln/>
        </p:spPr>
        <p:txBody>
          <a:bodyPr wrap="square" rtlCol="0" anchor="ctr"/>
          <a:lstStyle/>
          <a:p>
            <a:pPr algn="ctr" indent="0" marL="0">
              <a:buNone/>
            </a:pPr>
            <a:r>
              <a:rPr lang="en-US" sz="950" b="1" dirty="0">
                <a:solidFill>
                  <a:srgbClr val="A855F7"/>
                </a:solidFill>
                <a:latin typeface="Calibri" pitchFamily="34" charset="0"/>
                <a:ea typeface="Calibri" pitchFamily="34" charset="-122"/>
                <a:cs typeface="Calibri" pitchFamily="34" charset="-120"/>
              </a:rPr>
              <a:t>10% of Total Leakage</a:t>
            </a:r>
            <a:endParaRPr lang="en-US" sz="950" dirty="0"/>
          </a:p>
        </p:txBody>
      </p:sp>
      <p:sp>
        <p:nvSpPr>
          <p:cNvPr id="40" name="Text 38"/>
          <p:cNvSpPr/>
          <p:nvPr/>
        </p:nvSpPr>
        <p:spPr>
          <a:xfrm>
            <a:off x="9043416" y="2743200"/>
            <a:ext cx="2331720" cy="1691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Resubmitted invoices for previously cleared purchase orders, altered invoice numbers, or cross-entity double billing that evade simple relational uniqueness constraints.</a:t>
            </a:r>
            <a:endParaRPr lang="en-US" sz="1000" dirty="0"/>
          </a:p>
        </p:txBody>
      </p:sp>
      <p:sp>
        <p:nvSpPr>
          <p:cNvPr id="41" name="Shape 39"/>
          <p:cNvSpPr/>
          <p:nvPr/>
        </p:nvSpPr>
        <p:spPr>
          <a:xfrm>
            <a:off x="9043416" y="4526280"/>
            <a:ext cx="2331720" cy="1508760"/>
          </a:xfrm>
          <a:prstGeom prst="roundRect">
            <a:avLst>
              <a:gd name="adj" fmla="val 4848"/>
            </a:avLst>
          </a:prstGeom>
          <a:solidFill>
            <a:srgbClr val="1C1917"/>
          </a:solidFill>
          <a:ln w="12700">
            <a:solidFill>
              <a:srgbClr val="44403C"/>
            </a:solidFill>
            <a:prstDash val="solid"/>
          </a:ln>
        </p:spPr>
      </p:sp>
      <p:sp>
        <p:nvSpPr>
          <p:cNvPr id="42" name="Text 40"/>
          <p:cNvSpPr/>
          <p:nvPr/>
        </p:nvSpPr>
        <p:spPr>
          <a:xfrm>
            <a:off x="9134856" y="4617720"/>
            <a:ext cx="2148840" cy="228600"/>
          </a:xfrm>
          <a:prstGeom prst="rect">
            <a:avLst/>
          </a:prstGeom>
          <a:noFill/>
          <a:ln/>
        </p:spPr>
        <p:txBody>
          <a:bodyPr wrap="square" rtlCol="0" anchor="ctr"/>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43" name="Text 41"/>
          <p:cNvSpPr/>
          <p:nvPr/>
        </p:nvSpPr>
        <p:spPr>
          <a:xfrm>
            <a:off x="9134856" y="4846320"/>
            <a:ext cx="2148840" cy="1097280"/>
          </a:xfrm>
          <a:prstGeom prst="rect">
            <a:avLst/>
          </a:prstGeom>
          <a:noFill/>
          <a:ln/>
        </p:spPr>
        <p:txBody>
          <a:bodyPr wrap="square" rtlCol="0" anchor="ctr"/>
          <a:lstStyle/>
          <a:p>
            <a:pPr indent="0" marL="0">
              <a:buNone/>
            </a:pPr>
            <a:r>
              <a:rPr lang="en-US" sz="950" dirty="0">
                <a:solidFill>
                  <a:srgbClr val="F8FAFC"/>
                </a:solidFill>
                <a:latin typeface="Calibri" pitchFamily="34" charset="0"/>
                <a:ea typeface="Calibri" pitchFamily="34" charset="-122"/>
                <a:cs typeface="Calibri" pitchFamily="34" charset="-120"/>
              </a:rPr>
              <a:t>Supplier resubmits invoice with suffix "-A" after 60 days, triggering double disbursement.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SYSTEMIC FRAGMENTATION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6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4 Enterprise Silos: Root Cause of Blind Spots</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No single software system maintains complete cross-source truth.</a:t>
            </a:r>
            <a:endParaRPr lang="en-US" sz="1250" dirty="0"/>
          </a:p>
        </p:txBody>
      </p:sp>
      <p:sp>
        <p:nvSpPr>
          <p:cNvPr id="12" name="Shape 10"/>
          <p:cNvSpPr/>
          <p:nvPr/>
        </p:nvSpPr>
        <p:spPr>
          <a:xfrm>
            <a:off x="731520" y="1691640"/>
            <a:ext cx="5257800" cy="2148840"/>
          </a:xfrm>
          <a:prstGeom prst="roundRect">
            <a:avLst>
              <a:gd name="adj" fmla="val 5106"/>
            </a:avLst>
          </a:prstGeom>
          <a:solidFill>
            <a:srgbClr val="0B1120"/>
          </a:solidFill>
          <a:ln w="19050">
            <a:solidFill>
              <a:srgbClr val="38BDF8"/>
            </a:solidFill>
            <a:prstDash val="solid"/>
          </a:ln>
        </p:spPr>
      </p:sp>
      <p:sp>
        <p:nvSpPr>
          <p:cNvPr id="13" name="Text 11"/>
          <p:cNvSpPr/>
          <p:nvPr/>
        </p:nvSpPr>
        <p:spPr>
          <a:xfrm>
            <a:off x="914400" y="1828800"/>
            <a:ext cx="4892040" cy="274320"/>
          </a:xfrm>
          <a:prstGeom prst="rect">
            <a:avLst/>
          </a:prstGeom>
          <a:noFill/>
          <a:ln/>
        </p:spPr>
        <p:txBody>
          <a:bodyPr wrap="square" rtlCol="0" anchor="ctr"/>
          <a:lstStyle/>
          <a:p>
            <a:pPr indent="0" marL="0">
              <a:buNone/>
            </a:pPr>
            <a:r>
              <a:rPr lang="en-US" sz="1250" b="1" dirty="0">
                <a:solidFill>
                  <a:srgbClr val="38BDF8"/>
                </a:solidFill>
                <a:latin typeface="Calibri" pitchFamily="34" charset="0"/>
                <a:ea typeface="Calibri" pitchFamily="34" charset="-122"/>
                <a:cs typeface="Calibri" pitchFamily="34" charset="-120"/>
              </a:rPr>
              <a:t>SOURCE A • ERP System (SAP / Oracle)</a:t>
            </a:r>
            <a:endParaRPr lang="en-US" sz="1250" dirty="0"/>
          </a:p>
        </p:txBody>
      </p:sp>
      <p:sp>
        <p:nvSpPr>
          <p:cNvPr id="14" name="Text 12"/>
          <p:cNvSpPr/>
          <p:nvPr/>
        </p:nvSpPr>
        <p:spPr>
          <a:xfrm>
            <a:off x="914400" y="2103120"/>
            <a:ext cx="4892040" cy="22860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Physical Artifact: data/purchase_orders.csv</a:t>
            </a:r>
            <a:endParaRPr lang="en-US" sz="950" dirty="0"/>
          </a:p>
        </p:txBody>
      </p:sp>
      <p:sp>
        <p:nvSpPr>
          <p:cNvPr id="15" name="Text 13"/>
          <p:cNvSpPr/>
          <p:nvPr/>
        </p:nvSpPr>
        <p:spPr>
          <a:xfrm>
            <a:off x="914400" y="2377440"/>
            <a:ext cx="4892040" cy="59436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Core Scope: Contains approved POs, buyer authorizations, authorized items, and budgeted dollar thresholds.</a:t>
            </a:r>
            <a:endParaRPr lang="en-US" sz="1000" dirty="0"/>
          </a:p>
        </p:txBody>
      </p:sp>
      <p:sp>
        <p:nvSpPr>
          <p:cNvPr id="16" name="Shape 14"/>
          <p:cNvSpPr/>
          <p:nvPr/>
        </p:nvSpPr>
        <p:spPr>
          <a:xfrm>
            <a:off x="914400" y="3017520"/>
            <a:ext cx="4892040" cy="685800"/>
          </a:xfrm>
          <a:prstGeom prst="roundRect">
            <a:avLst>
              <a:gd name="adj" fmla="val 10667"/>
            </a:avLst>
          </a:prstGeom>
          <a:solidFill>
            <a:srgbClr val="1E1B4B"/>
          </a:solidFill>
          <a:ln w="12700">
            <a:solidFill>
              <a:srgbClr val="3730A3"/>
            </a:solidFill>
            <a:prstDash val="solid"/>
          </a:ln>
        </p:spPr>
      </p:sp>
      <p:sp>
        <p:nvSpPr>
          <p:cNvPr id="17" name="Text 15"/>
          <p:cNvSpPr/>
          <p:nvPr/>
        </p:nvSpPr>
        <p:spPr>
          <a:xfrm>
            <a:off x="1005840" y="3063240"/>
            <a:ext cx="4709160" cy="594360"/>
          </a:xfrm>
          <a:prstGeom prst="rect">
            <a:avLst/>
          </a:prstGeom>
          <a:noFill/>
          <a:ln/>
        </p:spPr>
        <p:txBody>
          <a:bodyPr wrap="square" rtlCol="0" anchor="ctr"/>
          <a:lstStyle/>
          <a:p>
            <a:pPr indent="0" marL="0">
              <a:buNone/>
            </a:pPr>
            <a:r>
              <a:rPr lang="en-US" sz="950" dirty="0">
                <a:solidFill>
                  <a:srgbClr val="C7D2FE"/>
                </a:solidFill>
                <a:latin typeface="Calibri" pitchFamily="34" charset="0"/>
                <a:ea typeface="Calibri" pitchFamily="34" charset="-122"/>
                <a:cs typeface="Calibri" pitchFamily="34" charset="-120"/>
              </a:rPr>
              <a:t>Critical Blindspot: Completely blind to physical receiving dock receipts and post-agreement legal amendments.</a:t>
            </a:r>
            <a:endParaRPr lang="en-US" sz="950" dirty="0"/>
          </a:p>
        </p:txBody>
      </p:sp>
      <p:sp>
        <p:nvSpPr>
          <p:cNvPr id="18" name="Shape 16"/>
          <p:cNvSpPr/>
          <p:nvPr/>
        </p:nvSpPr>
        <p:spPr>
          <a:xfrm>
            <a:off x="6172200" y="1691640"/>
            <a:ext cx="5257800" cy="2148840"/>
          </a:xfrm>
          <a:prstGeom prst="roundRect">
            <a:avLst>
              <a:gd name="adj" fmla="val 5106"/>
            </a:avLst>
          </a:prstGeom>
          <a:solidFill>
            <a:srgbClr val="0B1120"/>
          </a:solidFill>
          <a:ln w="19050">
            <a:solidFill>
              <a:srgbClr val="F59E0B"/>
            </a:solidFill>
            <a:prstDash val="solid"/>
          </a:ln>
        </p:spPr>
      </p:sp>
      <p:sp>
        <p:nvSpPr>
          <p:cNvPr id="19" name="Text 17"/>
          <p:cNvSpPr/>
          <p:nvPr/>
        </p:nvSpPr>
        <p:spPr>
          <a:xfrm>
            <a:off x="6355080" y="1828800"/>
            <a:ext cx="4892040" cy="274320"/>
          </a:xfrm>
          <a:prstGeom prst="rect">
            <a:avLst/>
          </a:prstGeom>
          <a:noFill/>
          <a:ln/>
        </p:spPr>
        <p:txBody>
          <a:bodyPr wrap="square" rtlCol="0" anchor="ctr"/>
          <a:lstStyle/>
          <a:p>
            <a:pPr indent="0" marL="0">
              <a:buNone/>
            </a:pPr>
            <a:r>
              <a:rPr lang="en-US" sz="1250" b="1" dirty="0">
                <a:solidFill>
                  <a:srgbClr val="F59E0B"/>
                </a:solidFill>
                <a:latin typeface="Calibri" pitchFamily="34" charset="0"/>
                <a:ea typeface="Calibri" pitchFamily="34" charset="-122"/>
                <a:cs typeface="Calibri" pitchFamily="34" charset="-120"/>
              </a:rPr>
              <a:t>SOURCE B • WMS Logistics (Manhattan / Blue Yonder)</a:t>
            </a:r>
            <a:endParaRPr lang="en-US" sz="1250" dirty="0"/>
          </a:p>
        </p:txBody>
      </p:sp>
      <p:sp>
        <p:nvSpPr>
          <p:cNvPr id="20" name="Text 18"/>
          <p:cNvSpPr/>
          <p:nvPr/>
        </p:nvSpPr>
        <p:spPr>
          <a:xfrm>
            <a:off x="6355080" y="2103120"/>
            <a:ext cx="4892040" cy="22860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Physical Artifact: data/deliveries.csv</a:t>
            </a:r>
            <a:endParaRPr lang="en-US" sz="950" dirty="0"/>
          </a:p>
        </p:txBody>
      </p:sp>
      <p:sp>
        <p:nvSpPr>
          <p:cNvPr id="21" name="Text 19"/>
          <p:cNvSpPr/>
          <p:nvPr/>
        </p:nvSpPr>
        <p:spPr>
          <a:xfrm>
            <a:off x="6355080" y="2377440"/>
            <a:ext cx="4892040" cy="59436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Core Scope: Contains physical receiving slips (DN-045), carrier bill of lading, damaged counts, and dock time stamps.</a:t>
            </a:r>
            <a:endParaRPr lang="en-US" sz="1000" dirty="0"/>
          </a:p>
        </p:txBody>
      </p:sp>
      <p:sp>
        <p:nvSpPr>
          <p:cNvPr id="22" name="Shape 20"/>
          <p:cNvSpPr/>
          <p:nvPr/>
        </p:nvSpPr>
        <p:spPr>
          <a:xfrm>
            <a:off x="6355080" y="3017520"/>
            <a:ext cx="4892040" cy="685800"/>
          </a:xfrm>
          <a:prstGeom prst="roundRect">
            <a:avLst>
              <a:gd name="adj" fmla="val 10667"/>
            </a:avLst>
          </a:prstGeom>
          <a:solidFill>
            <a:srgbClr val="1E1B4B"/>
          </a:solidFill>
          <a:ln w="12700">
            <a:solidFill>
              <a:srgbClr val="3730A3"/>
            </a:solidFill>
            <a:prstDash val="solid"/>
          </a:ln>
        </p:spPr>
      </p:sp>
      <p:sp>
        <p:nvSpPr>
          <p:cNvPr id="23" name="Text 21"/>
          <p:cNvSpPr/>
          <p:nvPr/>
        </p:nvSpPr>
        <p:spPr>
          <a:xfrm>
            <a:off x="6446520" y="3063240"/>
            <a:ext cx="4709160" cy="594360"/>
          </a:xfrm>
          <a:prstGeom prst="rect">
            <a:avLst/>
          </a:prstGeom>
          <a:noFill/>
          <a:ln/>
        </p:spPr>
        <p:txBody>
          <a:bodyPr wrap="square" rtlCol="0" anchor="ctr"/>
          <a:lstStyle/>
          <a:p>
            <a:pPr indent="0" marL="0">
              <a:buNone/>
            </a:pPr>
            <a:r>
              <a:rPr lang="en-US" sz="950" dirty="0">
                <a:solidFill>
                  <a:srgbClr val="C7D2FE"/>
                </a:solidFill>
                <a:latin typeface="Calibri" pitchFamily="34" charset="0"/>
                <a:ea typeface="Calibri" pitchFamily="34" charset="-122"/>
                <a:cs typeface="Calibri" pitchFamily="34" charset="-120"/>
              </a:rPr>
              <a:t>Critical Blindspot: Completely blind to purchase order contractual pricing terms and accounts payable payments.</a:t>
            </a:r>
            <a:endParaRPr lang="en-US" sz="950" dirty="0"/>
          </a:p>
        </p:txBody>
      </p:sp>
      <p:sp>
        <p:nvSpPr>
          <p:cNvPr id="24" name="Shape 22"/>
          <p:cNvSpPr/>
          <p:nvPr/>
        </p:nvSpPr>
        <p:spPr>
          <a:xfrm>
            <a:off x="731520" y="3977640"/>
            <a:ext cx="5257800" cy="2148840"/>
          </a:xfrm>
          <a:prstGeom prst="roundRect">
            <a:avLst>
              <a:gd name="adj" fmla="val 5106"/>
            </a:avLst>
          </a:prstGeom>
          <a:solidFill>
            <a:srgbClr val="0B1120"/>
          </a:solidFill>
          <a:ln w="19050">
            <a:solidFill>
              <a:srgbClr val="F43F5E"/>
            </a:solidFill>
            <a:prstDash val="solid"/>
          </a:ln>
        </p:spPr>
      </p:sp>
      <p:sp>
        <p:nvSpPr>
          <p:cNvPr id="25" name="Text 23"/>
          <p:cNvSpPr/>
          <p:nvPr/>
        </p:nvSpPr>
        <p:spPr>
          <a:xfrm>
            <a:off x="914400" y="4114800"/>
            <a:ext cx="4892040" cy="274320"/>
          </a:xfrm>
          <a:prstGeom prst="rect">
            <a:avLst/>
          </a:prstGeom>
          <a:noFill/>
          <a:ln/>
        </p:spPr>
        <p:txBody>
          <a:bodyPr wrap="square" rtlCol="0" anchor="ctr"/>
          <a:lstStyle/>
          <a:p>
            <a:pPr indent="0" marL="0">
              <a:buNone/>
            </a:pPr>
            <a:r>
              <a:rPr lang="en-US" sz="1250" b="1" dirty="0">
                <a:solidFill>
                  <a:srgbClr val="F43F5E"/>
                </a:solidFill>
                <a:latin typeface="Calibri" pitchFamily="34" charset="0"/>
                <a:ea typeface="Calibri" pitchFamily="34" charset="-122"/>
                <a:cs typeface="Calibri" pitchFamily="34" charset="-120"/>
              </a:rPr>
              <a:t>SOURCE C • AP Portals (Coupa / Tipalti)</a:t>
            </a:r>
            <a:endParaRPr lang="en-US" sz="1250" dirty="0"/>
          </a:p>
        </p:txBody>
      </p:sp>
      <p:sp>
        <p:nvSpPr>
          <p:cNvPr id="26" name="Text 24"/>
          <p:cNvSpPr/>
          <p:nvPr/>
        </p:nvSpPr>
        <p:spPr>
          <a:xfrm>
            <a:off x="914400" y="4389120"/>
            <a:ext cx="4892040" cy="22860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Physical Artifact: data/invoices.csv</a:t>
            </a:r>
            <a:endParaRPr lang="en-US" sz="950" dirty="0"/>
          </a:p>
        </p:txBody>
      </p:sp>
      <p:sp>
        <p:nvSpPr>
          <p:cNvPr id="27" name="Text 25"/>
          <p:cNvSpPr/>
          <p:nvPr/>
        </p:nvSpPr>
        <p:spPr>
          <a:xfrm>
            <a:off x="914400" y="4663440"/>
            <a:ext cx="4892040" cy="59436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Core Scope: Contains supplier billing claims (INV-9001), bank remittance details, tax line items, and payment dates.</a:t>
            </a:r>
            <a:endParaRPr lang="en-US" sz="1000" dirty="0"/>
          </a:p>
        </p:txBody>
      </p:sp>
      <p:sp>
        <p:nvSpPr>
          <p:cNvPr id="28" name="Shape 26"/>
          <p:cNvSpPr/>
          <p:nvPr/>
        </p:nvSpPr>
        <p:spPr>
          <a:xfrm>
            <a:off x="914400" y="5303520"/>
            <a:ext cx="4892040" cy="685800"/>
          </a:xfrm>
          <a:prstGeom prst="roundRect">
            <a:avLst>
              <a:gd name="adj" fmla="val 10667"/>
            </a:avLst>
          </a:prstGeom>
          <a:solidFill>
            <a:srgbClr val="1E1B4B"/>
          </a:solidFill>
          <a:ln w="12700">
            <a:solidFill>
              <a:srgbClr val="3730A3"/>
            </a:solidFill>
            <a:prstDash val="solid"/>
          </a:ln>
        </p:spPr>
      </p:sp>
      <p:sp>
        <p:nvSpPr>
          <p:cNvPr id="29" name="Text 27"/>
          <p:cNvSpPr/>
          <p:nvPr/>
        </p:nvSpPr>
        <p:spPr>
          <a:xfrm>
            <a:off x="1005840" y="5349240"/>
            <a:ext cx="4709160" cy="594360"/>
          </a:xfrm>
          <a:prstGeom prst="rect">
            <a:avLst/>
          </a:prstGeom>
          <a:noFill/>
          <a:ln/>
        </p:spPr>
        <p:txBody>
          <a:bodyPr wrap="square" rtlCol="0" anchor="ctr"/>
          <a:lstStyle/>
          <a:p>
            <a:pPr indent="0" marL="0">
              <a:buNone/>
            </a:pPr>
            <a:r>
              <a:rPr lang="en-US" sz="950" dirty="0">
                <a:solidFill>
                  <a:srgbClr val="C7D2FE"/>
                </a:solidFill>
                <a:latin typeface="Calibri" pitchFamily="34" charset="0"/>
                <a:ea typeface="Calibri" pitchFamily="34" charset="-122"/>
                <a:cs typeface="Calibri" pitchFamily="34" charset="-120"/>
              </a:rPr>
              <a:t>Critical Blindspot: Clerks verify against PO headers without line-item cross-dock reconciliation against physical receipts.</a:t>
            </a:r>
            <a:endParaRPr lang="en-US" sz="950" dirty="0"/>
          </a:p>
        </p:txBody>
      </p:sp>
      <p:sp>
        <p:nvSpPr>
          <p:cNvPr id="30" name="Shape 28"/>
          <p:cNvSpPr/>
          <p:nvPr/>
        </p:nvSpPr>
        <p:spPr>
          <a:xfrm>
            <a:off x="6172200" y="3977640"/>
            <a:ext cx="5257800" cy="2148840"/>
          </a:xfrm>
          <a:prstGeom prst="roundRect">
            <a:avLst>
              <a:gd name="adj" fmla="val 5106"/>
            </a:avLst>
          </a:prstGeom>
          <a:solidFill>
            <a:srgbClr val="0B1120"/>
          </a:solidFill>
          <a:ln w="19050">
            <a:solidFill>
              <a:srgbClr val="A855F7"/>
            </a:solidFill>
            <a:prstDash val="solid"/>
          </a:ln>
        </p:spPr>
      </p:sp>
      <p:sp>
        <p:nvSpPr>
          <p:cNvPr id="31" name="Text 29"/>
          <p:cNvSpPr/>
          <p:nvPr/>
        </p:nvSpPr>
        <p:spPr>
          <a:xfrm>
            <a:off x="6355080" y="4114800"/>
            <a:ext cx="4892040" cy="274320"/>
          </a:xfrm>
          <a:prstGeom prst="rect">
            <a:avLst/>
          </a:prstGeom>
          <a:noFill/>
          <a:ln/>
        </p:spPr>
        <p:txBody>
          <a:bodyPr wrap="square" rtlCol="0" anchor="ctr"/>
          <a:lstStyle/>
          <a:p>
            <a:pPr indent="0" marL="0">
              <a:buNone/>
            </a:pPr>
            <a:r>
              <a:rPr lang="en-US" sz="1250" b="1" dirty="0">
                <a:solidFill>
                  <a:srgbClr val="A855F7"/>
                </a:solidFill>
                <a:latin typeface="Calibri" pitchFamily="34" charset="0"/>
                <a:ea typeface="Calibri" pitchFamily="34" charset="-122"/>
                <a:cs typeface="Calibri" pitchFamily="34" charset="-120"/>
              </a:rPr>
              <a:t>SOURCE D • Contract Repositories (DocuSign / Icertis)</a:t>
            </a:r>
            <a:endParaRPr lang="en-US" sz="1250" dirty="0"/>
          </a:p>
        </p:txBody>
      </p:sp>
      <p:sp>
        <p:nvSpPr>
          <p:cNvPr id="32" name="Text 30"/>
          <p:cNvSpPr/>
          <p:nvPr/>
        </p:nvSpPr>
        <p:spPr>
          <a:xfrm>
            <a:off x="6355080" y="4389120"/>
            <a:ext cx="4892040" cy="22860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Physical Artifact: data/contract_prices.csv</a:t>
            </a:r>
            <a:endParaRPr lang="en-US" sz="950" dirty="0"/>
          </a:p>
        </p:txBody>
      </p:sp>
      <p:sp>
        <p:nvSpPr>
          <p:cNvPr id="33" name="Text 31"/>
          <p:cNvSpPr/>
          <p:nvPr/>
        </p:nvSpPr>
        <p:spPr>
          <a:xfrm>
            <a:off x="6355080" y="4663440"/>
            <a:ext cx="4892040" cy="59436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Core Scope: Contains volume tiered discounts, ceiling rates ($48/unit cap), SLA penalty clauses, and surcharge bans.</a:t>
            </a:r>
            <a:endParaRPr lang="en-US" sz="1000" dirty="0"/>
          </a:p>
        </p:txBody>
      </p:sp>
      <p:sp>
        <p:nvSpPr>
          <p:cNvPr id="34" name="Shape 32"/>
          <p:cNvSpPr/>
          <p:nvPr/>
        </p:nvSpPr>
        <p:spPr>
          <a:xfrm>
            <a:off x="6355080" y="5303520"/>
            <a:ext cx="4892040" cy="685800"/>
          </a:xfrm>
          <a:prstGeom prst="roundRect">
            <a:avLst>
              <a:gd name="adj" fmla="val 10667"/>
            </a:avLst>
          </a:prstGeom>
          <a:solidFill>
            <a:srgbClr val="1E1B4B"/>
          </a:solidFill>
          <a:ln w="12700">
            <a:solidFill>
              <a:srgbClr val="3730A3"/>
            </a:solidFill>
            <a:prstDash val="solid"/>
          </a:ln>
        </p:spPr>
      </p:sp>
      <p:sp>
        <p:nvSpPr>
          <p:cNvPr id="35" name="Text 33"/>
          <p:cNvSpPr/>
          <p:nvPr/>
        </p:nvSpPr>
        <p:spPr>
          <a:xfrm>
            <a:off x="6446520" y="5349240"/>
            <a:ext cx="4709160" cy="594360"/>
          </a:xfrm>
          <a:prstGeom prst="rect">
            <a:avLst/>
          </a:prstGeom>
          <a:noFill/>
          <a:ln/>
        </p:spPr>
        <p:txBody>
          <a:bodyPr wrap="square" rtlCol="0" anchor="ctr"/>
          <a:lstStyle/>
          <a:p>
            <a:pPr indent="0" marL="0">
              <a:buNone/>
            </a:pPr>
            <a:r>
              <a:rPr lang="en-US" sz="950" dirty="0">
                <a:solidFill>
                  <a:srgbClr val="C7D2FE"/>
                </a:solidFill>
                <a:latin typeface="Calibri" pitchFamily="34" charset="0"/>
                <a:ea typeface="Calibri" pitchFamily="34" charset="-122"/>
                <a:cs typeface="Calibri" pitchFamily="34" charset="-120"/>
              </a:rPr>
              <a:t>Critical Blindspot: Legal documents sit locked in static PDF repositories disconnected from day-to-day AP payments.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LEGACY LIMITATIONS</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7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Why Traditional 2-Way and 3-Way Matching Fails</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Traditional automated matching rules leave glaring loopholes.</a:t>
            </a:r>
            <a:endParaRPr lang="en-US" sz="1250" dirty="0"/>
          </a:p>
        </p:txBody>
      </p:sp>
      <p:sp>
        <p:nvSpPr>
          <p:cNvPr id="12" name="Shape 10"/>
          <p:cNvSpPr/>
          <p:nvPr/>
        </p:nvSpPr>
        <p:spPr>
          <a:xfrm>
            <a:off x="731520" y="1691640"/>
            <a:ext cx="10725912" cy="1371600"/>
          </a:xfrm>
          <a:prstGeom prst="roundRect">
            <a:avLst>
              <a:gd name="adj" fmla="val 8000"/>
            </a:avLst>
          </a:prstGeom>
          <a:solidFill>
            <a:srgbClr val="0B1120"/>
          </a:solidFill>
          <a:ln w="19050">
            <a:solidFill>
              <a:srgbClr val="F43F5E"/>
            </a:solidFill>
            <a:prstDash val="solid"/>
          </a:ln>
        </p:spPr>
      </p:sp>
      <p:sp>
        <p:nvSpPr>
          <p:cNvPr id="13" name="Text 11"/>
          <p:cNvSpPr/>
          <p:nvPr/>
        </p:nvSpPr>
        <p:spPr>
          <a:xfrm>
            <a:off x="1005840" y="1801368"/>
            <a:ext cx="6858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Legacy 2-Way Matching (PO vs Invoice)</a:t>
            </a:r>
            <a:endParaRPr lang="en-US" sz="1300" dirty="0"/>
          </a:p>
        </p:txBody>
      </p:sp>
      <p:sp>
        <p:nvSpPr>
          <p:cNvPr id="14" name="Shape 12"/>
          <p:cNvSpPr/>
          <p:nvPr/>
        </p:nvSpPr>
        <p:spPr>
          <a:xfrm>
            <a:off x="8961120" y="1801368"/>
            <a:ext cx="2194560" cy="292608"/>
          </a:xfrm>
          <a:prstGeom prst="roundRect">
            <a:avLst>
              <a:gd name="adj" fmla="val 25000"/>
            </a:avLst>
          </a:prstGeom>
          <a:solidFill>
            <a:srgbClr val="0F172A"/>
          </a:solidFill>
          <a:ln w="12700">
            <a:solidFill>
              <a:srgbClr val="F43F5E"/>
            </a:solidFill>
            <a:prstDash val="solid"/>
          </a:ln>
        </p:spPr>
      </p:sp>
      <p:sp>
        <p:nvSpPr>
          <p:cNvPr id="15" name="Text 13"/>
          <p:cNvSpPr/>
          <p:nvPr/>
        </p:nvSpPr>
        <p:spPr>
          <a:xfrm>
            <a:off x="8961120" y="1801368"/>
            <a:ext cx="2194560" cy="292608"/>
          </a:xfrm>
          <a:prstGeom prst="rect">
            <a:avLst/>
          </a:prstGeom>
          <a:noFill/>
          <a:ln/>
        </p:spPr>
        <p:txBody>
          <a:bodyPr wrap="square" rtlCol="0" anchor="ctr"/>
          <a:lstStyle/>
          <a:p>
            <a:pPr algn="ctr" indent="0" marL="0">
              <a:buNone/>
            </a:pPr>
            <a:r>
              <a:rPr lang="en-US" sz="900" b="1" dirty="0">
                <a:solidFill>
                  <a:srgbClr val="F43F5E"/>
                </a:solidFill>
                <a:latin typeface="Calibri" pitchFamily="34" charset="0"/>
                <a:ea typeface="Calibri" pitchFamily="34" charset="-122"/>
                <a:cs typeface="Calibri" pitchFamily="34" charset="-120"/>
              </a:rPr>
              <a:t>CRITICAL FLAWS</a:t>
            </a:r>
            <a:endParaRPr lang="en-US" sz="900" dirty="0"/>
          </a:p>
        </p:txBody>
      </p:sp>
      <p:sp>
        <p:nvSpPr>
          <p:cNvPr id="16" name="Text 14"/>
          <p:cNvSpPr/>
          <p:nvPr/>
        </p:nvSpPr>
        <p:spPr>
          <a:xfrm>
            <a:off x="1005840" y="2130552"/>
            <a:ext cx="10149840" cy="841248"/>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 Only checks if Invoice total matches the original Purchase Order total.</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Completely ignores physical warehouse delivery receipts (DN-045).</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Pays 100% of the invoice even if 50% of goods were damaged or unreceived.</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Result: $1,000.00 quantity overbilling on PO-1001 passes completely undetected.</a:t>
            </a:r>
            <a:endParaRPr lang="en-US" sz="1000" dirty="0"/>
          </a:p>
        </p:txBody>
      </p:sp>
      <p:sp>
        <p:nvSpPr>
          <p:cNvPr id="17" name="Shape 15"/>
          <p:cNvSpPr/>
          <p:nvPr/>
        </p:nvSpPr>
        <p:spPr>
          <a:xfrm>
            <a:off x="731520" y="3200400"/>
            <a:ext cx="10725912" cy="1371600"/>
          </a:xfrm>
          <a:prstGeom prst="roundRect">
            <a:avLst>
              <a:gd name="adj" fmla="val 8000"/>
            </a:avLst>
          </a:prstGeom>
          <a:solidFill>
            <a:srgbClr val="0B1120"/>
          </a:solidFill>
          <a:ln w="19050">
            <a:solidFill>
              <a:srgbClr val="F59E0B"/>
            </a:solidFill>
            <a:prstDash val="solid"/>
          </a:ln>
        </p:spPr>
      </p:sp>
      <p:sp>
        <p:nvSpPr>
          <p:cNvPr id="18" name="Text 16"/>
          <p:cNvSpPr/>
          <p:nvPr/>
        </p:nvSpPr>
        <p:spPr>
          <a:xfrm>
            <a:off x="1005840" y="3310128"/>
            <a:ext cx="6858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Legacy 3-Way Matching (PO vs Receipt vs Invoice)</a:t>
            </a:r>
            <a:endParaRPr lang="en-US" sz="1300" dirty="0"/>
          </a:p>
        </p:txBody>
      </p:sp>
      <p:sp>
        <p:nvSpPr>
          <p:cNvPr id="19" name="Shape 17"/>
          <p:cNvSpPr/>
          <p:nvPr/>
        </p:nvSpPr>
        <p:spPr>
          <a:xfrm>
            <a:off x="8961120" y="3310128"/>
            <a:ext cx="2194560" cy="292608"/>
          </a:xfrm>
          <a:prstGeom prst="roundRect">
            <a:avLst>
              <a:gd name="adj" fmla="val 25000"/>
            </a:avLst>
          </a:prstGeom>
          <a:solidFill>
            <a:srgbClr val="0F172A"/>
          </a:solidFill>
          <a:ln w="12700">
            <a:solidFill>
              <a:srgbClr val="F59E0B"/>
            </a:solidFill>
            <a:prstDash val="solid"/>
          </a:ln>
        </p:spPr>
      </p:sp>
      <p:sp>
        <p:nvSpPr>
          <p:cNvPr id="20" name="Text 18"/>
          <p:cNvSpPr/>
          <p:nvPr/>
        </p:nvSpPr>
        <p:spPr>
          <a:xfrm>
            <a:off x="8961120" y="3310128"/>
            <a:ext cx="2194560" cy="292608"/>
          </a:xfrm>
          <a:prstGeom prst="rect">
            <a:avLst/>
          </a:prstGeom>
          <a:noFill/>
          <a:ln/>
        </p:spPr>
        <p:txBody>
          <a:bodyPr wrap="square" rtlCol="0" anchor="ctr"/>
          <a:lstStyle/>
          <a:p>
            <a:pPr algn="ctr" indent="0" marL="0">
              <a:buNone/>
            </a:pPr>
            <a:r>
              <a:rPr lang="en-US" sz="900" b="1" dirty="0">
                <a:solidFill>
                  <a:srgbClr val="F59E0B"/>
                </a:solidFill>
                <a:latin typeface="Calibri" pitchFamily="34" charset="0"/>
                <a:ea typeface="Calibri" pitchFamily="34" charset="-122"/>
                <a:cs typeface="Calibri" pitchFamily="34" charset="-120"/>
              </a:rPr>
              <a:t>SUBTLE FAILURES</a:t>
            </a:r>
            <a:endParaRPr lang="en-US" sz="900" dirty="0"/>
          </a:p>
        </p:txBody>
      </p:sp>
      <p:sp>
        <p:nvSpPr>
          <p:cNvPr id="21" name="Text 19"/>
          <p:cNvSpPr/>
          <p:nvPr/>
        </p:nvSpPr>
        <p:spPr>
          <a:xfrm>
            <a:off x="1005840" y="3639312"/>
            <a:ext cx="10149840" cy="841248"/>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 Checks header totals across PO, Receipt, and Invoice, but ignores line-item rate caps.</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Fails to cross-reference legal contract schedules ($48/unit cap).</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If supplier bills for 100 received units at $50 instead of contracted $48, 3-way match clears it.</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Result: $200.00 contract price escalation on PO-1001 passes undetected.</a:t>
            </a:r>
            <a:endParaRPr lang="en-US" sz="1000" dirty="0"/>
          </a:p>
        </p:txBody>
      </p:sp>
      <p:sp>
        <p:nvSpPr>
          <p:cNvPr id="22" name="Shape 20"/>
          <p:cNvSpPr/>
          <p:nvPr/>
        </p:nvSpPr>
        <p:spPr>
          <a:xfrm>
            <a:off x="731520" y="4709160"/>
            <a:ext cx="10725912" cy="1371600"/>
          </a:xfrm>
          <a:prstGeom prst="roundRect">
            <a:avLst>
              <a:gd name="adj" fmla="val 8000"/>
            </a:avLst>
          </a:prstGeom>
          <a:solidFill>
            <a:srgbClr val="0B1120"/>
          </a:solidFill>
          <a:ln w="19050">
            <a:solidFill>
              <a:srgbClr val="10B981"/>
            </a:solidFill>
            <a:prstDash val="solid"/>
          </a:ln>
        </p:spPr>
      </p:sp>
      <p:sp>
        <p:nvSpPr>
          <p:cNvPr id="23" name="Text 21"/>
          <p:cNvSpPr/>
          <p:nvPr/>
        </p:nvSpPr>
        <p:spPr>
          <a:xfrm>
            <a:off x="1005840" y="4818888"/>
            <a:ext cx="6858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TraceBack AI 4-Way Cross-Source Audit</a:t>
            </a:r>
            <a:endParaRPr lang="en-US" sz="1300" dirty="0"/>
          </a:p>
        </p:txBody>
      </p:sp>
      <p:sp>
        <p:nvSpPr>
          <p:cNvPr id="24" name="Shape 22"/>
          <p:cNvSpPr/>
          <p:nvPr/>
        </p:nvSpPr>
        <p:spPr>
          <a:xfrm>
            <a:off x="8961120" y="4818888"/>
            <a:ext cx="2194560" cy="292608"/>
          </a:xfrm>
          <a:prstGeom prst="roundRect">
            <a:avLst>
              <a:gd name="adj" fmla="val 25000"/>
            </a:avLst>
          </a:prstGeom>
          <a:solidFill>
            <a:srgbClr val="0F172A"/>
          </a:solidFill>
          <a:ln w="12700">
            <a:solidFill>
              <a:srgbClr val="10B981"/>
            </a:solidFill>
            <a:prstDash val="solid"/>
          </a:ln>
        </p:spPr>
      </p:sp>
      <p:sp>
        <p:nvSpPr>
          <p:cNvPr id="25" name="Text 23"/>
          <p:cNvSpPr/>
          <p:nvPr/>
        </p:nvSpPr>
        <p:spPr>
          <a:xfrm>
            <a:off x="8961120" y="4818888"/>
            <a:ext cx="2194560" cy="292608"/>
          </a:xfrm>
          <a:prstGeom prst="rect">
            <a:avLst/>
          </a:prstGeom>
          <a:noFill/>
          <a:ln/>
        </p:spPr>
        <p:txBody>
          <a:bodyPr wrap="square" rtlCol="0" anchor="ctr"/>
          <a:lstStyle/>
          <a:p>
            <a:pPr algn="ctr" indent="0" marL="0">
              <a:buNone/>
            </a:pPr>
            <a:r>
              <a:rPr lang="en-US" sz="900" b="1" dirty="0">
                <a:solidFill>
                  <a:srgbClr val="10B981"/>
                </a:solidFill>
                <a:latin typeface="Calibri" pitchFamily="34" charset="0"/>
                <a:ea typeface="Calibri" pitchFamily="34" charset="-122"/>
                <a:cs typeface="Calibri" pitchFamily="34" charset="-120"/>
              </a:rPr>
              <a:t>ZERO LEAKAGE DEFENSE</a:t>
            </a:r>
            <a:endParaRPr lang="en-US" sz="900" dirty="0"/>
          </a:p>
        </p:txBody>
      </p:sp>
      <p:sp>
        <p:nvSpPr>
          <p:cNvPr id="26" name="Text 24"/>
          <p:cNvSpPr/>
          <p:nvPr/>
        </p:nvSpPr>
        <p:spPr>
          <a:xfrm>
            <a:off x="1005840" y="5148072"/>
            <a:ext cx="10149840" cy="841248"/>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 Unifies PO, Warehouse Receipt, Invoice, and Contract Price Schedules simultaneously.</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Evaluates both quantity concordance and unit-price ceiling compliance.</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Produces exact cell coordinates {file, row, col, value} for audit defensibility.</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Result: Catches both the $1,000 quantity mismatch AND the $200 rate escalation.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ARCHITECTURAL FRICTION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8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Why Brittle ETL Pipelines Are the Wrong Solution</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Data movement creates lag, high costs, security exposure, and stale data.</a:t>
            </a:r>
            <a:endParaRPr lang="en-US" sz="1250" dirty="0"/>
          </a:p>
        </p:txBody>
      </p:sp>
      <p:sp>
        <p:nvSpPr>
          <p:cNvPr id="12" name="Shape 10"/>
          <p:cNvSpPr/>
          <p:nvPr/>
        </p:nvSpPr>
        <p:spPr>
          <a:xfrm>
            <a:off x="731520" y="1691640"/>
            <a:ext cx="5257800" cy="2148840"/>
          </a:xfrm>
          <a:prstGeom prst="roundRect">
            <a:avLst>
              <a:gd name="adj" fmla="val 5106"/>
            </a:avLst>
          </a:prstGeom>
          <a:solidFill>
            <a:srgbClr val="0B1120"/>
          </a:solidFill>
          <a:ln w="19050">
            <a:solidFill>
              <a:srgbClr val="F43F5E"/>
            </a:solidFill>
            <a:prstDash val="solid"/>
          </a:ln>
        </p:spPr>
      </p:sp>
      <p:sp>
        <p:nvSpPr>
          <p:cNvPr id="13" name="Text 11"/>
          <p:cNvSpPr/>
          <p:nvPr/>
        </p:nvSpPr>
        <p:spPr>
          <a:xfrm>
            <a:off x="914400" y="1874520"/>
            <a:ext cx="4892040" cy="320040"/>
          </a:xfrm>
          <a:prstGeom prst="rect">
            <a:avLst/>
          </a:prstGeom>
          <a:noFill/>
          <a:ln/>
        </p:spPr>
        <p:txBody>
          <a:bodyPr wrap="square" rtlCol="0" anchor="ctr"/>
          <a:lstStyle/>
          <a:p>
            <a:pPr indent="0" marL="0">
              <a:buNone/>
            </a:pPr>
            <a:r>
              <a:rPr lang="en-US" sz="1300" b="1" dirty="0">
                <a:solidFill>
                  <a:srgbClr val="F43F5E"/>
                </a:solidFill>
                <a:latin typeface="Calibri" pitchFamily="34" charset="0"/>
                <a:ea typeface="Calibri" pitchFamily="34" charset="-122"/>
                <a:cs typeface="Calibri" pitchFamily="34" charset="-120"/>
              </a:rPr>
              <a:t>1. Stale Data &amp; Batch Lag</a:t>
            </a:r>
            <a:endParaRPr lang="en-US" sz="1300" dirty="0"/>
          </a:p>
        </p:txBody>
      </p:sp>
      <p:sp>
        <p:nvSpPr>
          <p:cNvPr id="14" name="Text 12"/>
          <p:cNvSpPr/>
          <p:nvPr/>
        </p:nvSpPr>
        <p:spPr>
          <a:xfrm>
            <a:off x="914400" y="2286000"/>
            <a:ext cx="4892040" cy="137160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Nightly batch ETL transfers data with a 12-to-24 hour delay. AP invoices arriving today are evaluated against yesterday's warehouse status, resulting in missed disputes.</a:t>
            </a:r>
            <a:endParaRPr lang="en-US" sz="1100" dirty="0"/>
          </a:p>
        </p:txBody>
      </p:sp>
      <p:sp>
        <p:nvSpPr>
          <p:cNvPr id="15" name="Shape 13"/>
          <p:cNvSpPr/>
          <p:nvPr/>
        </p:nvSpPr>
        <p:spPr>
          <a:xfrm>
            <a:off x="6172200" y="1691640"/>
            <a:ext cx="5257800" cy="2148840"/>
          </a:xfrm>
          <a:prstGeom prst="roundRect">
            <a:avLst>
              <a:gd name="adj" fmla="val 5106"/>
            </a:avLst>
          </a:prstGeom>
          <a:solidFill>
            <a:srgbClr val="0B1120"/>
          </a:solidFill>
          <a:ln w="19050">
            <a:solidFill>
              <a:srgbClr val="F59E0B"/>
            </a:solidFill>
            <a:prstDash val="solid"/>
          </a:ln>
        </p:spPr>
      </p:sp>
      <p:sp>
        <p:nvSpPr>
          <p:cNvPr id="16" name="Text 14"/>
          <p:cNvSpPr/>
          <p:nvPr/>
        </p:nvSpPr>
        <p:spPr>
          <a:xfrm>
            <a:off x="6355080" y="1874520"/>
            <a:ext cx="4892040" cy="320040"/>
          </a:xfrm>
          <a:prstGeom prst="rect">
            <a:avLst/>
          </a:prstGeom>
          <a:noFill/>
          <a:ln/>
        </p:spPr>
        <p:txBody>
          <a:bodyPr wrap="square"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2. High Engineering Cost</a:t>
            </a:r>
            <a:endParaRPr lang="en-US" sz="1300" dirty="0"/>
          </a:p>
        </p:txBody>
      </p:sp>
      <p:sp>
        <p:nvSpPr>
          <p:cNvPr id="17" name="Text 15"/>
          <p:cNvSpPr/>
          <p:nvPr/>
        </p:nvSpPr>
        <p:spPr>
          <a:xfrm>
            <a:off x="6355080" y="2286000"/>
            <a:ext cx="4892040" cy="137160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Building custom data pipelines across SAP, Manhattan WMS, and Coupa requires specialized data engineers, costing upwards of $500,000 in upfront setup and maintenance.</a:t>
            </a:r>
            <a:endParaRPr lang="en-US" sz="1100" dirty="0"/>
          </a:p>
        </p:txBody>
      </p:sp>
      <p:sp>
        <p:nvSpPr>
          <p:cNvPr id="18" name="Shape 16"/>
          <p:cNvSpPr/>
          <p:nvPr/>
        </p:nvSpPr>
        <p:spPr>
          <a:xfrm>
            <a:off x="731520" y="3977640"/>
            <a:ext cx="5257800" cy="2148840"/>
          </a:xfrm>
          <a:prstGeom prst="roundRect">
            <a:avLst>
              <a:gd name="adj" fmla="val 5106"/>
            </a:avLst>
          </a:prstGeom>
          <a:solidFill>
            <a:srgbClr val="0B1120"/>
          </a:solidFill>
          <a:ln w="19050">
            <a:solidFill>
              <a:srgbClr val="A855F7"/>
            </a:solidFill>
            <a:prstDash val="solid"/>
          </a:ln>
        </p:spPr>
      </p:sp>
      <p:sp>
        <p:nvSpPr>
          <p:cNvPr id="19" name="Text 17"/>
          <p:cNvSpPr/>
          <p:nvPr/>
        </p:nvSpPr>
        <p:spPr>
          <a:xfrm>
            <a:off x="914400" y="4160520"/>
            <a:ext cx="4892040" cy="320040"/>
          </a:xfrm>
          <a:prstGeom prst="rect">
            <a:avLst/>
          </a:prstGeom>
          <a:noFill/>
          <a:ln/>
        </p:spPr>
        <p:txBody>
          <a:bodyPr wrap="square" rtlCol="0" anchor="ctr"/>
          <a:lstStyle/>
          <a:p>
            <a:pPr indent="0" marL="0">
              <a:buNone/>
            </a:pPr>
            <a:r>
              <a:rPr lang="en-US" sz="1300" b="1" dirty="0">
                <a:solidFill>
                  <a:srgbClr val="A855F7"/>
                </a:solidFill>
                <a:latin typeface="Calibri" pitchFamily="34" charset="0"/>
                <a:ea typeface="Calibri" pitchFamily="34" charset="-122"/>
                <a:cs typeface="Calibri" pitchFamily="34" charset="-120"/>
              </a:rPr>
              <a:t>3. Data Duplication &amp; Security</a:t>
            </a:r>
            <a:endParaRPr lang="en-US" sz="1300" dirty="0"/>
          </a:p>
        </p:txBody>
      </p:sp>
      <p:sp>
        <p:nvSpPr>
          <p:cNvPr id="20" name="Text 18"/>
          <p:cNvSpPr/>
          <p:nvPr/>
        </p:nvSpPr>
        <p:spPr>
          <a:xfrm>
            <a:off x="914400" y="4572000"/>
            <a:ext cx="4892040" cy="137160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Copying sensitive financial, banking, and supplier pricing records into a centralized staging bucket multiplies security attack surfaces and violates data residency rules.</a:t>
            </a:r>
            <a:endParaRPr lang="en-US" sz="1100" dirty="0"/>
          </a:p>
        </p:txBody>
      </p:sp>
      <p:sp>
        <p:nvSpPr>
          <p:cNvPr id="21" name="Shape 19"/>
          <p:cNvSpPr/>
          <p:nvPr/>
        </p:nvSpPr>
        <p:spPr>
          <a:xfrm>
            <a:off x="6172200" y="3977640"/>
            <a:ext cx="5257800" cy="2148840"/>
          </a:xfrm>
          <a:prstGeom prst="roundRect">
            <a:avLst>
              <a:gd name="adj" fmla="val 5106"/>
            </a:avLst>
          </a:prstGeom>
          <a:solidFill>
            <a:srgbClr val="0B1120"/>
          </a:solidFill>
          <a:ln w="19050">
            <a:solidFill>
              <a:srgbClr val="10B981"/>
            </a:solidFill>
            <a:prstDash val="solid"/>
          </a:ln>
        </p:spPr>
      </p:sp>
      <p:sp>
        <p:nvSpPr>
          <p:cNvPr id="22" name="Text 20"/>
          <p:cNvSpPr/>
          <p:nvPr/>
        </p:nvSpPr>
        <p:spPr>
          <a:xfrm>
            <a:off x="6355080" y="4160520"/>
            <a:ext cx="4892040" cy="320040"/>
          </a:xfrm>
          <a:prstGeom prst="rect">
            <a:avLst/>
          </a:prstGeom>
          <a:noFill/>
          <a:ln/>
        </p:spPr>
        <p:txBody>
          <a:bodyPr wrap="square" rtlCol="0" anchor="ctr"/>
          <a:lstStyle/>
          <a:p>
            <a:pPr indent="0" marL="0">
              <a:buNone/>
            </a:pPr>
            <a:r>
              <a:rPr lang="en-US" sz="1300" b="1" dirty="0">
                <a:solidFill>
                  <a:srgbClr val="10B981"/>
                </a:solidFill>
                <a:latin typeface="Calibri" pitchFamily="34" charset="0"/>
                <a:ea typeface="Calibri" pitchFamily="34" charset="-122"/>
                <a:cs typeface="Calibri" pitchFamily="34" charset="-120"/>
              </a:rPr>
              <a:t>4. The Zetaris Solution: Zero-ETL</a:t>
            </a:r>
            <a:endParaRPr lang="en-US" sz="1300" dirty="0"/>
          </a:p>
        </p:txBody>
      </p:sp>
      <p:sp>
        <p:nvSpPr>
          <p:cNvPr id="23" name="Text 21"/>
          <p:cNvSpPr/>
          <p:nvPr/>
        </p:nvSpPr>
        <p:spPr>
          <a:xfrm>
            <a:off x="6355080" y="4572000"/>
            <a:ext cx="4892040" cy="137160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Zetaris Data Virtualization queries data where it lives. Federated SQL queries join disparate databases in 12ms with zero data movement, zero latency, and zero replication cost.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OPERATIONAL FATIGUE</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9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Human Auditor Bottleneck &amp; Audit Sampling</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Human teams cannot keep pace with exponential procurement velocity.</a:t>
            </a:r>
            <a:endParaRPr lang="en-US" sz="1250" dirty="0"/>
          </a:p>
        </p:txBody>
      </p:sp>
      <p:sp>
        <p:nvSpPr>
          <p:cNvPr id="12" name="Shape 10"/>
          <p:cNvSpPr/>
          <p:nvPr/>
        </p:nvSpPr>
        <p:spPr>
          <a:xfrm>
            <a:off x="731520" y="1691640"/>
            <a:ext cx="5212080" cy="4526280"/>
          </a:xfrm>
          <a:prstGeom prst="roundRect">
            <a:avLst>
              <a:gd name="adj" fmla="val 3030"/>
            </a:avLst>
          </a:prstGeom>
          <a:solidFill>
            <a:srgbClr val="1C1917"/>
          </a:solidFill>
          <a:ln w="25400">
            <a:solidFill>
              <a:srgbClr val="F43F5E"/>
            </a:solidFill>
            <a:prstDash val="solid"/>
          </a:ln>
        </p:spPr>
      </p:sp>
      <p:sp>
        <p:nvSpPr>
          <p:cNvPr id="13" name="Text 11"/>
          <p:cNvSpPr/>
          <p:nvPr/>
        </p:nvSpPr>
        <p:spPr>
          <a:xfrm>
            <a:off x="1005840" y="1920240"/>
            <a:ext cx="4663440" cy="274320"/>
          </a:xfrm>
          <a:prstGeom prst="rect">
            <a:avLst/>
          </a:prstGeom>
          <a:noFill/>
          <a:ln/>
        </p:spPr>
        <p:txBody>
          <a:bodyPr wrap="square" rtlCol="0" anchor="ctr"/>
          <a:lstStyle/>
          <a:p>
            <a:pPr indent="0" marL="0">
              <a:buNone/>
            </a:pPr>
            <a:r>
              <a:rPr lang="en-US" sz="1100" b="1" dirty="0">
                <a:solidFill>
                  <a:srgbClr val="F43F5E"/>
                </a:solidFill>
                <a:latin typeface="Calibri" pitchFamily="34" charset="0"/>
                <a:ea typeface="Calibri" pitchFamily="34" charset="-122"/>
                <a:cs typeface="Calibri" pitchFamily="34" charset="-120"/>
              </a:rPr>
              <a:t>THE REALITY OF MANUAL AUDITS</a:t>
            </a:r>
            <a:endParaRPr lang="en-US" sz="1100" dirty="0"/>
          </a:p>
        </p:txBody>
      </p:sp>
      <p:sp>
        <p:nvSpPr>
          <p:cNvPr id="14" name="Text 12"/>
          <p:cNvSpPr/>
          <p:nvPr/>
        </p:nvSpPr>
        <p:spPr>
          <a:xfrm>
            <a:off x="10058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Human AP Auditing Is Structurally Flawed</a:t>
            </a:r>
            <a:endParaRPr lang="en-US" sz="1600" dirty="0"/>
          </a:p>
        </p:txBody>
      </p:sp>
      <p:sp>
        <p:nvSpPr>
          <p:cNvPr id="15" name="Text 13"/>
          <p:cNvSpPr/>
          <p:nvPr/>
        </p:nvSpPr>
        <p:spPr>
          <a:xfrm>
            <a:off x="1005840" y="2697480"/>
            <a:ext cx="4663440" cy="333756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 Cognitive Fatigue: Auditing 200 invoice line items across 4 PDFs requires cross-referencing dozens of tables. After 2 hours, auditor error rates surge past 40%.</a:t>
            </a:r>
            <a:endParaRPr lang="en-US" sz="1050" dirty="0"/>
          </a:p>
          <a:p>
            <a:pPr indent="0" marL="0">
              <a:buNone/>
            </a:pP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The 5% Sampling Trap: Internal auditors only inspect a 5% sample of cleared transactions. 95% of transactions are never scrutinized.</a:t>
            </a:r>
            <a:endParaRPr lang="en-US" sz="1050" dirty="0"/>
          </a:p>
          <a:p>
            <a:pPr indent="0" marL="0">
              <a:buNone/>
            </a:pP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Retroactive Recovery: Traditional recovery auditors take 6 to 18 months to find overcharges, taking a 25% to 35% contingency fee on recovered dollars.</a:t>
            </a:r>
            <a:endParaRPr lang="en-US" sz="1050" dirty="0"/>
          </a:p>
          <a:p>
            <a:pPr indent="0" marL="0">
              <a:buNone/>
            </a:pP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Supplier Relationship Strain: Late dispute notices issued 6 months after delivery cause vendor friction and delayed shipments.</a:t>
            </a:r>
            <a:endParaRPr lang="en-US" sz="1050" dirty="0"/>
          </a:p>
        </p:txBody>
      </p:sp>
      <p:sp>
        <p:nvSpPr>
          <p:cNvPr id="16" name="Shape 14"/>
          <p:cNvSpPr/>
          <p:nvPr/>
        </p:nvSpPr>
        <p:spPr>
          <a:xfrm>
            <a:off x="6217920" y="1691640"/>
            <a:ext cx="5212080" cy="4526280"/>
          </a:xfrm>
          <a:prstGeom prst="roundRect">
            <a:avLst>
              <a:gd name="adj" fmla="val 3030"/>
            </a:avLst>
          </a:prstGeom>
          <a:solidFill>
            <a:srgbClr val="0B1120"/>
          </a:solidFill>
          <a:ln w="25400">
            <a:solidFill>
              <a:srgbClr val="10B981"/>
            </a:solidFill>
            <a:prstDash val="solid"/>
          </a:ln>
        </p:spPr>
      </p:sp>
      <p:sp>
        <p:nvSpPr>
          <p:cNvPr id="17" name="Text 15"/>
          <p:cNvSpPr/>
          <p:nvPr/>
        </p:nvSpPr>
        <p:spPr>
          <a:xfrm>
            <a:off x="6492240" y="1920240"/>
            <a:ext cx="466344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THE TRACEBACK AI ADVANTAGE</a:t>
            </a:r>
            <a:endParaRPr lang="en-US" sz="1100" dirty="0"/>
          </a:p>
        </p:txBody>
      </p:sp>
      <p:sp>
        <p:nvSpPr>
          <p:cNvPr id="18" name="Text 16"/>
          <p:cNvSpPr/>
          <p:nvPr/>
        </p:nvSpPr>
        <p:spPr>
          <a:xfrm>
            <a:off x="64922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100% Census Audit in Real Time</a:t>
            </a:r>
            <a:endParaRPr lang="en-US" sz="1600" dirty="0"/>
          </a:p>
        </p:txBody>
      </p:sp>
      <p:sp>
        <p:nvSpPr>
          <p:cNvPr id="19" name="Text 17"/>
          <p:cNvSpPr/>
          <p:nvPr/>
        </p:nvSpPr>
        <p:spPr>
          <a:xfrm>
            <a:off x="6492240" y="2697480"/>
            <a:ext cx="4663440" cy="3337560"/>
          </a:xfrm>
          <a:prstGeom prst="rect">
            <a:avLst/>
          </a:prstGeom>
          <a:noFill/>
          <a:ln/>
        </p:spPr>
        <p:txBody>
          <a:bodyPr wrap="square" rtlCol="0" anchor="ctr"/>
          <a:lstStyle/>
          <a:p>
            <a:pPr indent="0" marL="0">
              <a:buNone/>
            </a:pPr>
            <a:r>
              <a:rPr lang="en-US" sz="1050" dirty="0">
                <a:solidFill>
                  <a:srgbClr val="F8FAFC"/>
                </a:solidFill>
                <a:latin typeface="Calibri" pitchFamily="34" charset="0"/>
                <a:ea typeface="Calibri" pitchFamily="34" charset="-122"/>
                <a:cs typeface="Calibri" pitchFamily="34" charset="-120"/>
              </a:rPr>
              <a:t>• 100% Census Coverage: Audits every single purchase order line item in 184ms before payments are released.</a:t>
            </a:r>
            <a:endParaRPr lang="en-US" sz="1050" dirty="0"/>
          </a:p>
          <a:p>
            <a:pPr indent="0" marL="0">
              <a:buNone/>
            </a:pPr>
            <a:endParaRPr lang="en-US" sz="1050" dirty="0"/>
          </a:p>
          <a:p>
            <a:pPr indent="0" marL="0">
              <a:buNone/>
            </a:pPr>
            <a:r>
              <a:rPr lang="en-US" sz="1050" dirty="0">
                <a:solidFill>
                  <a:srgbClr val="F8FAFC"/>
                </a:solidFill>
                <a:latin typeface="Calibri" pitchFamily="34" charset="0"/>
                <a:ea typeface="Calibri" pitchFamily="34" charset="-122"/>
                <a:cs typeface="Calibri" pitchFamily="34" charset="-120"/>
              </a:rPr>
              <a:t>• Zero Sampling Risk: No sample sizes, no blind spots, no extrapolation errors.</a:t>
            </a:r>
            <a:endParaRPr lang="en-US" sz="1050" dirty="0"/>
          </a:p>
          <a:p>
            <a:pPr indent="0" marL="0">
              <a:buNone/>
            </a:pPr>
            <a:endParaRPr lang="en-US" sz="1050" dirty="0"/>
          </a:p>
          <a:p>
            <a:pPr indent="0" marL="0">
              <a:buNone/>
            </a:pPr>
            <a:r>
              <a:rPr lang="en-US" sz="1050" dirty="0">
                <a:solidFill>
                  <a:srgbClr val="F8FAFC"/>
                </a:solidFill>
                <a:latin typeface="Calibri" pitchFamily="34" charset="0"/>
                <a:ea typeface="Calibri" pitchFamily="34" charset="-122"/>
                <a:cs typeface="Calibri" pitchFamily="34" charset="-120"/>
              </a:rPr>
              <a:t>• Pre-Payment Prevention: Flags discrepancies before money leaves the bank account, eliminating recovery fees entirely.</a:t>
            </a:r>
            <a:endParaRPr lang="en-US" sz="1050" dirty="0"/>
          </a:p>
          <a:p>
            <a:pPr indent="0" marL="0">
              <a:buNone/>
            </a:pPr>
            <a:endParaRPr lang="en-US" sz="1050" dirty="0"/>
          </a:p>
          <a:p>
            <a:pPr indent="0" marL="0">
              <a:buNone/>
            </a:pPr>
            <a:r>
              <a:rPr lang="en-US" sz="1050" dirty="0">
                <a:solidFill>
                  <a:srgbClr val="F8FAFC"/>
                </a:solidFill>
                <a:latin typeface="Calibri" pitchFamily="34" charset="0"/>
                <a:ea typeface="Calibri" pitchFamily="34" charset="-122"/>
                <a:cs typeface="Calibri" pitchFamily="34" charset="-120"/>
              </a:rPr>
              <a:t>• Instant Dispute Generation: Produces clear, professional dispute documentation citing exact dock notes within seconds of invoice arrival.</a:t>
            </a:r>
            <a:endParaRPr lang="en-US" sz="1050" dirty="0"/>
          </a:p>
          <a:p>
            <a:pPr indent="0" marL="0">
              <a:buNone/>
            </a:pPr>
            <a:endParaRPr lang="en-US" sz="1050" dirty="0"/>
          </a:p>
          <a:p>
            <a:pPr indent="0" marL="0">
              <a:buNone/>
            </a:pPr>
            <a:r>
              <a:rPr lang="en-US" sz="1050" dirty="0">
                <a:solidFill>
                  <a:srgbClr val="F8FAFC"/>
                </a:solidFill>
                <a:latin typeface="Calibri" pitchFamily="34" charset="0"/>
                <a:ea typeface="Calibri" pitchFamily="34" charset="-122"/>
                <a:cs typeface="Calibri" pitchFamily="34" charset="-120"/>
              </a:rPr>
              <a:t>• Auditor Empowerment: Human auditors transition from repetitive clerks into strategic exception approvers.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STAKEHOLDER MATRIX</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10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Executive Stakeholder Value Alignment</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How TraceBack AI aligns incentives across procurement, finance, and logistics.</a:t>
            </a:r>
            <a:endParaRPr lang="en-US" sz="1250" dirty="0"/>
          </a:p>
        </p:txBody>
      </p:sp>
      <p:sp>
        <p:nvSpPr>
          <p:cNvPr id="12" name="Shape 10"/>
          <p:cNvSpPr/>
          <p:nvPr/>
        </p:nvSpPr>
        <p:spPr>
          <a:xfrm>
            <a:off x="731520" y="1691640"/>
            <a:ext cx="10725912" cy="1051560"/>
          </a:xfrm>
          <a:prstGeom prst="roundRect">
            <a:avLst>
              <a:gd name="adj" fmla="val 8696"/>
            </a:avLst>
          </a:prstGeom>
          <a:solidFill>
            <a:srgbClr val="0B1120"/>
          </a:solidFill>
          <a:ln w="19050">
            <a:solidFill>
              <a:srgbClr val="38BDF8"/>
            </a:solidFill>
            <a:prstDash val="solid"/>
          </a:ln>
        </p:spPr>
      </p:sp>
      <p:sp>
        <p:nvSpPr>
          <p:cNvPr id="13" name="Text 11"/>
          <p:cNvSpPr/>
          <p:nvPr/>
        </p:nvSpPr>
        <p:spPr>
          <a:xfrm>
            <a:off x="1005840" y="1828800"/>
            <a:ext cx="292608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Chief Procurement Officer</a:t>
            </a:r>
            <a:endParaRPr lang="en-US" sz="1300" dirty="0"/>
          </a:p>
        </p:txBody>
      </p:sp>
      <p:sp>
        <p:nvSpPr>
          <p:cNvPr id="14" name="Text 12"/>
          <p:cNvSpPr/>
          <p:nvPr/>
        </p:nvSpPr>
        <p:spPr>
          <a:xfrm>
            <a:off x="1005840" y="2148840"/>
            <a:ext cx="2926080" cy="274320"/>
          </a:xfrm>
          <a:prstGeom prst="rect">
            <a:avLst/>
          </a:prstGeom>
          <a:noFill/>
          <a:ln/>
        </p:spPr>
        <p:txBody>
          <a:bodyPr wrap="square" rtlCol="0" anchor="ctr"/>
          <a:lstStyle/>
          <a:p>
            <a:pPr indent="0" marL="0">
              <a:buNone/>
            </a:pPr>
            <a:r>
              <a:rPr lang="en-US" sz="1000" dirty="0">
                <a:solidFill>
                  <a:srgbClr val="38BDF8"/>
                </a:solidFill>
                <a:latin typeface="Calibri" pitchFamily="34" charset="0"/>
                <a:ea typeface="Calibri" pitchFamily="34" charset="-122"/>
                <a:cs typeface="Calibri" pitchFamily="34" charset="-120"/>
              </a:rPr>
              <a:t>Contract Spend Compliance</a:t>
            </a:r>
            <a:endParaRPr lang="en-US" sz="1000" dirty="0"/>
          </a:p>
        </p:txBody>
      </p:sp>
      <p:sp>
        <p:nvSpPr>
          <p:cNvPr id="15" name="Shape 13"/>
          <p:cNvSpPr/>
          <p:nvPr/>
        </p:nvSpPr>
        <p:spPr>
          <a:xfrm>
            <a:off x="4114800" y="1920240"/>
            <a:ext cx="2011680" cy="411480"/>
          </a:xfrm>
          <a:prstGeom prst="roundRect">
            <a:avLst>
              <a:gd name="adj" fmla="val 17778"/>
            </a:avLst>
          </a:prstGeom>
          <a:solidFill>
            <a:srgbClr val="0F172A"/>
          </a:solidFill>
          <a:ln w="12700">
            <a:solidFill>
              <a:srgbClr val="38BDF8"/>
            </a:solidFill>
            <a:prstDash val="solid"/>
          </a:ln>
        </p:spPr>
      </p:sp>
      <p:sp>
        <p:nvSpPr>
          <p:cNvPr id="16" name="Text 14"/>
          <p:cNvSpPr/>
          <p:nvPr/>
        </p:nvSpPr>
        <p:spPr>
          <a:xfrm>
            <a:off x="4114800" y="1920240"/>
            <a:ext cx="2011680" cy="411480"/>
          </a:xfrm>
          <a:prstGeom prst="rect">
            <a:avLst/>
          </a:prstGeom>
          <a:noFill/>
          <a:ln/>
        </p:spPr>
        <p:txBody>
          <a:bodyPr wrap="square"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3.2% Spend Reduction</a:t>
            </a:r>
            <a:endParaRPr lang="en-US" sz="1100" dirty="0"/>
          </a:p>
        </p:txBody>
      </p:sp>
      <p:sp>
        <p:nvSpPr>
          <p:cNvPr id="17" name="Text 15"/>
          <p:cNvSpPr/>
          <p:nvPr/>
        </p:nvSpPr>
        <p:spPr>
          <a:xfrm>
            <a:off x="6400800" y="1874520"/>
            <a:ext cx="4754880" cy="68580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Automated contract ceiling enforcement &amp; supplier compliance scorecards.</a:t>
            </a:r>
            <a:endParaRPr lang="en-US" sz="1050" dirty="0"/>
          </a:p>
        </p:txBody>
      </p:sp>
      <p:sp>
        <p:nvSpPr>
          <p:cNvPr id="18" name="Shape 16"/>
          <p:cNvSpPr/>
          <p:nvPr/>
        </p:nvSpPr>
        <p:spPr>
          <a:xfrm>
            <a:off x="731520" y="2834640"/>
            <a:ext cx="10725912" cy="1051560"/>
          </a:xfrm>
          <a:prstGeom prst="roundRect">
            <a:avLst>
              <a:gd name="adj" fmla="val 8696"/>
            </a:avLst>
          </a:prstGeom>
          <a:solidFill>
            <a:srgbClr val="0B1120"/>
          </a:solidFill>
          <a:ln w="19050">
            <a:solidFill>
              <a:srgbClr val="10B981"/>
            </a:solidFill>
            <a:prstDash val="solid"/>
          </a:ln>
        </p:spPr>
      </p:sp>
      <p:sp>
        <p:nvSpPr>
          <p:cNvPr id="19" name="Text 17"/>
          <p:cNvSpPr/>
          <p:nvPr/>
        </p:nvSpPr>
        <p:spPr>
          <a:xfrm>
            <a:off x="1005840" y="2971800"/>
            <a:ext cx="292608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Lead Financial Auditor</a:t>
            </a:r>
            <a:endParaRPr lang="en-US" sz="1300" dirty="0"/>
          </a:p>
        </p:txBody>
      </p:sp>
      <p:sp>
        <p:nvSpPr>
          <p:cNvPr id="20" name="Text 18"/>
          <p:cNvSpPr/>
          <p:nvPr/>
        </p:nvSpPr>
        <p:spPr>
          <a:xfrm>
            <a:off x="1005840" y="3291840"/>
            <a:ext cx="2926080" cy="274320"/>
          </a:xfrm>
          <a:prstGeom prst="rect">
            <a:avLst/>
          </a:prstGeom>
          <a:noFill/>
          <a:ln/>
        </p:spPr>
        <p:txBody>
          <a:bodyPr wrap="square" rtlCol="0" anchor="ctr"/>
          <a:lstStyle/>
          <a:p>
            <a:pPr indent="0" marL="0">
              <a:buNone/>
            </a:pPr>
            <a:r>
              <a:rPr lang="en-US" sz="1000" dirty="0">
                <a:solidFill>
                  <a:srgbClr val="10B981"/>
                </a:solidFill>
                <a:latin typeface="Calibri" pitchFamily="34" charset="0"/>
                <a:ea typeface="Calibri" pitchFamily="34" charset="-122"/>
                <a:cs typeface="Calibri" pitchFamily="34" charset="-120"/>
              </a:rPr>
              <a:t>SOX Controls &amp; Defensibility</a:t>
            </a:r>
            <a:endParaRPr lang="en-US" sz="1000" dirty="0"/>
          </a:p>
        </p:txBody>
      </p:sp>
      <p:sp>
        <p:nvSpPr>
          <p:cNvPr id="21" name="Shape 19"/>
          <p:cNvSpPr/>
          <p:nvPr/>
        </p:nvSpPr>
        <p:spPr>
          <a:xfrm>
            <a:off x="4114800" y="3063240"/>
            <a:ext cx="2011680" cy="411480"/>
          </a:xfrm>
          <a:prstGeom prst="roundRect">
            <a:avLst>
              <a:gd name="adj" fmla="val 17778"/>
            </a:avLst>
          </a:prstGeom>
          <a:solidFill>
            <a:srgbClr val="0F172A"/>
          </a:solidFill>
          <a:ln w="12700">
            <a:solidFill>
              <a:srgbClr val="10B981"/>
            </a:solidFill>
            <a:prstDash val="solid"/>
          </a:ln>
        </p:spPr>
      </p:sp>
      <p:sp>
        <p:nvSpPr>
          <p:cNvPr id="22" name="Text 20"/>
          <p:cNvSpPr/>
          <p:nvPr/>
        </p:nvSpPr>
        <p:spPr>
          <a:xfrm>
            <a:off x="4114800" y="3063240"/>
            <a:ext cx="2011680" cy="411480"/>
          </a:xfrm>
          <a:prstGeom prst="rect">
            <a:avLst/>
          </a:prstGeom>
          <a:noFill/>
          <a:ln/>
        </p:spPr>
        <p:txBody>
          <a:bodyPr wrap="square" rtlCol="0" anchor="ctr"/>
          <a:lstStyle/>
          <a:p>
            <a:pPr algn="ctr" indent="0" marL="0">
              <a:buNone/>
            </a:pPr>
            <a:r>
              <a:rPr lang="en-US" sz="1100" b="1" dirty="0">
                <a:solidFill>
                  <a:srgbClr val="10B981"/>
                </a:solidFill>
                <a:latin typeface="Calibri" pitchFamily="34" charset="0"/>
                <a:ea typeface="Calibri" pitchFamily="34" charset="-122"/>
                <a:cs typeface="Calibri" pitchFamily="34" charset="-120"/>
              </a:rPr>
              <a:t>100% Audit Coverage</a:t>
            </a:r>
            <a:endParaRPr lang="en-US" sz="1100" dirty="0"/>
          </a:p>
        </p:txBody>
      </p:sp>
      <p:sp>
        <p:nvSpPr>
          <p:cNvPr id="23" name="Text 21"/>
          <p:cNvSpPr/>
          <p:nvPr/>
        </p:nvSpPr>
        <p:spPr>
          <a:xfrm>
            <a:off x="6400800" y="3017520"/>
            <a:ext cx="4754880" cy="68580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Deterministic cell-level proof eliminating sample-based audit risk.</a:t>
            </a:r>
            <a:endParaRPr lang="en-US" sz="1050" dirty="0"/>
          </a:p>
        </p:txBody>
      </p:sp>
      <p:sp>
        <p:nvSpPr>
          <p:cNvPr id="24" name="Shape 22"/>
          <p:cNvSpPr/>
          <p:nvPr/>
        </p:nvSpPr>
        <p:spPr>
          <a:xfrm>
            <a:off x="731520" y="3977640"/>
            <a:ext cx="10725912" cy="1051560"/>
          </a:xfrm>
          <a:prstGeom prst="roundRect">
            <a:avLst>
              <a:gd name="adj" fmla="val 8696"/>
            </a:avLst>
          </a:prstGeom>
          <a:solidFill>
            <a:srgbClr val="0B1120"/>
          </a:solidFill>
          <a:ln w="19050">
            <a:solidFill>
              <a:srgbClr val="F59E0B"/>
            </a:solidFill>
            <a:prstDash val="solid"/>
          </a:ln>
        </p:spPr>
      </p:sp>
      <p:sp>
        <p:nvSpPr>
          <p:cNvPr id="25" name="Text 23"/>
          <p:cNvSpPr/>
          <p:nvPr/>
        </p:nvSpPr>
        <p:spPr>
          <a:xfrm>
            <a:off x="1005840" y="4114800"/>
            <a:ext cx="292608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Accounts Payable Controller</a:t>
            </a:r>
            <a:endParaRPr lang="en-US" sz="1300" dirty="0"/>
          </a:p>
        </p:txBody>
      </p:sp>
      <p:sp>
        <p:nvSpPr>
          <p:cNvPr id="26" name="Text 24"/>
          <p:cNvSpPr/>
          <p:nvPr/>
        </p:nvSpPr>
        <p:spPr>
          <a:xfrm>
            <a:off x="1005840" y="4434840"/>
            <a:ext cx="2926080" cy="274320"/>
          </a:xfrm>
          <a:prstGeom prst="rect">
            <a:avLst/>
          </a:prstGeom>
          <a:noFill/>
          <a:ln/>
        </p:spPr>
        <p:txBody>
          <a:bodyPr wrap="square" rtlCol="0" anchor="ctr"/>
          <a:lstStyle/>
          <a:p>
            <a:pPr indent="0" marL="0">
              <a:buNone/>
            </a:pPr>
            <a:r>
              <a:rPr lang="en-US" sz="1000" dirty="0">
                <a:solidFill>
                  <a:srgbClr val="F59E0B"/>
                </a:solidFill>
                <a:latin typeface="Calibri" pitchFamily="34" charset="0"/>
                <a:ea typeface="Calibri" pitchFamily="34" charset="-122"/>
                <a:cs typeface="Calibri" pitchFamily="34" charset="-120"/>
              </a:rPr>
              <a:t>Operational Throughput</a:t>
            </a:r>
            <a:endParaRPr lang="en-US" sz="1000" dirty="0"/>
          </a:p>
        </p:txBody>
      </p:sp>
      <p:sp>
        <p:nvSpPr>
          <p:cNvPr id="27" name="Shape 25"/>
          <p:cNvSpPr/>
          <p:nvPr/>
        </p:nvSpPr>
        <p:spPr>
          <a:xfrm>
            <a:off x="4114800" y="4206240"/>
            <a:ext cx="2011680" cy="411480"/>
          </a:xfrm>
          <a:prstGeom prst="roundRect">
            <a:avLst>
              <a:gd name="adj" fmla="val 17778"/>
            </a:avLst>
          </a:prstGeom>
          <a:solidFill>
            <a:srgbClr val="0F172A"/>
          </a:solidFill>
          <a:ln w="12700">
            <a:solidFill>
              <a:srgbClr val="F59E0B"/>
            </a:solidFill>
            <a:prstDash val="solid"/>
          </a:ln>
        </p:spPr>
      </p:sp>
      <p:sp>
        <p:nvSpPr>
          <p:cNvPr id="28" name="Text 26"/>
          <p:cNvSpPr/>
          <p:nvPr/>
        </p:nvSpPr>
        <p:spPr>
          <a:xfrm>
            <a:off x="4114800" y="4206240"/>
            <a:ext cx="2011680" cy="411480"/>
          </a:xfrm>
          <a:prstGeom prst="rect">
            <a:avLst/>
          </a:prstGeom>
          <a:noFill/>
          <a:ln/>
        </p:spPr>
        <p:txBody>
          <a:bodyPr wrap="square" rtlCol="0" anchor="ctr"/>
          <a:lstStyle/>
          <a:p>
            <a:pPr algn="ctr" indent="0" marL="0">
              <a:buNone/>
            </a:pPr>
            <a:r>
              <a:rPr lang="en-US" sz="1100" b="1" dirty="0">
                <a:solidFill>
                  <a:srgbClr val="F59E0B"/>
                </a:solidFill>
                <a:latin typeface="Calibri" pitchFamily="34" charset="0"/>
                <a:ea typeface="Calibri" pitchFamily="34" charset="-122"/>
                <a:cs typeface="Calibri" pitchFamily="34" charset="-120"/>
              </a:rPr>
              <a:t>80% Manual Effort Cut</a:t>
            </a:r>
            <a:endParaRPr lang="en-US" sz="1100" dirty="0"/>
          </a:p>
        </p:txBody>
      </p:sp>
      <p:sp>
        <p:nvSpPr>
          <p:cNvPr id="29" name="Text 27"/>
          <p:cNvSpPr/>
          <p:nvPr/>
        </p:nvSpPr>
        <p:spPr>
          <a:xfrm>
            <a:off x="6400800" y="4160520"/>
            <a:ext cx="4754880" cy="68580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Pre-payment automated dispute packets; elimination of invoice backlogs.</a:t>
            </a:r>
            <a:endParaRPr lang="en-US" sz="1050" dirty="0"/>
          </a:p>
        </p:txBody>
      </p:sp>
      <p:sp>
        <p:nvSpPr>
          <p:cNvPr id="30" name="Shape 28"/>
          <p:cNvSpPr/>
          <p:nvPr/>
        </p:nvSpPr>
        <p:spPr>
          <a:xfrm>
            <a:off x="731520" y="5120640"/>
            <a:ext cx="10725912" cy="1051560"/>
          </a:xfrm>
          <a:prstGeom prst="roundRect">
            <a:avLst>
              <a:gd name="adj" fmla="val 8696"/>
            </a:avLst>
          </a:prstGeom>
          <a:solidFill>
            <a:srgbClr val="0B1120"/>
          </a:solidFill>
          <a:ln w="19050">
            <a:solidFill>
              <a:srgbClr val="A855F7"/>
            </a:solidFill>
            <a:prstDash val="solid"/>
          </a:ln>
        </p:spPr>
      </p:sp>
      <p:sp>
        <p:nvSpPr>
          <p:cNvPr id="31" name="Text 29"/>
          <p:cNvSpPr/>
          <p:nvPr/>
        </p:nvSpPr>
        <p:spPr>
          <a:xfrm>
            <a:off x="1005840" y="5257800"/>
            <a:ext cx="292608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Supply Chain Operations VP</a:t>
            </a:r>
            <a:endParaRPr lang="en-US" sz="1300" dirty="0"/>
          </a:p>
        </p:txBody>
      </p:sp>
      <p:sp>
        <p:nvSpPr>
          <p:cNvPr id="32" name="Text 30"/>
          <p:cNvSpPr/>
          <p:nvPr/>
        </p:nvSpPr>
        <p:spPr>
          <a:xfrm>
            <a:off x="1005840" y="5577840"/>
            <a:ext cx="2926080" cy="274320"/>
          </a:xfrm>
          <a:prstGeom prst="rect">
            <a:avLst/>
          </a:prstGeom>
          <a:noFill/>
          <a:ln/>
        </p:spPr>
        <p:txBody>
          <a:bodyPr wrap="square" rtlCol="0" anchor="ctr"/>
          <a:lstStyle/>
          <a:p>
            <a:pPr indent="0" marL="0">
              <a:buNone/>
            </a:pPr>
            <a:r>
              <a:rPr lang="en-US" sz="1000" dirty="0">
                <a:solidFill>
                  <a:srgbClr val="A855F7"/>
                </a:solidFill>
                <a:latin typeface="Calibri" pitchFamily="34" charset="0"/>
                <a:ea typeface="Calibri" pitchFamily="34" charset="-122"/>
                <a:cs typeface="Calibri" pitchFamily="34" charset="-120"/>
              </a:rPr>
              <a:t>Receiving Dock Integrity</a:t>
            </a:r>
            <a:endParaRPr lang="en-US" sz="1000" dirty="0"/>
          </a:p>
        </p:txBody>
      </p:sp>
      <p:sp>
        <p:nvSpPr>
          <p:cNvPr id="33" name="Shape 31"/>
          <p:cNvSpPr/>
          <p:nvPr/>
        </p:nvSpPr>
        <p:spPr>
          <a:xfrm>
            <a:off x="4114800" y="5349240"/>
            <a:ext cx="2011680" cy="411480"/>
          </a:xfrm>
          <a:prstGeom prst="roundRect">
            <a:avLst>
              <a:gd name="adj" fmla="val 17778"/>
            </a:avLst>
          </a:prstGeom>
          <a:solidFill>
            <a:srgbClr val="0F172A"/>
          </a:solidFill>
          <a:ln w="12700">
            <a:solidFill>
              <a:srgbClr val="A855F7"/>
            </a:solidFill>
            <a:prstDash val="solid"/>
          </a:ln>
        </p:spPr>
      </p:sp>
      <p:sp>
        <p:nvSpPr>
          <p:cNvPr id="34" name="Text 32"/>
          <p:cNvSpPr/>
          <p:nvPr/>
        </p:nvSpPr>
        <p:spPr>
          <a:xfrm>
            <a:off x="4114800" y="5349240"/>
            <a:ext cx="2011680" cy="411480"/>
          </a:xfrm>
          <a:prstGeom prst="rect">
            <a:avLst/>
          </a:prstGeom>
          <a:noFill/>
          <a:ln/>
        </p:spPr>
        <p:txBody>
          <a:bodyPr wrap="square" rtlCol="0" anchor="ctr"/>
          <a:lstStyle/>
          <a:p>
            <a:pPr algn="ctr" indent="0" marL="0">
              <a:buNone/>
            </a:pPr>
            <a:r>
              <a:rPr lang="en-US" sz="1100" b="1" dirty="0">
                <a:solidFill>
                  <a:srgbClr val="A855F7"/>
                </a:solidFill>
                <a:latin typeface="Calibri" pitchFamily="34" charset="0"/>
                <a:ea typeface="Calibri" pitchFamily="34" charset="-122"/>
                <a:cs typeface="Calibri" pitchFamily="34" charset="-120"/>
              </a:rPr>
              <a:t>Zero Dock Leakage</a:t>
            </a:r>
            <a:endParaRPr lang="en-US" sz="1100" dirty="0"/>
          </a:p>
        </p:txBody>
      </p:sp>
      <p:sp>
        <p:nvSpPr>
          <p:cNvPr id="35" name="Text 33"/>
          <p:cNvSpPr/>
          <p:nvPr/>
        </p:nvSpPr>
        <p:spPr>
          <a:xfrm>
            <a:off x="6400800" y="5303520"/>
            <a:ext cx="4754880" cy="68580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Instant dock receipt synchronization ensuring only accepted goods are billed.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PERSONA DEEP-DIVE</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11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Persona 1: Chief Procurement Officer (CPO)</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Strategic sourcing, supplier rate enforcement, and commercial discipline.</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38BDF8"/>
            </a:solidFill>
            <a:prstDash val="solid"/>
          </a:ln>
        </p:spPr>
      </p:sp>
      <p:sp>
        <p:nvSpPr>
          <p:cNvPr id="13" name="Text 11"/>
          <p:cNvSpPr/>
          <p:nvPr/>
        </p:nvSpPr>
        <p:spPr>
          <a:xfrm>
            <a:off x="1005840" y="1920240"/>
            <a:ext cx="466344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CPO STRATEGIC OBJECTIVES</a:t>
            </a:r>
            <a:endParaRPr lang="en-US" sz="1100" dirty="0"/>
          </a:p>
        </p:txBody>
      </p:sp>
      <p:sp>
        <p:nvSpPr>
          <p:cNvPr id="14" name="Text 12"/>
          <p:cNvSpPr/>
          <p:nvPr/>
        </p:nvSpPr>
        <p:spPr>
          <a:xfrm>
            <a:off x="10058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Defending Negotiated Contract Terms</a:t>
            </a:r>
            <a:endParaRPr lang="en-US" sz="1600" dirty="0"/>
          </a:p>
        </p:txBody>
      </p:sp>
      <p:sp>
        <p:nvSpPr>
          <p:cNvPr id="15" name="Text 13"/>
          <p:cNvSpPr/>
          <p:nvPr/>
        </p:nvSpPr>
        <p:spPr>
          <a:xfrm>
            <a:off x="1005840" y="2697480"/>
            <a:ext cx="4663440" cy="33375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Sourcing teams spend months negotiating 5% to 8% contract discounts, only to have suppliers quietly bill uncontracted list prices.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Lack of real-time visibility prevents procurement from holding suppliers accountable during quarterly business reviews (QBRs).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Supplier performance scorecards are based on subjective surveys rather than factual dispute histories.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38BDF8"/>
            </a:solidFill>
            <a:prstDash val="solid"/>
          </a:ln>
        </p:spPr>
      </p:sp>
      <p:sp>
        <p:nvSpPr>
          <p:cNvPr id="17" name="Text 15"/>
          <p:cNvSpPr/>
          <p:nvPr/>
        </p:nvSpPr>
        <p:spPr>
          <a:xfrm>
            <a:off x="6492240" y="1920240"/>
            <a:ext cx="466344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TRACEBACK AI DELIVERABLES FOR CPOs</a:t>
            </a:r>
            <a:endParaRPr lang="en-US" sz="1100" dirty="0"/>
          </a:p>
        </p:txBody>
      </p:sp>
      <p:sp>
        <p:nvSpPr>
          <p:cNvPr id="18" name="Text 16"/>
          <p:cNvSpPr/>
          <p:nvPr/>
        </p:nvSpPr>
        <p:spPr>
          <a:xfrm>
            <a:off x="64922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Automated Contract Enforcement</a:t>
            </a:r>
            <a:endParaRPr lang="en-US" sz="1600" dirty="0"/>
          </a:p>
        </p:txBody>
      </p:sp>
      <p:sp>
        <p:nvSpPr>
          <p:cNvPr id="19" name="Text 17"/>
          <p:cNvSpPr/>
          <p:nvPr/>
        </p:nvSpPr>
        <p:spPr>
          <a:xfrm>
            <a:off x="6492240" y="2697480"/>
            <a:ext cx="4663440" cy="3337560"/>
          </a:xfrm>
          <a:prstGeom prst="rect">
            <a:avLst/>
          </a:prstGeom>
          <a:noFill/>
          <a:ln/>
        </p:spPr>
        <p:txBody>
          <a:bodyPr wrap="square" rtlCol="0" anchor="ctr"/>
          <a:lstStyle/>
          <a:p>
            <a:pPr indent="0" marL="0">
              <a:buNone/>
            </a:pPr>
            <a:r>
              <a:rPr lang="en-US" sz="1100" dirty="0">
                <a:solidFill>
                  <a:srgbClr val="F8FAFC"/>
                </a:solidFill>
                <a:latin typeface="Calibri" pitchFamily="34" charset="0"/>
                <a:ea typeface="Calibri" pitchFamily="34" charset="-122"/>
                <a:cs typeface="Calibri" pitchFamily="34" charset="-120"/>
              </a:rPr>
              <a:t>• 100% Rate Schedule Adherence: Flags every line item exceeding master contract price caps in real time.</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Empirical Supplier Scorecards: Tracks dispute frequency, quantity variance rates, and pricing compliance by vendor.</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Sourcing Leverage: Provides hard data during contract renewals, transforming anecdotal complaints into verifiable leverage.</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Projected Impact: Recovers 1.5% to 3.2% of total addressable procurement spend directly to company operating margins.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PERSONA DEEP-DIVE</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12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Persona 2: Lead Financial Auditor &amp; Controller</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Sarbanes-Oxley compliance, internal controls, and audit defensibility.</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10B981"/>
            </a:solidFill>
            <a:prstDash val="solid"/>
          </a:ln>
        </p:spPr>
      </p:sp>
      <p:sp>
        <p:nvSpPr>
          <p:cNvPr id="13" name="Text 11"/>
          <p:cNvSpPr/>
          <p:nvPr/>
        </p:nvSpPr>
        <p:spPr>
          <a:xfrm>
            <a:off x="1005840" y="1920240"/>
            <a:ext cx="466344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AUDIT &amp; CONTROL CHALLENGES</a:t>
            </a:r>
            <a:endParaRPr lang="en-US" sz="1100" dirty="0"/>
          </a:p>
        </p:txBody>
      </p:sp>
      <p:sp>
        <p:nvSpPr>
          <p:cNvPr id="14" name="Text 12"/>
          <p:cNvSpPr/>
          <p:nvPr/>
        </p:nvSpPr>
        <p:spPr>
          <a:xfrm>
            <a:off x="10058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High Risk of Sample-Based Auditing</a:t>
            </a:r>
            <a:endParaRPr lang="en-US" sz="1600" dirty="0"/>
          </a:p>
        </p:txBody>
      </p:sp>
      <p:sp>
        <p:nvSpPr>
          <p:cNvPr id="15" name="Text 13"/>
          <p:cNvSpPr/>
          <p:nvPr/>
        </p:nvSpPr>
        <p:spPr>
          <a:xfrm>
            <a:off x="1005840" y="2697480"/>
            <a:ext cx="4663440" cy="33375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SOX 404 Compliance Burden: Internal audit teams must verify internal controls over financial reporting without full visibility.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Hallucination &amp; Risk in Generic AI: LLMs that guess or hallucinate financial numbers cannot be used in formal accounting work.</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Lack of Provenance: When auditors challenge a vendor, they need the exact document coordinates, row numbers, and contract clause numbers.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10B981"/>
            </a:solidFill>
            <a:prstDash val="solid"/>
          </a:ln>
        </p:spPr>
      </p:sp>
      <p:sp>
        <p:nvSpPr>
          <p:cNvPr id="17" name="Text 15"/>
          <p:cNvSpPr/>
          <p:nvPr/>
        </p:nvSpPr>
        <p:spPr>
          <a:xfrm>
            <a:off x="6492240" y="1920240"/>
            <a:ext cx="466344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TRACEBACK AI DELIVERABLES FOR AUDITORS</a:t>
            </a:r>
            <a:endParaRPr lang="en-US" sz="1100" dirty="0"/>
          </a:p>
        </p:txBody>
      </p:sp>
      <p:sp>
        <p:nvSpPr>
          <p:cNvPr id="18" name="Text 16"/>
          <p:cNvSpPr/>
          <p:nvPr/>
        </p:nvSpPr>
        <p:spPr>
          <a:xfrm>
            <a:off x="64922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Deterministic Proof &amp; Zero Hallucination</a:t>
            </a:r>
            <a:endParaRPr lang="en-US" sz="1600" dirty="0"/>
          </a:p>
        </p:txBody>
      </p:sp>
      <p:sp>
        <p:nvSpPr>
          <p:cNvPr id="19" name="Text 17"/>
          <p:cNvSpPr/>
          <p:nvPr/>
        </p:nvSpPr>
        <p:spPr>
          <a:xfrm>
            <a:off x="6492240" y="2697480"/>
            <a:ext cx="4663440" cy="3337560"/>
          </a:xfrm>
          <a:prstGeom prst="rect">
            <a:avLst/>
          </a:prstGeom>
          <a:noFill/>
          <a:ln/>
        </p:spPr>
        <p:txBody>
          <a:bodyPr wrap="square" rtlCol="0" anchor="ctr"/>
          <a:lstStyle/>
          <a:p>
            <a:pPr indent="0" marL="0">
              <a:buNone/>
            </a:pPr>
            <a:r>
              <a:rPr lang="en-US" sz="1100" dirty="0">
                <a:solidFill>
                  <a:srgbClr val="F8FAFC"/>
                </a:solidFill>
                <a:latin typeface="Calibri" pitchFamily="34" charset="0"/>
                <a:ea typeface="Calibri" pitchFamily="34" charset="-122"/>
                <a:cs typeface="Calibri" pitchFamily="34" charset="-120"/>
              </a:rPr>
              <a:t>• Immutable Cell Coordinates: Every financial claim cites {file, row, column, value} with absolute precision.</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Deterministic Corroboration: Variances are calculated via exact mathematics, not statistical approximations.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Audit Defensibility Certificate: Generates cryptographic, timestamped audit certificates verifying reconciliation integrity.</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Complete Census Audit: Eliminates sampling risk by validating 100% of purchase orders in sub-second cycles.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PERSONA DEEP-DIVE</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13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Personas 3 &amp; 4: AP Operations &amp; Supply Chain Leads</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Operational efficiency, automated disputes, and receiving dock synchronization.</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F59E0B"/>
            </a:solidFill>
            <a:prstDash val="solid"/>
          </a:ln>
        </p:spPr>
      </p:sp>
      <p:sp>
        <p:nvSpPr>
          <p:cNvPr id="13" name="Text 11"/>
          <p:cNvSpPr/>
          <p:nvPr/>
        </p:nvSpPr>
        <p:spPr>
          <a:xfrm>
            <a:off x="1005840" y="1920240"/>
            <a:ext cx="4663440" cy="27432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ACCOUNTS PAYABLE CONTROLLER</a:t>
            </a:r>
            <a:endParaRPr lang="en-US" sz="1100" dirty="0"/>
          </a:p>
        </p:txBody>
      </p:sp>
      <p:sp>
        <p:nvSpPr>
          <p:cNvPr id="14" name="Text 12"/>
          <p:cNvSpPr/>
          <p:nvPr/>
        </p:nvSpPr>
        <p:spPr>
          <a:xfrm>
            <a:off x="10058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Eliminating Invoice Friction &amp; Backlogs</a:t>
            </a:r>
            <a:endParaRPr lang="en-US" sz="1600" dirty="0"/>
          </a:p>
        </p:txBody>
      </p:sp>
      <p:sp>
        <p:nvSpPr>
          <p:cNvPr id="15" name="Text 13"/>
          <p:cNvSpPr/>
          <p:nvPr/>
        </p:nvSpPr>
        <p:spPr>
          <a:xfrm>
            <a:off x="1005840" y="2697480"/>
            <a:ext cx="4663440" cy="33375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Pre-Payment Flagging: Alerts AP before disbursements occur, eliminating tedious post-payment recovery.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Automated Dispute Drafting: Synthesizes professional, itemized dispute emails citing delivery notes and contract clauses.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80% Reduction in Manual Verification: Routine clean invoices (PO-1002) are auto-cleared in milliseconds.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Better Supplier Relations: Objective, cell-referenced dispute documentation eliminates subjective vendor arguments.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A855F7"/>
            </a:solidFill>
            <a:prstDash val="solid"/>
          </a:ln>
        </p:spPr>
      </p:sp>
      <p:sp>
        <p:nvSpPr>
          <p:cNvPr id="17" name="Text 15"/>
          <p:cNvSpPr/>
          <p:nvPr/>
        </p:nvSpPr>
        <p:spPr>
          <a:xfrm>
            <a:off x="6492240" y="1920240"/>
            <a:ext cx="4663440" cy="274320"/>
          </a:xfrm>
          <a:prstGeom prst="rect">
            <a:avLst/>
          </a:prstGeom>
          <a:noFill/>
          <a:ln/>
        </p:spPr>
        <p:txBody>
          <a:bodyPr wrap="square" rtlCol="0" anchor="ctr"/>
          <a:lstStyle/>
          <a:p>
            <a:pPr indent="0" marL="0">
              <a:buNone/>
            </a:pPr>
            <a:r>
              <a:rPr lang="en-US" sz="1100" b="1" dirty="0">
                <a:solidFill>
                  <a:srgbClr val="A855F7"/>
                </a:solidFill>
                <a:latin typeface="Calibri" pitchFamily="34" charset="0"/>
                <a:ea typeface="Calibri" pitchFamily="34" charset="-122"/>
                <a:cs typeface="Calibri" pitchFamily="34" charset="-120"/>
              </a:rPr>
              <a:t>SUPPLY CHAIN OPERATIONS VP</a:t>
            </a:r>
            <a:endParaRPr lang="en-US" sz="1100" dirty="0"/>
          </a:p>
        </p:txBody>
      </p:sp>
      <p:sp>
        <p:nvSpPr>
          <p:cNvPr id="18" name="Text 16"/>
          <p:cNvSpPr/>
          <p:nvPr/>
        </p:nvSpPr>
        <p:spPr>
          <a:xfrm>
            <a:off x="64922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Dock Receipt Integrity &amp; Inventory Sync</a:t>
            </a:r>
            <a:endParaRPr lang="en-US" sz="1600" dirty="0"/>
          </a:p>
        </p:txBody>
      </p:sp>
      <p:sp>
        <p:nvSpPr>
          <p:cNvPr id="19" name="Text 17"/>
          <p:cNvSpPr/>
          <p:nvPr/>
        </p:nvSpPr>
        <p:spPr>
          <a:xfrm>
            <a:off x="6492240" y="2697480"/>
            <a:ext cx="4663440" cy="3337560"/>
          </a:xfrm>
          <a:prstGeom prst="rect">
            <a:avLst/>
          </a:prstGeom>
          <a:noFill/>
          <a:ln/>
        </p:spPr>
        <p:txBody>
          <a:bodyPr wrap="square" rtlCol="0" anchor="ctr"/>
          <a:lstStyle/>
          <a:p>
            <a:pPr indent="0" marL="0">
              <a:buNone/>
            </a:pPr>
            <a:r>
              <a:rPr lang="en-US" sz="1100" dirty="0">
                <a:solidFill>
                  <a:srgbClr val="F8FAFC"/>
                </a:solidFill>
                <a:latin typeface="Calibri" pitchFamily="34" charset="0"/>
                <a:ea typeface="Calibri" pitchFamily="34" charset="-122"/>
                <a:cs typeface="Calibri" pitchFamily="34" charset="-120"/>
              </a:rPr>
              <a:t>• Physical Dock Alignment: Ensures warehouse dock note DN-045 strictly determines financial liability.</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Damaged Goods Accounting: Damaged or rejected cartons logged at the receiving bay are never accidentally paid for.</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Cross-Dock Traceability: Immediate visibility into vendor shipment accuracy and delivery reliability.</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Closed-Loop Logistics: Closes the communication gap between warehouse dock workers and finance disbursements.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SOLUTION ARCHITECTURE</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14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TraceBack AI: Autonomous 4-Way Reconciliation</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High-speed deterministic multi-agent auditing with zero ETL pipelines.</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19050">
            <a:solidFill>
              <a:srgbClr val="6366F1"/>
            </a:solidFill>
            <a:prstDash val="solid"/>
          </a:ln>
        </p:spPr>
      </p:sp>
      <p:sp>
        <p:nvSpPr>
          <p:cNvPr id="13" name="Shape 11"/>
          <p:cNvSpPr/>
          <p:nvPr/>
        </p:nvSpPr>
        <p:spPr>
          <a:xfrm>
            <a:off x="1005840" y="1920240"/>
            <a:ext cx="2423160" cy="4069080"/>
          </a:xfrm>
          <a:prstGeom prst="roundRect">
            <a:avLst>
              <a:gd name="adj" fmla="val 3774"/>
            </a:avLst>
          </a:prstGeom>
          <a:solidFill>
            <a:srgbClr val="0F172A"/>
          </a:solidFill>
          <a:ln w="19050">
            <a:solidFill>
              <a:srgbClr val="38BDF8"/>
            </a:solidFill>
            <a:prstDash val="solid"/>
          </a:ln>
        </p:spPr>
      </p:sp>
      <p:sp>
        <p:nvSpPr>
          <p:cNvPr id="14" name="Text 12"/>
          <p:cNvSpPr/>
          <p:nvPr/>
        </p:nvSpPr>
        <p:spPr>
          <a:xfrm>
            <a:off x="1143000" y="2103120"/>
            <a:ext cx="2148840" cy="548640"/>
          </a:xfrm>
          <a:prstGeom prst="rect">
            <a:avLst/>
          </a:prstGeom>
          <a:noFill/>
          <a:ln/>
        </p:spPr>
        <p:txBody>
          <a:bodyPr wrap="square" rtlCol="0" anchor="ctr"/>
          <a:lstStyle/>
          <a:p>
            <a:pPr indent="0" marL="0">
              <a:buNone/>
            </a:pPr>
            <a:r>
              <a:rPr lang="en-US" sz="3200" b="1" dirty="0">
                <a:solidFill>
                  <a:srgbClr val="38BDF8"/>
                </a:solidFill>
                <a:latin typeface="Calibri" pitchFamily="34" charset="0"/>
                <a:ea typeface="Calibri" pitchFamily="34" charset="-122"/>
                <a:cs typeface="Calibri" pitchFamily="34" charset="-120"/>
              </a:rPr>
              <a:t>01</a:t>
            </a:r>
            <a:endParaRPr lang="en-US" sz="3200" dirty="0"/>
          </a:p>
        </p:txBody>
      </p:sp>
      <p:sp>
        <p:nvSpPr>
          <p:cNvPr id="15" name="Text 13"/>
          <p:cNvSpPr/>
          <p:nvPr/>
        </p:nvSpPr>
        <p:spPr>
          <a:xfrm>
            <a:off x="1143000" y="2697480"/>
            <a:ext cx="214884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Virtualize</a:t>
            </a:r>
            <a:endParaRPr lang="en-US" sz="1600" dirty="0"/>
          </a:p>
        </p:txBody>
      </p:sp>
      <p:sp>
        <p:nvSpPr>
          <p:cNvPr id="16" name="Text 14"/>
          <p:cNvSpPr/>
          <p:nvPr/>
        </p:nvSpPr>
        <p:spPr>
          <a:xfrm>
            <a:off x="1143000" y="3108960"/>
            <a:ext cx="2148840" cy="26517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Zetaris connects to ERP, WMS, AP, and Contracts, executing a single federated SQL join in 12ms with zero data movement.</a:t>
            </a:r>
            <a:endParaRPr lang="en-US" sz="1100" dirty="0"/>
          </a:p>
        </p:txBody>
      </p:sp>
      <p:sp>
        <p:nvSpPr>
          <p:cNvPr id="17" name="Shape 15"/>
          <p:cNvSpPr/>
          <p:nvPr/>
        </p:nvSpPr>
        <p:spPr>
          <a:xfrm>
            <a:off x="3584448" y="1920240"/>
            <a:ext cx="2423160" cy="4069080"/>
          </a:xfrm>
          <a:prstGeom prst="roundRect">
            <a:avLst>
              <a:gd name="adj" fmla="val 3774"/>
            </a:avLst>
          </a:prstGeom>
          <a:solidFill>
            <a:srgbClr val="0F172A"/>
          </a:solidFill>
          <a:ln w="19050">
            <a:solidFill>
              <a:srgbClr val="10B981"/>
            </a:solidFill>
            <a:prstDash val="solid"/>
          </a:ln>
        </p:spPr>
      </p:sp>
      <p:sp>
        <p:nvSpPr>
          <p:cNvPr id="18" name="Text 16"/>
          <p:cNvSpPr/>
          <p:nvPr/>
        </p:nvSpPr>
        <p:spPr>
          <a:xfrm>
            <a:off x="3721608" y="2103120"/>
            <a:ext cx="2148840" cy="548640"/>
          </a:xfrm>
          <a:prstGeom prst="rect">
            <a:avLst/>
          </a:prstGeom>
          <a:noFill/>
          <a:ln/>
        </p:spPr>
        <p:txBody>
          <a:bodyPr wrap="square" rtlCol="0" anchor="ctr"/>
          <a:lstStyle/>
          <a:p>
            <a:pPr indent="0" marL="0">
              <a:buNone/>
            </a:pPr>
            <a:r>
              <a:rPr lang="en-US" sz="3200" b="1" dirty="0">
                <a:solidFill>
                  <a:srgbClr val="10B981"/>
                </a:solidFill>
                <a:latin typeface="Calibri" pitchFamily="34" charset="0"/>
                <a:ea typeface="Calibri" pitchFamily="34" charset="-122"/>
                <a:cs typeface="Calibri" pitchFamily="34" charset="-120"/>
              </a:rPr>
              <a:t>02</a:t>
            </a:r>
            <a:endParaRPr lang="en-US" sz="3200" dirty="0"/>
          </a:p>
        </p:txBody>
      </p:sp>
      <p:sp>
        <p:nvSpPr>
          <p:cNvPr id="19" name="Text 17"/>
          <p:cNvSpPr/>
          <p:nvPr/>
        </p:nvSpPr>
        <p:spPr>
          <a:xfrm>
            <a:off x="3721608" y="2697480"/>
            <a:ext cx="214884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Orchestrate</a:t>
            </a:r>
            <a:endParaRPr lang="en-US" sz="1600" dirty="0"/>
          </a:p>
        </p:txBody>
      </p:sp>
      <p:sp>
        <p:nvSpPr>
          <p:cNvPr id="20" name="Text 18"/>
          <p:cNvSpPr/>
          <p:nvPr/>
        </p:nvSpPr>
        <p:spPr>
          <a:xfrm>
            <a:off x="3721608" y="3108960"/>
            <a:ext cx="2148840" cy="26517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Meterless Scout extracts intent, Relay routes queries, and reconciliation algorithms quantify financial variance in 8ms.</a:t>
            </a:r>
            <a:endParaRPr lang="en-US" sz="1100" dirty="0"/>
          </a:p>
        </p:txBody>
      </p:sp>
      <p:sp>
        <p:nvSpPr>
          <p:cNvPr id="21" name="Shape 19"/>
          <p:cNvSpPr/>
          <p:nvPr/>
        </p:nvSpPr>
        <p:spPr>
          <a:xfrm>
            <a:off x="6163056" y="1920240"/>
            <a:ext cx="2423160" cy="4069080"/>
          </a:xfrm>
          <a:prstGeom prst="roundRect">
            <a:avLst>
              <a:gd name="adj" fmla="val 3774"/>
            </a:avLst>
          </a:prstGeom>
          <a:solidFill>
            <a:srgbClr val="0F172A"/>
          </a:solidFill>
          <a:ln w="19050">
            <a:solidFill>
              <a:srgbClr val="F59E0B"/>
            </a:solidFill>
            <a:prstDash val="solid"/>
          </a:ln>
        </p:spPr>
      </p:sp>
      <p:sp>
        <p:nvSpPr>
          <p:cNvPr id="22" name="Text 20"/>
          <p:cNvSpPr/>
          <p:nvPr/>
        </p:nvSpPr>
        <p:spPr>
          <a:xfrm>
            <a:off x="6300216" y="2103120"/>
            <a:ext cx="2148840" cy="548640"/>
          </a:xfrm>
          <a:prstGeom prst="rect">
            <a:avLst/>
          </a:prstGeom>
          <a:noFill/>
          <a:ln/>
        </p:spPr>
        <p:txBody>
          <a:bodyPr wrap="square" rtlCol="0" anchor="ctr"/>
          <a:lstStyle/>
          <a:p>
            <a:pPr indent="0" marL="0">
              <a:buNone/>
            </a:pPr>
            <a:r>
              <a:rPr lang="en-US" sz="3200" b="1" dirty="0">
                <a:solidFill>
                  <a:srgbClr val="F59E0B"/>
                </a:solidFill>
                <a:latin typeface="Calibri" pitchFamily="34" charset="0"/>
                <a:ea typeface="Calibri" pitchFamily="34" charset="-122"/>
                <a:cs typeface="Calibri" pitchFamily="34" charset="-120"/>
              </a:rPr>
              <a:t>03</a:t>
            </a:r>
            <a:endParaRPr lang="en-US" sz="3200" dirty="0"/>
          </a:p>
        </p:txBody>
      </p:sp>
      <p:sp>
        <p:nvSpPr>
          <p:cNvPr id="23" name="Text 21"/>
          <p:cNvSpPr/>
          <p:nvPr/>
        </p:nvSpPr>
        <p:spPr>
          <a:xfrm>
            <a:off x="6300216" y="2697480"/>
            <a:ext cx="214884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Reason Locally</a:t>
            </a:r>
            <a:endParaRPr lang="en-US" sz="1600" dirty="0"/>
          </a:p>
        </p:txBody>
      </p:sp>
      <p:sp>
        <p:nvSpPr>
          <p:cNvPr id="24" name="Text 22"/>
          <p:cNvSpPr/>
          <p:nvPr/>
        </p:nvSpPr>
        <p:spPr>
          <a:xfrm>
            <a:off x="6300216" y="3108960"/>
            <a:ext cx="2148840" cy="26517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Meterless Nightshift AI executes a 4-stage Race/Judge/Verify/Generate cycle on local compute at $0 cloud token cost.</a:t>
            </a:r>
            <a:endParaRPr lang="en-US" sz="1100" dirty="0"/>
          </a:p>
        </p:txBody>
      </p:sp>
      <p:sp>
        <p:nvSpPr>
          <p:cNvPr id="25" name="Shape 23"/>
          <p:cNvSpPr/>
          <p:nvPr/>
        </p:nvSpPr>
        <p:spPr>
          <a:xfrm>
            <a:off x="8741664" y="1920240"/>
            <a:ext cx="2423160" cy="4069080"/>
          </a:xfrm>
          <a:prstGeom prst="roundRect">
            <a:avLst>
              <a:gd name="adj" fmla="val 3774"/>
            </a:avLst>
          </a:prstGeom>
          <a:solidFill>
            <a:srgbClr val="0F172A"/>
          </a:solidFill>
          <a:ln w="19050">
            <a:solidFill>
              <a:srgbClr val="A855F7"/>
            </a:solidFill>
            <a:prstDash val="solid"/>
          </a:ln>
        </p:spPr>
      </p:sp>
      <p:sp>
        <p:nvSpPr>
          <p:cNvPr id="26" name="Text 24"/>
          <p:cNvSpPr/>
          <p:nvPr/>
        </p:nvSpPr>
        <p:spPr>
          <a:xfrm>
            <a:off x="8878824" y="2103120"/>
            <a:ext cx="2148840" cy="548640"/>
          </a:xfrm>
          <a:prstGeom prst="rect">
            <a:avLst/>
          </a:prstGeom>
          <a:noFill/>
          <a:ln/>
        </p:spPr>
        <p:txBody>
          <a:bodyPr wrap="square" rtlCol="0" anchor="ctr"/>
          <a:lstStyle/>
          <a:p>
            <a:pPr indent="0" marL="0">
              <a:buNone/>
            </a:pPr>
            <a:r>
              <a:rPr lang="en-US" sz="3200" b="1" dirty="0">
                <a:solidFill>
                  <a:srgbClr val="A855F7"/>
                </a:solidFill>
                <a:latin typeface="Calibri" pitchFamily="34" charset="0"/>
                <a:ea typeface="Calibri" pitchFamily="34" charset="-122"/>
                <a:cs typeface="Calibri" pitchFamily="34" charset="-120"/>
              </a:rPr>
              <a:t>04</a:t>
            </a:r>
            <a:endParaRPr lang="en-US" sz="3200" dirty="0"/>
          </a:p>
        </p:txBody>
      </p:sp>
      <p:sp>
        <p:nvSpPr>
          <p:cNvPr id="27" name="Text 25"/>
          <p:cNvSpPr/>
          <p:nvPr/>
        </p:nvSpPr>
        <p:spPr>
          <a:xfrm>
            <a:off x="8878824" y="2697480"/>
            <a:ext cx="214884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Act &amp; Recover</a:t>
            </a:r>
            <a:endParaRPr lang="en-US" sz="1600" dirty="0"/>
          </a:p>
        </p:txBody>
      </p:sp>
      <p:sp>
        <p:nvSpPr>
          <p:cNvPr id="28" name="Text 26"/>
          <p:cNvSpPr/>
          <p:nvPr/>
        </p:nvSpPr>
        <p:spPr>
          <a:xfrm>
            <a:off x="8878824" y="3108960"/>
            <a:ext cx="2148840" cy="26517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Lead auditor approves claim with 1 click; system generates formal supplier dispute letter with exact cell citations.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LIVE AUDIT CASE STUDY</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15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Case Study: PO-1001 Audit Overview</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Supplier SUP-42 billed $6,000.00; TraceBack AI uncovers $1,200.00 in overcharges.</a:t>
            </a:r>
            <a:endParaRPr lang="en-US" sz="1250" dirty="0"/>
          </a:p>
        </p:txBody>
      </p:sp>
      <p:sp>
        <p:nvSpPr>
          <p:cNvPr id="12" name="Shape 10"/>
          <p:cNvSpPr/>
          <p:nvPr/>
        </p:nvSpPr>
        <p:spPr>
          <a:xfrm>
            <a:off x="731520" y="1691640"/>
            <a:ext cx="4114800" cy="4526280"/>
          </a:xfrm>
          <a:prstGeom prst="roundRect">
            <a:avLst>
              <a:gd name="adj" fmla="val 3333"/>
            </a:avLst>
          </a:prstGeom>
          <a:solidFill>
            <a:srgbClr val="1C1917"/>
          </a:solidFill>
          <a:ln w="25400">
            <a:solidFill>
              <a:srgbClr val="F43F5E"/>
            </a:solidFill>
            <a:prstDash val="solid"/>
          </a:ln>
        </p:spPr>
      </p:sp>
      <p:sp>
        <p:nvSpPr>
          <p:cNvPr id="13" name="Text 11"/>
          <p:cNvSpPr/>
          <p:nvPr/>
        </p:nvSpPr>
        <p:spPr>
          <a:xfrm>
            <a:off x="960120" y="1874520"/>
            <a:ext cx="3657600" cy="228600"/>
          </a:xfrm>
          <a:prstGeom prst="rect">
            <a:avLst/>
          </a:prstGeom>
          <a:noFill/>
          <a:ln/>
        </p:spPr>
        <p:txBody>
          <a:bodyPr wrap="square" rtlCol="0" anchor="ctr"/>
          <a:lstStyle/>
          <a:p>
            <a:pPr indent="0" marL="0">
              <a:buNone/>
            </a:pPr>
            <a:r>
              <a:rPr lang="en-US" sz="1050" b="1" dirty="0">
                <a:solidFill>
                  <a:srgbClr val="F43F5E"/>
                </a:solidFill>
                <a:latin typeface="Calibri" pitchFamily="34" charset="0"/>
                <a:ea typeface="Calibri" pitchFamily="34" charset="-122"/>
                <a:cs typeface="Calibri" pitchFamily="34" charset="-120"/>
              </a:rPr>
              <a:t>BENCHMARK ORDER DETAILS</a:t>
            </a:r>
            <a:endParaRPr lang="en-US" sz="1050" dirty="0"/>
          </a:p>
        </p:txBody>
      </p:sp>
      <p:sp>
        <p:nvSpPr>
          <p:cNvPr id="14" name="Text 12"/>
          <p:cNvSpPr/>
          <p:nvPr/>
        </p:nvSpPr>
        <p:spPr>
          <a:xfrm>
            <a:off x="960120" y="2103120"/>
            <a:ext cx="3657600" cy="365760"/>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PO-1001 Investigation</a:t>
            </a:r>
            <a:endParaRPr lang="en-US" sz="1800" dirty="0"/>
          </a:p>
        </p:txBody>
      </p:sp>
      <p:sp>
        <p:nvSpPr>
          <p:cNvPr id="15" name="Text 13"/>
          <p:cNvSpPr/>
          <p:nvPr/>
        </p:nvSpPr>
        <p:spPr>
          <a:xfrm>
            <a:off x="960120" y="2560320"/>
            <a:ext cx="3657600" cy="347472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Purchase Order ID: PO-1001</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Supplier: Apex Industrial (SUP-42)</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Invoiced Amount: $6,000.00 USD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Physical Received Value: $4,800.00 USD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Recoverable Overcharge: $1,200.00 USD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Audit Latency: 184 milliseconds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Overall Audit Confidence: 96.5%</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Audit Recommendation: DISPUTE &amp; WITHHOLD</a:t>
            </a:r>
            <a:endParaRPr lang="en-US" sz="1100" dirty="0"/>
          </a:p>
        </p:txBody>
      </p:sp>
      <p:sp>
        <p:nvSpPr>
          <p:cNvPr id="16" name="Shape 14"/>
          <p:cNvSpPr/>
          <p:nvPr/>
        </p:nvSpPr>
        <p:spPr>
          <a:xfrm>
            <a:off x="5120640" y="1691640"/>
            <a:ext cx="6336792" cy="4526280"/>
          </a:xfrm>
          <a:prstGeom prst="roundRect">
            <a:avLst>
              <a:gd name="adj" fmla="val 3030"/>
            </a:avLst>
          </a:prstGeom>
          <a:solidFill>
            <a:srgbClr val="0B1120"/>
          </a:solidFill>
          <a:ln w="19050">
            <a:solidFill>
              <a:srgbClr val="1E293B"/>
            </a:solidFill>
            <a:prstDash val="solid"/>
          </a:ln>
        </p:spPr>
      </p:sp>
      <p:sp>
        <p:nvSpPr>
          <p:cNvPr id="17" name="Text 15"/>
          <p:cNvSpPr/>
          <p:nvPr/>
        </p:nvSpPr>
        <p:spPr>
          <a:xfrm>
            <a:off x="5349240" y="1874520"/>
            <a:ext cx="5852160" cy="22860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4-WAY SOURCE RECONCILIATION SUMMARY:</a:t>
            </a:r>
            <a:endParaRPr lang="en-US" sz="1100" dirty="0"/>
          </a:p>
        </p:txBody>
      </p:sp>
      <p:sp>
        <p:nvSpPr>
          <p:cNvPr id="18" name="Shape 16"/>
          <p:cNvSpPr/>
          <p:nvPr/>
        </p:nvSpPr>
        <p:spPr>
          <a:xfrm>
            <a:off x="5349240" y="2240280"/>
            <a:ext cx="5852160" cy="749808"/>
          </a:xfrm>
          <a:prstGeom prst="roundRect">
            <a:avLst>
              <a:gd name="adj" fmla="val 9756"/>
            </a:avLst>
          </a:prstGeom>
          <a:solidFill>
            <a:srgbClr val="0F172A"/>
          </a:solidFill>
          <a:ln w="12700">
            <a:solidFill>
              <a:srgbClr val="38BDF8"/>
            </a:solidFill>
            <a:prstDash val="solid"/>
          </a:ln>
        </p:spPr>
      </p:sp>
      <p:sp>
        <p:nvSpPr>
          <p:cNvPr id="19" name="Text 17"/>
          <p:cNvSpPr/>
          <p:nvPr/>
        </p:nvSpPr>
        <p:spPr>
          <a:xfrm>
            <a:off x="5486400" y="2331720"/>
            <a:ext cx="3474720" cy="22860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SAP ERP (purchase_orders.csv)</a:t>
            </a:r>
            <a:endParaRPr lang="en-US" sz="1100" dirty="0"/>
          </a:p>
        </p:txBody>
      </p:sp>
      <p:sp>
        <p:nvSpPr>
          <p:cNvPr id="20" name="Text 18"/>
          <p:cNvSpPr/>
          <p:nvPr/>
        </p:nvSpPr>
        <p:spPr>
          <a:xfrm>
            <a:off x="5486400" y="2587752"/>
            <a:ext cx="4114800" cy="3200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120 units ordered @ $50.00/unit</a:t>
            </a:r>
            <a:endParaRPr lang="en-US" sz="1000" dirty="0"/>
          </a:p>
        </p:txBody>
      </p:sp>
      <p:sp>
        <p:nvSpPr>
          <p:cNvPr id="21" name="Text 19"/>
          <p:cNvSpPr/>
          <p:nvPr/>
        </p:nvSpPr>
        <p:spPr>
          <a:xfrm>
            <a:off x="9692640" y="2441448"/>
            <a:ext cx="1371600" cy="320040"/>
          </a:xfrm>
          <a:prstGeom prst="rect">
            <a:avLst/>
          </a:prstGeom>
          <a:noFill/>
          <a:ln/>
        </p:spPr>
        <p:txBody>
          <a:bodyPr wrap="square"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$6,000.00</a:t>
            </a:r>
            <a:endParaRPr lang="en-US" sz="1300" dirty="0"/>
          </a:p>
        </p:txBody>
      </p:sp>
      <p:sp>
        <p:nvSpPr>
          <p:cNvPr id="22" name="Shape 20"/>
          <p:cNvSpPr/>
          <p:nvPr/>
        </p:nvSpPr>
        <p:spPr>
          <a:xfrm>
            <a:off x="5349240" y="3108960"/>
            <a:ext cx="5852160" cy="749808"/>
          </a:xfrm>
          <a:prstGeom prst="roundRect">
            <a:avLst>
              <a:gd name="adj" fmla="val 9756"/>
            </a:avLst>
          </a:prstGeom>
          <a:solidFill>
            <a:srgbClr val="0F172A"/>
          </a:solidFill>
          <a:ln w="12700">
            <a:solidFill>
              <a:srgbClr val="F59E0B"/>
            </a:solidFill>
            <a:prstDash val="solid"/>
          </a:ln>
        </p:spPr>
      </p:sp>
      <p:sp>
        <p:nvSpPr>
          <p:cNvPr id="23" name="Text 21"/>
          <p:cNvSpPr/>
          <p:nvPr/>
        </p:nvSpPr>
        <p:spPr>
          <a:xfrm>
            <a:off x="5486400" y="3200400"/>
            <a:ext cx="3474720" cy="228600"/>
          </a:xfrm>
          <a:prstGeom prst="rect">
            <a:avLst/>
          </a:prstGeom>
          <a:noFill/>
          <a:ln/>
        </p:spPr>
        <p:txBody>
          <a:bodyPr wrap="square"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WMS Warehouse (deliveries.csv)</a:t>
            </a:r>
            <a:endParaRPr lang="en-US" sz="1100" dirty="0"/>
          </a:p>
        </p:txBody>
      </p:sp>
      <p:sp>
        <p:nvSpPr>
          <p:cNvPr id="24" name="Text 22"/>
          <p:cNvSpPr/>
          <p:nvPr/>
        </p:nvSpPr>
        <p:spPr>
          <a:xfrm>
            <a:off x="5486400" y="3456432"/>
            <a:ext cx="4114800" cy="3200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100 units physically received (DN-045)</a:t>
            </a:r>
            <a:endParaRPr lang="en-US" sz="1000" dirty="0"/>
          </a:p>
        </p:txBody>
      </p:sp>
      <p:sp>
        <p:nvSpPr>
          <p:cNvPr id="25" name="Text 23"/>
          <p:cNvSpPr/>
          <p:nvPr/>
        </p:nvSpPr>
        <p:spPr>
          <a:xfrm>
            <a:off x="9692640" y="3310128"/>
            <a:ext cx="1371600" cy="320040"/>
          </a:xfrm>
          <a:prstGeom prst="rect">
            <a:avLst/>
          </a:prstGeom>
          <a:noFill/>
          <a:ln/>
        </p:spPr>
        <p:txBody>
          <a:bodyPr wrap="square"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$5,000.00</a:t>
            </a:r>
            <a:endParaRPr lang="en-US" sz="1300" dirty="0"/>
          </a:p>
        </p:txBody>
      </p:sp>
      <p:sp>
        <p:nvSpPr>
          <p:cNvPr id="26" name="Shape 24"/>
          <p:cNvSpPr/>
          <p:nvPr/>
        </p:nvSpPr>
        <p:spPr>
          <a:xfrm>
            <a:off x="5349240" y="3977640"/>
            <a:ext cx="5852160" cy="749808"/>
          </a:xfrm>
          <a:prstGeom prst="roundRect">
            <a:avLst>
              <a:gd name="adj" fmla="val 9756"/>
            </a:avLst>
          </a:prstGeom>
          <a:solidFill>
            <a:srgbClr val="0F172A"/>
          </a:solidFill>
          <a:ln w="12700">
            <a:solidFill>
              <a:srgbClr val="F43F5E"/>
            </a:solidFill>
            <a:prstDash val="solid"/>
          </a:ln>
        </p:spPr>
      </p:sp>
      <p:sp>
        <p:nvSpPr>
          <p:cNvPr id="27" name="Text 25"/>
          <p:cNvSpPr/>
          <p:nvPr/>
        </p:nvSpPr>
        <p:spPr>
          <a:xfrm>
            <a:off x="5486400" y="4069080"/>
            <a:ext cx="3474720" cy="228600"/>
          </a:xfrm>
          <a:prstGeom prst="rect">
            <a:avLst/>
          </a:prstGeom>
          <a:noFill/>
          <a:ln/>
        </p:spPr>
        <p:txBody>
          <a:bodyPr wrap="square" rtlCol="0" anchor="ctr"/>
          <a:lstStyle/>
          <a:p>
            <a:pPr indent="0" marL="0">
              <a:buNone/>
            </a:pPr>
            <a:r>
              <a:rPr lang="en-US" sz="1100" b="1" dirty="0">
                <a:solidFill>
                  <a:srgbClr val="F43F5E"/>
                </a:solidFill>
                <a:latin typeface="Calibri" pitchFamily="34" charset="0"/>
                <a:ea typeface="Calibri" pitchFamily="34" charset="-122"/>
                <a:cs typeface="Calibri" pitchFamily="34" charset="-120"/>
              </a:rPr>
              <a:t>AP Invoices (invoices.csv)</a:t>
            </a:r>
            <a:endParaRPr lang="en-US" sz="1100" dirty="0"/>
          </a:p>
        </p:txBody>
      </p:sp>
      <p:sp>
        <p:nvSpPr>
          <p:cNvPr id="28" name="Text 26"/>
          <p:cNvSpPr/>
          <p:nvPr/>
        </p:nvSpPr>
        <p:spPr>
          <a:xfrm>
            <a:off x="5486400" y="4325112"/>
            <a:ext cx="4114800" cy="3200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120 units billed on INV-9001</a:t>
            </a:r>
            <a:endParaRPr lang="en-US" sz="1000" dirty="0"/>
          </a:p>
        </p:txBody>
      </p:sp>
      <p:sp>
        <p:nvSpPr>
          <p:cNvPr id="29" name="Text 27"/>
          <p:cNvSpPr/>
          <p:nvPr/>
        </p:nvSpPr>
        <p:spPr>
          <a:xfrm>
            <a:off x="9692640" y="4178808"/>
            <a:ext cx="1371600" cy="320040"/>
          </a:xfrm>
          <a:prstGeom prst="rect">
            <a:avLst/>
          </a:prstGeom>
          <a:noFill/>
          <a:ln/>
        </p:spPr>
        <p:txBody>
          <a:bodyPr wrap="square"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$6,000.00</a:t>
            </a:r>
            <a:endParaRPr lang="en-US" sz="1300" dirty="0"/>
          </a:p>
        </p:txBody>
      </p:sp>
      <p:sp>
        <p:nvSpPr>
          <p:cNvPr id="30" name="Shape 28"/>
          <p:cNvSpPr/>
          <p:nvPr/>
        </p:nvSpPr>
        <p:spPr>
          <a:xfrm>
            <a:off x="5349240" y="4846320"/>
            <a:ext cx="5852160" cy="749808"/>
          </a:xfrm>
          <a:prstGeom prst="roundRect">
            <a:avLst>
              <a:gd name="adj" fmla="val 9756"/>
            </a:avLst>
          </a:prstGeom>
          <a:solidFill>
            <a:srgbClr val="0F172A"/>
          </a:solidFill>
          <a:ln w="12700">
            <a:solidFill>
              <a:srgbClr val="A855F7"/>
            </a:solidFill>
            <a:prstDash val="solid"/>
          </a:ln>
        </p:spPr>
      </p:sp>
      <p:sp>
        <p:nvSpPr>
          <p:cNvPr id="31" name="Text 29"/>
          <p:cNvSpPr/>
          <p:nvPr/>
        </p:nvSpPr>
        <p:spPr>
          <a:xfrm>
            <a:off x="5486400" y="4937760"/>
            <a:ext cx="3474720" cy="228600"/>
          </a:xfrm>
          <a:prstGeom prst="rect">
            <a:avLst/>
          </a:prstGeom>
          <a:noFill/>
          <a:ln/>
        </p:spPr>
        <p:txBody>
          <a:bodyPr wrap="square" rtlCol="0" anchor="ctr"/>
          <a:lstStyle/>
          <a:p>
            <a:pPr indent="0" marL="0">
              <a:buNone/>
            </a:pPr>
            <a:r>
              <a:rPr lang="en-US" sz="1100" b="1" dirty="0">
                <a:solidFill>
                  <a:srgbClr val="A855F7"/>
                </a:solidFill>
                <a:latin typeface="Calibri" pitchFamily="34" charset="0"/>
                <a:ea typeface="Calibri" pitchFamily="34" charset="-122"/>
                <a:cs typeface="Calibri" pitchFamily="34" charset="-120"/>
              </a:rPr>
              <a:t>Legal Contracts (contract_prices.csv)</a:t>
            </a:r>
            <a:endParaRPr lang="en-US" sz="1100" dirty="0"/>
          </a:p>
        </p:txBody>
      </p:sp>
      <p:sp>
        <p:nvSpPr>
          <p:cNvPr id="32" name="Text 30"/>
          <p:cNvSpPr/>
          <p:nvPr/>
        </p:nvSpPr>
        <p:spPr>
          <a:xfrm>
            <a:off x="5486400" y="5193792"/>
            <a:ext cx="4114800" cy="3200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Contract rate cap: $48.00/unit</a:t>
            </a:r>
            <a:endParaRPr lang="en-US" sz="1000" dirty="0"/>
          </a:p>
        </p:txBody>
      </p:sp>
      <p:sp>
        <p:nvSpPr>
          <p:cNvPr id="33" name="Text 31"/>
          <p:cNvSpPr/>
          <p:nvPr/>
        </p:nvSpPr>
        <p:spPr>
          <a:xfrm>
            <a:off x="9692640" y="5047488"/>
            <a:ext cx="1371600" cy="320040"/>
          </a:xfrm>
          <a:prstGeom prst="rect">
            <a:avLst/>
          </a:prstGeom>
          <a:noFill/>
          <a:ln/>
        </p:spPr>
        <p:txBody>
          <a:bodyPr wrap="square" rtlCol="0" anchor="ctr"/>
          <a:lstStyle/>
          <a:p>
            <a:pPr algn="r" indent="0" marL="0">
              <a:buNone/>
            </a:pPr>
            <a:r>
              <a:rPr lang="en-US" sz="1300" b="1" dirty="0">
                <a:solidFill>
                  <a:srgbClr val="FFFFFF"/>
                </a:solidFill>
                <a:latin typeface="Calibri" pitchFamily="34" charset="0"/>
                <a:ea typeface="Calibri" pitchFamily="34" charset="-122"/>
                <a:cs typeface="Calibri" pitchFamily="34" charset="-120"/>
              </a:rPr>
              <a:t>$4,800.00</a:t>
            </a:r>
            <a:endParaRPr lang="en-US" sz="1300" dirty="0"/>
          </a:p>
        </p:txBody>
      </p:sp>
      <p:sp>
        <p:nvSpPr>
          <p:cNvPr id="34" name="Shape 32"/>
          <p:cNvSpPr/>
          <p:nvPr/>
        </p:nvSpPr>
        <p:spPr>
          <a:xfrm>
            <a:off x="5349240" y="5303520"/>
            <a:ext cx="5852160" cy="731520"/>
          </a:xfrm>
          <a:prstGeom prst="roundRect">
            <a:avLst>
              <a:gd name="adj" fmla="val 10000"/>
            </a:avLst>
          </a:prstGeom>
          <a:solidFill>
            <a:srgbClr val="064E3B"/>
          </a:solidFill>
          <a:ln w="19050">
            <a:solidFill>
              <a:srgbClr val="10B981"/>
            </a:solidFill>
            <a:prstDash val="solid"/>
          </a:ln>
        </p:spPr>
      </p:sp>
      <p:sp>
        <p:nvSpPr>
          <p:cNvPr id="35" name="Text 33"/>
          <p:cNvSpPr/>
          <p:nvPr/>
        </p:nvSpPr>
        <p:spPr>
          <a:xfrm>
            <a:off x="5486400" y="5394960"/>
            <a:ext cx="5577840" cy="22860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RECONCILIATION RESULT: $1,200.00 DISCREPANCY DETECTED</a:t>
            </a:r>
            <a:endParaRPr lang="en-US" sz="1100" dirty="0"/>
          </a:p>
        </p:txBody>
      </p:sp>
      <p:sp>
        <p:nvSpPr>
          <p:cNvPr id="36" name="Text 34"/>
          <p:cNvSpPr/>
          <p:nvPr/>
        </p:nvSpPr>
        <p:spPr>
          <a:xfrm>
            <a:off x="5486400" y="5650992"/>
            <a:ext cx="5577840" cy="274320"/>
          </a:xfrm>
          <a:prstGeom prst="rect">
            <a:avLst/>
          </a:prstGeom>
          <a:noFill/>
          <a:ln/>
        </p:spPr>
        <p:txBody>
          <a:bodyPr wrap="square" rtlCol="0" anchor="ctr"/>
          <a:lstStyle/>
          <a:p>
            <a:pPr indent="0" marL="0">
              <a:buNone/>
            </a:pPr>
            <a:r>
              <a:rPr lang="en-US" sz="1000" dirty="0">
                <a:solidFill>
                  <a:srgbClr val="FFFFFF"/>
                </a:solidFill>
                <a:latin typeface="Calibri" pitchFamily="34" charset="0"/>
                <a:ea typeface="Calibri" pitchFamily="34" charset="-122"/>
                <a:cs typeface="Calibri" pitchFamily="34" charset="-120"/>
              </a:rPr>
              <a:t>Discrepancy 1 ($1,000 qty overcharge) + Discrepancy 2 ($200 price escalation)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DISCREPANCY BREAKDOWN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16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Discrepancy 1: Quantity Overbilling (+$1,000.00)</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Invoicing for units exceeding physical warehouse receipt.</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25400">
            <a:solidFill>
              <a:srgbClr val="F43F5E"/>
            </a:solidFill>
            <a:prstDash val="solid"/>
          </a:ln>
        </p:spPr>
      </p:sp>
      <p:sp>
        <p:nvSpPr>
          <p:cNvPr id="13" name="Text 11"/>
          <p:cNvSpPr/>
          <p:nvPr/>
        </p:nvSpPr>
        <p:spPr>
          <a:xfrm>
            <a:off x="1005840" y="1920240"/>
            <a:ext cx="10149840" cy="274320"/>
          </a:xfrm>
          <a:prstGeom prst="rect">
            <a:avLst/>
          </a:prstGeom>
          <a:noFill/>
          <a:ln/>
        </p:spPr>
        <p:txBody>
          <a:bodyPr wrap="square" rtlCol="0" anchor="ctr"/>
          <a:lstStyle/>
          <a:p>
            <a:pPr indent="0" marL="0">
              <a:buNone/>
            </a:pPr>
            <a:r>
              <a:rPr lang="en-US" sz="1200" b="1" dirty="0">
                <a:solidFill>
                  <a:srgbClr val="F43F5E"/>
                </a:solidFill>
                <a:latin typeface="Calibri" pitchFamily="34" charset="0"/>
                <a:ea typeface="Calibri" pitchFamily="34" charset="-122"/>
                <a:cs typeface="Calibri" pitchFamily="34" charset="-120"/>
              </a:rPr>
              <a:t>VARIANCE IDENTIFICATION &amp; CALCULATION:</a:t>
            </a:r>
            <a:endParaRPr lang="en-US" sz="1200" dirty="0"/>
          </a:p>
        </p:txBody>
      </p:sp>
      <p:sp>
        <p:nvSpPr>
          <p:cNvPr id="14" name="Shape 12"/>
          <p:cNvSpPr/>
          <p:nvPr/>
        </p:nvSpPr>
        <p:spPr>
          <a:xfrm>
            <a:off x="1005840" y="2286000"/>
            <a:ext cx="2377440" cy="1280160"/>
          </a:xfrm>
          <a:prstGeom prst="roundRect">
            <a:avLst>
              <a:gd name="adj" fmla="val 7143"/>
            </a:avLst>
          </a:prstGeom>
          <a:solidFill>
            <a:srgbClr val="0F172A"/>
          </a:solidFill>
          <a:ln w="12700">
            <a:solidFill>
              <a:srgbClr val="44403C"/>
            </a:solidFill>
            <a:prstDash val="solid"/>
          </a:ln>
        </p:spPr>
      </p:sp>
      <p:sp>
        <p:nvSpPr>
          <p:cNvPr id="15" name="Text 13"/>
          <p:cNvSpPr/>
          <p:nvPr/>
        </p:nvSpPr>
        <p:spPr>
          <a:xfrm>
            <a:off x="10972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Invoiced Quantity (INV-9001):</a:t>
            </a:r>
            <a:endParaRPr lang="en-US" sz="950" dirty="0"/>
          </a:p>
        </p:txBody>
      </p:sp>
      <p:sp>
        <p:nvSpPr>
          <p:cNvPr id="16" name="Text 14"/>
          <p:cNvSpPr/>
          <p:nvPr/>
        </p:nvSpPr>
        <p:spPr>
          <a:xfrm>
            <a:off x="1097280" y="2697480"/>
            <a:ext cx="21945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120 units</a:t>
            </a:r>
            <a:endParaRPr lang="en-US" sz="1600" dirty="0"/>
          </a:p>
        </p:txBody>
      </p:sp>
      <p:sp>
        <p:nvSpPr>
          <p:cNvPr id="17" name="Text 15"/>
          <p:cNvSpPr/>
          <p:nvPr/>
        </p:nvSpPr>
        <p:spPr>
          <a:xfrm>
            <a:off x="10972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Accounts Payable claim</a:t>
            </a:r>
            <a:endParaRPr lang="en-US" sz="850" dirty="0"/>
          </a:p>
        </p:txBody>
      </p:sp>
      <p:sp>
        <p:nvSpPr>
          <p:cNvPr id="18" name="Shape 16"/>
          <p:cNvSpPr/>
          <p:nvPr/>
        </p:nvSpPr>
        <p:spPr>
          <a:xfrm>
            <a:off x="3520440" y="2286000"/>
            <a:ext cx="2377440" cy="1280160"/>
          </a:xfrm>
          <a:prstGeom prst="roundRect">
            <a:avLst>
              <a:gd name="adj" fmla="val 7143"/>
            </a:avLst>
          </a:prstGeom>
          <a:solidFill>
            <a:srgbClr val="0F172A"/>
          </a:solidFill>
          <a:ln w="12700">
            <a:solidFill>
              <a:srgbClr val="44403C"/>
            </a:solidFill>
            <a:prstDash val="solid"/>
          </a:ln>
        </p:spPr>
      </p:sp>
      <p:sp>
        <p:nvSpPr>
          <p:cNvPr id="19" name="Text 17"/>
          <p:cNvSpPr/>
          <p:nvPr/>
        </p:nvSpPr>
        <p:spPr>
          <a:xfrm>
            <a:off x="36118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Warehouse Delivered (DN-045):</a:t>
            </a:r>
            <a:endParaRPr lang="en-US" sz="950" dirty="0"/>
          </a:p>
        </p:txBody>
      </p:sp>
      <p:sp>
        <p:nvSpPr>
          <p:cNvPr id="20" name="Text 18"/>
          <p:cNvSpPr/>
          <p:nvPr/>
        </p:nvSpPr>
        <p:spPr>
          <a:xfrm>
            <a:off x="3611880" y="2697480"/>
            <a:ext cx="21945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100 units</a:t>
            </a:r>
            <a:endParaRPr lang="en-US" sz="1600" dirty="0"/>
          </a:p>
        </p:txBody>
      </p:sp>
      <p:sp>
        <p:nvSpPr>
          <p:cNvPr id="21" name="Text 19"/>
          <p:cNvSpPr/>
          <p:nvPr/>
        </p:nvSpPr>
        <p:spPr>
          <a:xfrm>
            <a:off x="36118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Physical goods accepted at dock</a:t>
            </a:r>
            <a:endParaRPr lang="en-US" sz="850" dirty="0"/>
          </a:p>
        </p:txBody>
      </p:sp>
      <p:sp>
        <p:nvSpPr>
          <p:cNvPr id="22" name="Shape 20"/>
          <p:cNvSpPr/>
          <p:nvPr/>
        </p:nvSpPr>
        <p:spPr>
          <a:xfrm>
            <a:off x="6035040" y="2286000"/>
            <a:ext cx="2377440" cy="1280160"/>
          </a:xfrm>
          <a:prstGeom prst="roundRect">
            <a:avLst>
              <a:gd name="adj" fmla="val 7143"/>
            </a:avLst>
          </a:prstGeom>
          <a:solidFill>
            <a:srgbClr val="0F172A"/>
          </a:solidFill>
          <a:ln w="12700">
            <a:solidFill>
              <a:srgbClr val="44403C"/>
            </a:solidFill>
            <a:prstDash val="solid"/>
          </a:ln>
        </p:spPr>
      </p:sp>
      <p:sp>
        <p:nvSpPr>
          <p:cNvPr id="23" name="Text 21"/>
          <p:cNvSpPr/>
          <p:nvPr/>
        </p:nvSpPr>
        <p:spPr>
          <a:xfrm>
            <a:off x="61264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Unreceived Billed Units:</a:t>
            </a:r>
            <a:endParaRPr lang="en-US" sz="950" dirty="0"/>
          </a:p>
        </p:txBody>
      </p:sp>
      <p:sp>
        <p:nvSpPr>
          <p:cNvPr id="24" name="Text 22"/>
          <p:cNvSpPr/>
          <p:nvPr/>
        </p:nvSpPr>
        <p:spPr>
          <a:xfrm>
            <a:off x="6126480" y="2697480"/>
            <a:ext cx="21945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 units</a:t>
            </a:r>
            <a:endParaRPr lang="en-US" sz="1600" dirty="0"/>
          </a:p>
        </p:txBody>
      </p:sp>
      <p:sp>
        <p:nvSpPr>
          <p:cNvPr id="25" name="Text 23"/>
          <p:cNvSpPr/>
          <p:nvPr/>
        </p:nvSpPr>
        <p:spPr>
          <a:xfrm>
            <a:off x="61264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120 invoiced - 100 delivered</a:t>
            </a:r>
            <a:endParaRPr lang="en-US" sz="850" dirty="0"/>
          </a:p>
        </p:txBody>
      </p:sp>
      <p:sp>
        <p:nvSpPr>
          <p:cNvPr id="26" name="Shape 24"/>
          <p:cNvSpPr/>
          <p:nvPr/>
        </p:nvSpPr>
        <p:spPr>
          <a:xfrm>
            <a:off x="8549640" y="2286000"/>
            <a:ext cx="2377440" cy="1280160"/>
          </a:xfrm>
          <a:prstGeom prst="roundRect">
            <a:avLst>
              <a:gd name="adj" fmla="val 7143"/>
            </a:avLst>
          </a:prstGeom>
          <a:solidFill>
            <a:srgbClr val="0F172A"/>
          </a:solidFill>
          <a:ln w="12700">
            <a:solidFill>
              <a:srgbClr val="44403C"/>
            </a:solidFill>
            <a:prstDash val="solid"/>
          </a:ln>
        </p:spPr>
      </p:sp>
      <p:sp>
        <p:nvSpPr>
          <p:cNvPr id="27" name="Text 25"/>
          <p:cNvSpPr/>
          <p:nvPr/>
        </p:nvSpPr>
        <p:spPr>
          <a:xfrm>
            <a:off x="86410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Recoverable Overbilling Total:</a:t>
            </a:r>
            <a:endParaRPr lang="en-US" sz="950" dirty="0"/>
          </a:p>
        </p:txBody>
      </p:sp>
      <p:sp>
        <p:nvSpPr>
          <p:cNvPr id="28" name="Text 26"/>
          <p:cNvSpPr/>
          <p:nvPr/>
        </p:nvSpPr>
        <p:spPr>
          <a:xfrm>
            <a:off x="8641080" y="2697480"/>
            <a:ext cx="2194560" cy="411480"/>
          </a:xfrm>
          <a:prstGeom prst="rect">
            <a:avLst/>
          </a:prstGeom>
          <a:noFill/>
          <a:ln/>
        </p:spPr>
        <p:txBody>
          <a:bodyPr wrap="square" rtlCol="0" anchor="ctr"/>
          <a:lstStyle/>
          <a:p>
            <a:pPr indent="0" marL="0">
              <a:buNone/>
            </a:pPr>
            <a:r>
              <a:rPr lang="en-US" sz="1600" b="1" dirty="0">
                <a:solidFill>
                  <a:srgbClr val="F43F5E"/>
                </a:solidFill>
                <a:latin typeface="Calibri" pitchFamily="34" charset="0"/>
                <a:ea typeface="Calibri" pitchFamily="34" charset="-122"/>
                <a:cs typeface="Calibri" pitchFamily="34" charset="-120"/>
              </a:rPr>
              <a:t>$1,000.00 USD</a:t>
            </a:r>
            <a:endParaRPr lang="en-US" sz="1600" dirty="0"/>
          </a:p>
        </p:txBody>
      </p:sp>
      <p:sp>
        <p:nvSpPr>
          <p:cNvPr id="29" name="Text 27"/>
          <p:cNvSpPr/>
          <p:nvPr/>
        </p:nvSpPr>
        <p:spPr>
          <a:xfrm>
            <a:off x="86410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20 units × $50.00/unit</a:t>
            </a:r>
            <a:endParaRPr lang="en-US" sz="850" dirty="0"/>
          </a:p>
        </p:txBody>
      </p:sp>
      <p:sp>
        <p:nvSpPr>
          <p:cNvPr id="30" name="Shape 28"/>
          <p:cNvSpPr/>
          <p:nvPr/>
        </p:nvSpPr>
        <p:spPr>
          <a:xfrm>
            <a:off x="1005840" y="3794760"/>
            <a:ext cx="10149840" cy="2194560"/>
          </a:xfrm>
          <a:prstGeom prst="roundRect">
            <a:avLst>
              <a:gd name="adj" fmla="val 4167"/>
            </a:avLst>
          </a:prstGeom>
          <a:solidFill>
            <a:srgbClr val="1C1917"/>
          </a:solidFill>
          <a:ln w="12700">
            <a:solidFill>
              <a:srgbClr val="44403C"/>
            </a:solidFill>
            <a:prstDash val="solid"/>
          </a:ln>
        </p:spPr>
      </p:sp>
      <p:sp>
        <p:nvSpPr>
          <p:cNvPr id="31" name="Text 29"/>
          <p:cNvSpPr/>
          <p:nvPr/>
        </p:nvSpPr>
        <p:spPr>
          <a:xfrm>
            <a:off x="1188720" y="3977640"/>
            <a:ext cx="9784080" cy="228600"/>
          </a:xfrm>
          <a:prstGeom prst="rect">
            <a:avLst/>
          </a:prstGeom>
          <a:noFill/>
          <a:ln/>
        </p:spPr>
        <p:txBody>
          <a:bodyPr wrap="square" rtlCol="0" anchor="ctr"/>
          <a:lstStyle/>
          <a:p>
            <a:pPr indent="0" marL="0">
              <a:buNone/>
            </a:pPr>
            <a:r>
              <a:rPr lang="en-US" sz="1050" b="1" dirty="0">
                <a:solidFill>
                  <a:srgbClr val="F59E0B"/>
                </a:solidFill>
                <a:latin typeface="Calibri" pitchFamily="34" charset="0"/>
                <a:ea typeface="Calibri" pitchFamily="34" charset="-122"/>
                <a:cs typeface="Calibri" pitchFamily="34" charset="-120"/>
              </a:rPr>
              <a:t>IMMUTABLE EVIDENCE PROVENANCE TRAIL:</a:t>
            </a:r>
            <a:endParaRPr lang="en-US" sz="1050" dirty="0"/>
          </a:p>
        </p:txBody>
      </p:sp>
      <p:sp>
        <p:nvSpPr>
          <p:cNvPr id="32" name="Text 30"/>
          <p:cNvSpPr/>
          <p:nvPr/>
        </p:nvSpPr>
        <p:spPr>
          <a:xfrm>
            <a:off x="1188720" y="4297680"/>
            <a:ext cx="9784080" cy="15087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Source File 1: invoices.csv -&gt; Row 2, Column 3 [invoiced_qty = 120]</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Source File 2: deliveries.csv -&gt; Row 2, Column 3 [delivered_qty = 100, delivery_note = "DN-045"]</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Corroboration Rule: delivered_qty &lt; invoiced_qty =&gt; DiscrepancyType.QUANTITY_MISMATCH</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Audit Action: Dispute line item #1 on INV-9001; demand $1,000.00 credit memo or payment deduction before clearance.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DISCREPANCY BREAKDOWN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17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Discrepancy 2: Contract Rate Escalation (+$200.00)</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Billed unit rate breaches Master Procurement Contract ceiling price.</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25400">
            <a:solidFill>
              <a:srgbClr val="F59E0B"/>
            </a:solidFill>
            <a:prstDash val="solid"/>
          </a:ln>
        </p:spPr>
      </p:sp>
      <p:sp>
        <p:nvSpPr>
          <p:cNvPr id="13" name="Text 11"/>
          <p:cNvSpPr/>
          <p:nvPr/>
        </p:nvSpPr>
        <p:spPr>
          <a:xfrm>
            <a:off x="1005840" y="1920240"/>
            <a:ext cx="10149840" cy="274320"/>
          </a:xfrm>
          <a:prstGeom prst="rect">
            <a:avLst/>
          </a:prstGeom>
          <a:noFill/>
          <a:ln/>
        </p:spPr>
        <p:txBody>
          <a:bodyPr wrap="square"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PRICE CEILING VIOLATION &amp; RATE CREEP MATH:</a:t>
            </a:r>
            <a:endParaRPr lang="en-US" sz="1200" dirty="0"/>
          </a:p>
        </p:txBody>
      </p:sp>
      <p:sp>
        <p:nvSpPr>
          <p:cNvPr id="14" name="Shape 12"/>
          <p:cNvSpPr/>
          <p:nvPr/>
        </p:nvSpPr>
        <p:spPr>
          <a:xfrm>
            <a:off x="1005840" y="2286000"/>
            <a:ext cx="2377440" cy="1280160"/>
          </a:xfrm>
          <a:prstGeom prst="roundRect">
            <a:avLst>
              <a:gd name="adj" fmla="val 7143"/>
            </a:avLst>
          </a:prstGeom>
          <a:solidFill>
            <a:srgbClr val="0F172A"/>
          </a:solidFill>
          <a:ln w="12700">
            <a:solidFill>
              <a:srgbClr val="44403C"/>
            </a:solidFill>
            <a:prstDash val="solid"/>
          </a:ln>
        </p:spPr>
      </p:sp>
      <p:sp>
        <p:nvSpPr>
          <p:cNvPr id="15" name="Text 13"/>
          <p:cNvSpPr/>
          <p:nvPr/>
        </p:nvSpPr>
        <p:spPr>
          <a:xfrm>
            <a:off x="10972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Billed Unit Price (INV-9001):</a:t>
            </a:r>
            <a:endParaRPr lang="en-US" sz="950" dirty="0"/>
          </a:p>
        </p:txBody>
      </p:sp>
      <p:sp>
        <p:nvSpPr>
          <p:cNvPr id="16" name="Text 14"/>
          <p:cNvSpPr/>
          <p:nvPr/>
        </p:nvSpPr>
        <p:spPr>
          <a:xfrm>
            <a:off x="1097280" y="2697480"/>
            <a:ext cx="21945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$50.00 / unit</a:t>
            </a:r>
            <a:endParaRPr lang="en-US" sz="1600" dirty="0"/>
          </a:p>
        </p:txBody>
      </p:sp>
      <p:sp>
        <p:nvSpPr>
          <p:cNvPr id="17" name="Text 15"/>
          <p:cNvSpPr/>
          <p:nvPr/>
        </p:nvSpPr>
        <p:spPr>
          <a:xfrm>
            <a:off x="10972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Supplier invoice rate</a:t>
            </a:r>
            <a:endParaRPr lang="en-US" sz="850" dirty="0"/>
          </a:p>
        </p:txBody>
      </p:sp>
      <p:sp>
        <p:nvSpPr>
          <p:cNvPr id="18" name="Shape 16"/>
          <p:cNvSpPr/>
          <p:nvPr/>
        </p:nvSpPr>
        <p:spPr>
          <a:xfrm>
            <a:off x="3520440" y="2286000"/>
            <a:ext cx="2377440" cy="1280160"/>
          </a:xfrm>
          <a:prstGeom prst="roundRect">
            <a:avLst>
              <a:gd name="adj" fmla="val 7143"/>
            </a:avLst>
          </a:prstGeom>
          <a:solidFill>
            <a:srgbClr val="0F172A"/>
          </a:solidFill>
          <a:ln w="12700">
            <a:solidFill>
              <a:srgbClr val="44403C"/>
            </a:solidFill>
            <a:prstDash val="solid"/>
          </a:ln>
        </p:spPr>
      </p:sp>
      <p:sp>
        <p:nvSpPr>
          <p:cNvPr id="19" name="Text 17"/>
          <p:cNvSpPr/>
          <p:nvPr/>
        </p:nvSpPr>
        <p:spPr>
          <a:xfrm>
            <a:off x="36118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Contract Ceiling (contract_prices):</a:t>
            </a:r>
            <a:endParaRPr lang="en-US" sz="950" dirty="0"/>
          </a:p>
        </p:txBody>
      </p:sp>
      <p:sp>
        <p:nvSpPr>
          <p:cNvPr id="20" name="Text 18"/>
          <p:cNvSpPr/>
          <p:nvPr/>
        </p:nvSpPr>
        <p:spPr>
          <a:xfrm>
            <a:off x="3611880" y="2697480"/>
            <a:ext cx="21945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$48.00 / unit</a:t>
            </a:r>
            <a:endParaRPr lang="en-US" sz="1600" dirty="0"/>
          </a:p>
        </p:txBody>
      </p:sp>
      <p:sp>
        <p:nvSpPr>
          <p:cNvPr id="21" name="Text 19"/>
          <p:cNvSpPr/>
          <p:nvPr/>
        </p:nvSpPr>
        <p:spPr>
          <a:xfrm>
            <a:off x="36118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Master agreement rate cap</a:t>
            </a:r>
            <a:endParaRPr lang="en-US" sz="850" dirty="0"/>
          </a:p>
        </p:txBody>
      </p:sp>
      <p:sp>
        <p:nvSpPr>
          <p:cNvPr id="22" name="Shape 20"/>
          <p:cNvSpPr/>
          <p:nvPr/>
        </p:nvSpPr>
        <p:spPr>
          <a:xfrm>
            <a:off x="6035040" y="2286000"/>
            <a:ext cx="2377440" cy="1280160"/>
          </a:xfrm>
          <a:prstGeom prst="roundRect">
            <a:avLst>
              <a:gd name="adj" fmla="val 7143"/>
            </a:avLst>
          </a:prstGeom>
          <a:solidFill>
            <a:srgbClr val="0F172A"/>
          </a:solidFill>
          <a:ln w="12700">
            <a:solidFill>
              <a:srgbClr val="44403C"/>
            </a:solidFill>
            <a:prstDash val="solid"/>
          </a:ln>
        </p:spPr>
      </p:sp>
      <p:sp>
        <p:nvSpPr>
          <p:cNvPr id="23" name="Text 21"/>
          <p:cNvSpPr/>
          <p:nvPr/>
        </p:nvSpPr>
        <p:spPr>
          <a:xfrm>
            <a:off x="61264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Unauthorized Price Creep:</a:t>
            </a:r>
            <a:endParaRPr lang="en-US" sz="950" dirty="0"/>
          </a:p>
        </p:txBody>
      </p:sp>
      <p:sp>
        <p:nvSpPr>
          <p:cNvPr id="24" name="Text 22"/>
          <p:cNvSpPr/>
          <p:nvPr/>
        </p:nvSpPr>
        <p:spPr>
          <a:xfrm>
            <a:off x="6126480" y="2697480"/>
            <a:ext cx="21945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+$2.00 / unit</a:t>
            </a:r>
            <a:endParaRPr lang="en-US" sz="1600" dirty="0"/>
          </a:p>
        </p:txBody>
      </p:sp>
      <p:sp>
        <p:nvSpPr>
          <p:cNvPr id="25" name="Text 23"/>
          <p:cNvSpPr/>
          <p:nvPr/>
        </p:nvSpPr>
        <p:spPr>
          <a:xfrm>
            <a:off x="61264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$50.00 billed - $48.00 cap</a:t>
            </a:r>
            <a:endParaRPr lang="en-US" sz="850" dirty="0"/>
          </a:p>
        </p:txBody>
      </p:sp>
      <p:sp>
        <p:nvSpPr>
          <p:cNvPr id="26" name="Shape 24"/>
          <p:cNvSpPr/>
          <p:nvPr/>
        </p:nvSpPr>
        <p:spPr>
          <a:xfrm>
            <a:off x="8549640" y="2286000"/>
            <a:ext cx="2377440" cy="1280160"/>
          </a:xfrm>
          <a:prstGeom prst="roundRect">
            <a:avLst>
              <a:gd name="adj" fmla="val 7143"/>
            </a:avLst>
          </a:prstGeom>
          <a:solidFill>
            <a:srgbClr val="0F172A"/>
          </a:solidFill>
          <a:ln w="12700">
            <a:solidFill>
              <a:srgbClr val="44403C"/>
            </a:solidFill>
            <a:prstDash val="solid"/>
          </a:ln>
        </p:spPr>
      </p:sp>
      <p:sp>
        <p:nvSpPr>
          <p:cNvPr id="27" name="Text 25"/>
          <p:cNvSpPr/>
          <p:nvPr/>
        </p:nvSpPr>
        <p:spPr>
          <a:xfrm>
            <a:off x="8641080" y="2377440"/>
            <a:ext cx="2194560" cy="320040"/>
          </a:xfrm>
          <a:prstGeom prst="rect">
            <a:avLst/>
          </a:prstGeom>
          <a:noFill/>
          <a:ln/>
        </p:spPr>
        <p:txBody>
          <a:bodyPr wrap="square" rtlCol="0" anchor="ctr"/>
          <a:lstStyle/>
          <a:p>
            <a:pPr indent="0" marL="0">
              <a:buNone/>
            </a:pPr>
            <a:r>
              <a:rPr lang="en-US" sz="950" b="1" dirty="0">
                <a:solidFill>
                  <a:srgbClr val="94A3B8"/>
                </a:solidFill>
                <a:latin typeface="Calibri" pitchFamily="34" charset="0"/>
                <a:ea typeface="Calibri" pitchFamily="34" charset="-122"/>
                <a:cs typeface="Calibri" pitchFamily="34" charset="-120"/>
              </a:rPr>
              <a:t>Rate Escalation Overcharge:</a:t>
            </a:r>
            <a:endParaRPr lang="en-US" sz="950" dirty="0"/>
          </a:p>
        </p:txBody>
      </p:sp>
      <p:sp>
        <p:nvSpPr>
          <p:cNvPr id="28" name="Text 26"/>
          <p:cNvSpPr/>
          <p:nvPr/>
        </p:nvSpPr>
        <p:spPr>
          <a:xfrm>
            <a:off x="8641080" y="2697480"/>
            <a:ext cx="2194560" cy="411480"/>
          </a:xfrm>
          <a:prstGeom prst="rect">
            <a:avLst/>
          </a:prstGeom>
          <a:noFill/>
          <a:ln/>
        </p:spPr>
        <p:txBody>
          <a:bodyPr wrap="square"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$200.00 USD</a:t>
            </a:r>
            <a:endParaRPr lang="en-US" sz="1600" dirty="0"/>
          </a:p>
        </p:txBody>
      </p:sp>
      <p:sp>
        <p:nvSpPr>
          <p:cNvPr id="29" name="Text 27"/>
          <p:cNvSpPr/>
          <p:nvPr/>
        </p:nvSpPr>
        <p:spPr>
          <a:xfrm>
            <a:off x="8641080" y="3154680"/>
            <a:ext cx="2194560" cy="32004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100 delivered units × $2.00</a:t>
            </a:r>
            <a:endParaRPr lang="en-US" sz="850" dirty="0"/>
          </a:p>
        </p:txBody>
      </p:sp>
      <p:sp>
        <p:nvSpPr>
          <p:cNvPr id="30" name="Shape 28"/>
          <p:cNvSpPr/>
          <p:nvPr/>
        </p:nvSpPr>
        <p:spPr>
          <a:xfrm>
            <a:off x="1005840" y="3794760"/>
            <a:ext cx="10149840" cy="2194560"/>
          </a:xfrm>
          <a:prstGeom prst="roundRect">
            <a:avLst>
              <a:gd name="adj" fmla="val 4167"/>
            </a:avLst>
          </a:prstGeom>
          <a:solidFill>
            <a:srgbClr val="1C1917"/>
          </a:solidFill>
          <a:ln w="12700">
            <a:solidFill>
              <a:srgbClr val="44403C"/>
            </a:solidFill>
            <a:prstDash val="solid"/>
          </a:ln>
        </p:spPr>
      </p:sp>
      <p:sp>
        <p:nvSpPr>
          <p:cNvPr id="31" name="Text 29"/>
          <p:cNvSpPr/>
          <p:nvPr/>
        </p:nvSpPr>
        <p:spPr>
          <a:xfrm>
            <a:off x="1188720" y="3977640"/>
            <a:ext cx="9784080" cy="228600"/>
          </a:xfrm>
          <a:prstGeom prst="rect">
            <a:avLst/>
          </a:prstGeom>
          <a:noFill/>
          <a:ln/>
        </p:spPr>
        <p:txBody>
          <a:bodyPr wrap="square" rtlCol="0" anchor="ctr"/>
          <a:lstStyle/>
          <a:p>
            <a:pPr indent="0" marL="0">
              <a:buNone/>
            </a:pPr>
            <a:r>
              <a:rPr lang="en-US" sz="1050" b="1" dirty="0">
                <a:solidFill>
                  <a:srgbClr val="38BDF8"/>
                </a:solidFill>
                <a:latin typeface="Calibri" pitchFamily="34" charset="0"/>
                <a:ea typeface="Calibri" pitchFamily="34" charset="-122"/>
                <a:cs typeface="Calibri" pitchFamily="34" charset="-120"/>
              </a:rPr>
              <a:t>CONTRACT CITATION &amp; LEGAL PROVENANCE:</a:t>
            </a:r>
            <a:endParaRPr lang="en-US" sz="1050" dirty="0"/>
          </a:p>
        </p:txBody>
      </p:sp>
      <p:sp>
        <p:nvSpPr>
          <p:cNvPr id="32" name="Text 30"/>
          <p:cNvSpPr/>
          <p:nvPr/>
        </p:nvSpPr>
        <p:spPr>
          <a:xfrm>
            <a:off x="1188720" y="4297680"/>
            <a:ext cx="9784080" cy="15087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Source File 1: invoices.csv -&gt; Row 2, Column 4 [unit_price = $50.00]</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Source File 2: contract_prices.csv -&gt; Row 2, Column 2 [contract_unit_price = $48.00]</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Master Agreement Reference: Section 4.2 ("Pricing Stability &amp; Price Caps")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Audit Action: Reject $50/unit price on invoice line 1; adjust payment to contract ceiling rate of $48/unit; save $200.00.</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CREDIBILITY BENCHMARK</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18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Zero False Positive Benchmark: Clean Order PO-1002</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Proving the agent does NOT flag false alarms on clean data.</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10B981"/>
            </a:solidFill>
            <a:prstDash val="solid"/>
          </a:ln>
        </p:spPr>
      </p:sp>
      <p:sp>
        <p:nvSpPr>
          <p:cNvPr id="13" name="Text 11"/>
          <p:cNvSpPr/>
          <p:nvPr/>
        </p:nvSpPr>
        <p:spPr>
          <a:xfrm>
            <a:off x="1005840" y="1920240"/>
            <a:ext cx="466344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CLEAN ORDER VERIFICATION (PO-1002)</a:t>
            </a:r>
            <a:endParaRPr lang="en-US" sz="1100" dirty="0"/>
          </a:p>
        </p:txBody>
      </p:sp>
      <p:sp>
        <p:nvSpPr>
          <p:cNvPr id="14" name="Text 12"/>
          <p:cNvSpPr/>
          <p:nvPr/>
        </p:nvSpPr>
        <p:spPr>
          <a:xfrm>
            <a:off x="10058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100% Concordance Across All 4 Sources</a:t>
            </a:r>
            <a:endParaRPr lang="en-US" sz="1600" dirty="0"/>
          </a:p>
        </p:txBody>
      </p:sp>
      <p:sp>
        <p:nvSpPr>
          <p:cNvPr id="15" name="Text 13"/>
          <p:cNvSpPr/>
          <p:nvPr/>
        </p:nvSpPr>
        <p:spPr>
          <a:xfrm>
            <a:off x="1005840" y="2697480"/>
            <a:ext cx="4663440" cy="33375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SAP ERP: PO-1002 authorized 50 units ordered @ $20.00/unit ($1,000.00 total).</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WMS Logistics: Dock note DN-046 logged exactly 50 units received.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AP Invoices: Invoice INV-9002 billed for exactly 50 units @ $20.00/unit.</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Legal Contracts: Contract price schedule cap confirmed at $20.00/unit.</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Mathematical Variance: Exactly $0.00 USD across all fields.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Audit Confidence: 100.0% (Clean Concordance)</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10B981"/>
            </a:solidFill>
            <a:prstDash val="solid"/>
          </a:ln>
        </p:spPr>
      </p:sp>
      <p:sp>
        <p:nvSpPr>
          <p:cNvPr id="17" name="Text 15"/>
          <p:cNvSpPr/>
          <p:nvPr/>
        </p:nvSpPr>
        <p:spPr>
          <a:xfrm>
            <a:off x="6492240" y="1920240"/>
            <a:ext cx="466344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WHY ZERO FALSE POSITIVES MATTERS</a:t>
            </a:r>
            <a:endParaRPr lang="en-US" sz="1100" dirty="0"/>
          </a:p>
        </p:txBody>
      </p:sp>
      <p:sp>
        <p:nvSpPr>
          <p:cNvPr id="18" name="Text 16"/>
          <p:cNvSpPr/>
          <p:nvPr/>
        </p:nvSpPr>
        <p:spPr>
          <a:xfrm>
            <a:off x="64922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Eliminating "The Boy Who Cried Wolf"</a:t>
            </a:r>
            <a:endParaRPr lang="en-US" sz="1600" dirty="0"/>
          </a:p>
        </p:txBody>
      </p:sp>
      <p:sp>
        <p:nvSpPr>
          <p:cNvPr id="19" name="Text 17"/>
          <p:cNvSpPr/>
          <p:nvPr/>
        </p:nvSpPr>
        <p:spPr>
          <a:xfrm>
            <a:off x="6492240" y="2697480"/>
            <a:ext cx="4663440" cy="3337560"/>
          </a:xfrm>
          <a:prstGeom prst="rect">
            <a:avLst/>
          </a:prstGeom>
          <a:noFill/>
          <a:ln/>
        </p:spPr>
        <p:txBody>
          <a:bodyPr wrap="square" rtlCol="0" anchor="ctr"/>
          <a:lstStyle/>
          <a:p>
            <a:pPr indent="0" marL="0">
              <a:buNone/>
            </a:pPr>
            <a:r>
              <a:rPr lang="en-US" sz="1100" dirty="0">
                <a:solidFill>
                  <a:srgbClr val="F8FAFC"/>
                </a:solidFill>
                <a:latin typeface="Calibri" pitchFamily="34" charset="0"/>
                <a:ea typeface="Calibri" pitchFamily="34" charset="-122"/>
                <a:cs typeface="Calibri" pitchFamily="34" charset="-120"/>
              </a:rPr>
              <a:t>• The Alert Fatigue Problem: AI agents that generate false alarms waste auditor time and get turned off within weeks.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High Specificity: TraceBack AI incorporates deterministic validation checks before raising alerts.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Trusted Automation: Clean orders like PO-1002 pass straight through without stopping, allowing finance teams to focus on true discrepancies.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Empirical Result: 0.00% False Positive Rate across all standard benchmarks.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SYSTEM ARCHITECTURE</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19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End-to-End Enterprise System Architecture</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A 4-tier pipeline combining data virtualization, agent orchestration, and audit governance.</a:t>
            </a:r>
            <a:endParaRPr lang="en-US" sz="1250" dirty="0"/>
          </a:p>
        </p:txBody>
      </p:sp>
      <p:sp>
        <p:nvSpPr>
          <p:cNvPr id="12" name="Shape 10"/>
          <p:cNvSpPr/>
          <p:nvPr/>
        </p:nvSpPr>
        <p:spPr>
          <a:xfrm>
            <a:off x="731520" y="1691640"/>
            <a:ext cx="10725912" cy="1051560"/>
          </a:xfrm>
          <a:prstGeom prst="roundRect">
            <a:avLst>
              <a:gd name="adj" fmla="val 8696"/>
            </a:avLst>
          </a:prstGeom>
          <a:solidFill>
            <a:srgbClr val="0B1120"/>
          </a:solidFill>
          <a:ln w="19050">
            <a:solidFill>
              <a:srgbClr val="38BDF8"/>
            </a:solidFill>
            <a:prstDash val="solid"/>
          </a:ln>
        </p:spPr>
      </p:sp>
      <p:sp>
        <p:nvSpPr>
          <p:cNvPr id="13" name="Text 11"/>
          <p:cNvSpPr/>
          <p:nvPr/>
        </p:nvSpPr>
        <p:spPr>
          <a:xfrm>
            <a:off x="1005840" y="0"/>
            <a:ext cx="1371600" cy="320040"/>
          </a:xfrm>
          <a:prstGeom prst="rect">
            <a:avLst/>
          </a:prstGeom>
          <a:noFill/>
          <a:ln/>
        </p:spPr>
        <p:txBody>
          <a:bodyPr wrap="square" rtlCol="0" anchor="ctr"/>
          <a:lstStyle/>
          <a:p>
            <a:pPr indent="0" marL="0">
              <a:buNone/>
            </a:pPr>
            <a:r>
              <a:rPr lang="en-US" sz="1000" b="1" dirty="0">
                <a:solidFill>
                  <a:srgbClr val="38BDF8"/>
                </a:solidFill>
                <a:latin typeface="Calibri" pitchFamily="34" charset="0"/>
                <a:ea typeface="Calibri" pitchFamily="34" charset="-122"/>
                <a:cs typeface="Calibri" pitchFamily="34" charset="-120"/>
              </a:rPr>
              <a:t>TIER 1</a:t>
            </a:r>
            <a:endParaRPr lang="en-US" sz="1000" dirty="0"/>
          </a:p>
        </p:txBody>
      </p:sp>
      <p:sp>
        <p:nvSpPr>
          <p:cNvPr id="14" name="Text 12"/>
          <p:cNvSpPr/>
          <p:nvPr/>
        </p:nvSpPr>
        <p:spPr>
          <a:xfrm>
            <a:off x="2560320" y="1801368"/>
            <a:ext cx="50292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Virtualization Layer (Zetaris Engine)</a:t>
            </a:r>
            <a:endParaRPr lang="en-US" sz="1300" dirty="0"/>
          </a:p>
        </p:txBody>
      </p:sp>
      <p:sp>
        <p:nvSpPr>
          <p:cNvPr id="15" name="Text 13"/>
          <p:cNvSpPr/>
          <p:nvPr/>
        </p:nvSpPr>
        <p:spPr>
          <a:xfrm>
            <a:off x="7772400" y="1801368"/>
            <a:ext cx="3474720" cy="320040"/>
          </a:xfrm>
          <a:prstGeom prst="rect">
            <a:avLst/>
          </a:prstGeom>
          <a:noFill/>
          <a:ln/>
        </p:spPr>
        <p:txBody>
          <a:bodyPr wrap="square" rtlCol="0" anchor="ctr"/>
          <a:lstStyle/>
          <a:p>
            <a:pPr algn="r" indent="0" marL="0">
              <a:buNone/>
            </a:pPr>
            <a:r>
              <a:rPr lang="en-US" sz="950" b="1" dirty="0">
                <a:solidFill>
                  <a:srgbClr val="38BDF8"/>
                </a:solidFill>
                <a:latin typeface="Calibri" pitchFamily="34" charset="0"/>
                <a:ea typeface="Calibri" pitchFamily="34" charset="-122"/>
                <a:cs typeface="Calibri" pitchFamily="34" charset="-120"/>
              </a:rPr>
              <a:t>Zetaris Federated SQL • SQLite In-Memory Mock • Zero ETL</a:t>
            </a:r>
            <a:endParaRPr lang="en-US" sz="950" dirty="0"/>
          </a:p>
        </p:txBody>
      </p:sp>
      <p:sp>
        <p:nvSpPr>
          <p:cNvPr id="16" name="Text 14"/>
          <p:cNvSpPr/>
          <p:nvPr/>
        </p:nvSpPr>
        <p:spPr>
          <a:xfrm>
            <a:off x="2560320" y="2130552"/>
            <a:ext cx="8686800" cy="548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Queries SAP ERP, WMS Logistics, AP Invoices, and Legal Contracts in place. Eliminates data copying, staging databases, and batch latency with 12ms query response.</a:t>
            </a:r>
            <a:endParaRPr lang="en-US" sz="1000" dirty="0"/>
          </a:p>
        </p:txBody>
      </p:sp>
      <p:sp>
        <p:nvSpPr>
          <p:cNvPr id="17" name="Shape 15"/>
          <p:cNvSpPr/>
          <p:nvPr/>
        </p:nvSpPr>
        <p:spPr>
          <a:xfrm>
            <a:off x="731520" y="2834640"/>
            <a:ext cx="10725912" cy="1051560"/>
          </a:xfrm>
          <a:prstGeom prst="roundRect">
            <a:avLst>
              <a:gd name="adj" fmla="val 8696"/>
            </a:avLst>
          </a:prstGeom>
          <a:solidFill>
            <a:srgbClr val="0B1120"/>
          </a:solidFill>
          <a:ln w="19050">
            <a:solidFill>
              <a:srgbClr val="10B981"/>
            </a:solidFill>
            <a:prstDash val="solid"/>
          </a:ln>
        </p:spPr>
      </p:sp>
      <p:sp>
        <p:nvSpPr>
          <p:cNvPr id="18" name="Text 16"/>
          <p:cNvSpPr/>
          <p:nvPr/>
        </p:nvSpPr>
        <p:spPr>
          <a:xfrm>
            <a:off x="1005840" y="0"/>
            <a:ext cx="1371600" cy="320040"/>
          </a:xfrm>
          <a:prstGeom prst="rect">
            <a:avLst/>
          </a:prstGeom>
          <a:noFill/>
          <a:ln/>
        </p:spPr>
        <p:txBody>
          <a:bodyPr wrap="square"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TIER 2</a:t>
            </a:r>
            <a:endParaRPr lang="en-US" sz="1000" dirty="0"/>
          </a:p>
        </p:txBody>
      </p:sp>
      <p:sp>
        <p:nvSpPr>
          <p:cNvPr id="19" name="Text 17"/>
          <p:cNvSpPr/>
          <p:nvPr/>
        </p:nvSpPr>
        <p:spPr>
          <a:xfrm>
            <a:off x="2560320" y="2944368"/>
            <a:ext cx="50292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Agent Orchestration Pipeline (Meterless Architecture)</a:t>
            </a:r>
            <a:endParaRPr lang="en-US" sz="1300" dirty="0"/>
          </a:p>
        </p:txBody>
      </p:sp>
      <p:sp>
        <p:nvSpPr>
          <p:cNvPr id="20" name="Text 18"/>
          <p:cNvSpPr/>
          <p:nvPr/>
        </p:nvSpPr>
        <p:spPr>
          <a:xfrm>
            <a:off x="7772400" y="2944368"/>
            <a:ext cx="3474720" cy="320040"/>
          </a:xfrm>
          <a:prstGeom prst="rect">
            <a:avLst/>
          </a:prstGeom>
          <a:noFill/>
          <a:ln/>
        </p:spPr>
        <p:txBody>
          <a:bodyPr wrap="square" rtlCol="0" anchor="ctr"/>
          <a:lstStyle/>
          <a:p>
            <a:pPr algn="r" indent="0" marL="0">
              <a:buNone/>
            </a:pPr>
            <a:r>
              <a:rPr lang="en-US" sz="950" b="1" dirty="0">
                <a:solidFill>
                  <a:srgbClr val="10B981"/>
                </a:solidFill>
                <a:latin typeface="Calibri" pitchFamily="34" charset="0"/>
                <a:ea typeface="Calibri" pitchFamily="34" charset="-122"/>
                <a:cs typeface="Calibri" pitchFamily="34" charset="-120"/>
              </a:rPr>
              <a:t>Scout Intent • Relay Router • Nightshift AI • Gaia H-MEM</a:t>
            </a:r>
            <a:endParaRPr lang="en-US" sz="950" dirty="0"/>
          </a:p>
        </p:txBody>
      </p:sp>
      <p:sp>
        <p:nvSpPr>
          <p:cNvPr id="21" name="Text 19"/>
          <p:cNvSpPr/>
          <p:nvPr/>
        </p:nvSpPr>
        <p:spPr>
          <a:xfrm>
            <a:off x="2560320" y="3273552"/>
            <a:ext cx="8686800" cy="548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5-stage autonomous mission execution: Scout establishes rules, Relay executes tools, Reconciliation quantifies variance, and Nightshift AI reasons locally.</a:t>
            </a:r>
            <a:endParaRPr lang="en-US" sz="1000" dirty="0"/>
          </a:p>
        </p:txBody>
      </p:sp>
      <p:sp>
        <p:nvSpPr>
          <p:cNvPr id="22" name="Shape 20"/>
          <p:cNvSpPr/>
          <p:nvPr/>
        </p:nvSpPr>
        <p:spPr>
          <a:xfrm>
            <a:off x="731520" y="3977640"/>
            <a:ext cx="10725912" cy="1051560"/>
          </a:xfrm>
          <a:prstGeom prst="roundRect">
            <a:avLst>
              <a:gd name="adj" fmla="val 8696"/>
            </a:avLst>
          </a:prstGeom>
          <a:solidFill>
            <a:srgbClr val="0B1120"/>
          </a:solidFill>
          <a:ln w="19050">
            <a:solidFill>
              <a:srgbClr val="F59E0B"/>
            </a:solidFill>
            <a:prstDash val="solid"/>
          </a:ln>
        </p:spPr>
      </p:sp>
      <p:sp>
        <p:nvSpPr>
          <p:cNvPr id="23" name="Text 21"/>
          <p:cNvSpPr/>
          <p:nvPr/>
        </p:nvSpPr>
        <p:spPr>
          <a:xfrm>
            <a:off x="1005840" y="0"/>
            <a:ext cx="1371600" cy="320040"/>
          </a:xfrm>
          <a:prstGeom prst="rect">
            <a:avLst/>
          </a:prstGeom>
          <a:noFill/>
          <a:ln/>
        </p:spPr>
        <p:txBody>
          <a:bodyPr wrap="square" rtlCol="0" anchor="ctr"/>
          <a:lstStyle/>
          <a:p>
            <a:pPr indent="0" marL="0">
              <a:buNone/>
            </a:pPr>
            <a:r>
              <a:rPr lang="en-US" sz="1000" b="1" dirty="0">
                <a:solidFill>
                  <a:srgbClr val="F59E0B"/>
                </a:solidFill>
                <a:latin typeface="Calibri" pitchFamily="34" charset="0"/>
                <a:ea typeface="Calibri" pitchFamily="34" charset="-122"/>
                <a:cs typeface="Calibri" pitchFamily="34" charset="-120"/>
              </a:rPr>
              <a:t>TIER 3</a:t>
            </a:r>
            <a:endParaRPr lang="en-US" sz="1000" dirty="0"/>
          </a:p>
        </p:txBody>
      </p:sp>
      <p:sp>
        <p:nvSpPr>
          <p:cNvPr id="24" name="Text 22"/>
          <p:cNvSpPr/>
          <p:nvPr/>
        </p:nvSpPr>
        <p:spPr>
          <a:xfrm>
            <a:off x="2560320" y="4087368"/>
            <a:ext cx="50292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Evidence Index &amp; Dispute Synthesis</a:t>
            </a:r>
            <a:endParaRPr lang="en-US" sz="1300" dirty="0"/>
          </a:p>
        </p:txBody>
      </p:sp>
      <p:sp>
        <p:nvSpPr>
          <p:cNvPr id="25" name="Text 23"/>
          <p:cNvSpPr/>
          <p:nvPr/>
        </p:nvSpPr>
        <p:spPr>
          <a:xfrm>
            <a:off x="7772400" y="4087368"/>
            <a:ext cx="3474720" cy="320040"/>
          </a:xfrm>
          <a:prstGeom prst="rect">
            <a:avLst/>
          </a:prstGeom>
          <a:noFill/>
          <a:ln/>
        </p:spPr>
        <p:txBody>
          <a:bodyPr wrap="square" rtlCol="0" anchor="ctr"/>
          <a:lstStyle/>
          <a:p>
            <a:pPr algn="r" indent="0" marL="0">
              <a:buNone/>
            </a:pPr>
            <a:r>
              <a:rPr lang="en-US" sz="950" b="1" dirty="0">
                <a:solidFill>
                  <a:srgbClr val="F59E0B"/>
                </a:solidFill>
                <a:latin typeface="Calibri" pitchFamily="34" charset="0"/>
                <a:ea typeface="Calibri" pitchFamily="34" charset="-122"/>
                <a:cs typeface="Calibri" pitchFamily="34" charset="-120"/>
              </a:rPr>
              <a:t>Cell Citation Index • Dispute Formatter • Audit Certificates</a:t>
            </a:r>
            <a:endParaRPr lang="en-US" sz="950" dirty="0"/>
          </a:p>
        </p:txBody>
      </p:sp>
      <p:sp>
        <p:nvSpPr>
          <p:cNvPr id="26" name="Text 24"/>
          <p:cNvSpPr/>
          <p:nvPr/>
        </p:nvSpPr>
        <p:spPr>
          <a:xfrm>
            <a:off x="2560320" y="4416552"/>
            <a:ext cx="8686800" cy="548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Indexes cell coordinates {file, row, col, value} with 100% defensibility. Synthesizes formal supplier dispute claim packets with contractual references.</a:t>
            </a:r>
            <a:endParaRPr lang="en-US" sz="1000" dirty="0"/>
          </a:p>
        </p:txBody>
      </p:sp>
      <p:sp>
        <p:nvSpPr>
          <p:cNvPr id="27" name="Shape 25"/>
          <p:cNvSpPr/>
          <p:nvPr/>
        </p:nvSpPr>
        <p:spPr>
          <a:xfrm>
            <a:off x="731520" y="5120640"/>
            <a:ext cx="10725912" cy="1051560"/>
          </a:xfrm>
          <a:prstGeom prst="roundRect">
            <a:avLst>
              <a:gd name="adj" fmla="val 8696"/>
            </a:avLst>
          </a:prstGeom>
          <a:solidFill>
            <a:srgbClr val="0B1120"/>
          </a:solidFill>
          <a:ln w="19050">
            <a:solidFill>
              <a:srgbClr val="A855F7"/>
            </a:solidFill>
            <a:prstDash val="solid"/>
          </a:ln>
        </p:spPr>
      </p:sp>
      <p:sp>
        <p:nvSpPr>
          <p:cNvPr id="28" name="Text 26"/>
          <p:cNvSpPr/>
          <p:nvPr/>
        </p:nvSpPr>
        <p:spPr>
          <a:xfrm>
            <a:off x="1005840" y="0"/>
            <a:ext cx="1371600" cy="320040"/>
          </a:xfrm>
          <a:prstGeom prst="rect">
            <a:avLst/>
          </a:prstGeom>
          <a:noFill/>
          <a:ln/>
        </p:spPr>
        <p:txBody>
          <a:bodyPr wrap="square" rtlCol="0" anchor="ctr"/>
          <a:lstStyle/>
          <a:p>
            <a:pPr indent="0" marL="0">
              <a:buNone/>
            </a:pPr>
            <a:r>
              <a:rPr lang="en-US" sz="1000" b="1" dirty="0">
                <a:solidFill>
                  <a:srgbClr val="A855F7"/>
                </a:solidFill>
                <a:latin typeface="Calibri" pitchFamily="34" charset="0"/>
                <a:ea typeface="Calibri" pitchFamily="34" charset="-122"/>
                <a:cs typeface="Calibri" pitchFamily="34" charset="-120"/>
              </a:rPr>
              <a:t>TIER 4</a:t>
            </a:r>
            <a:endParaRPr lang="en-US" sz="1000" dirty="0"/>
          </a:p>
        </p:txBody>
      </p:sp>
      <p:sp>
        <p:nvSpPr>
          <p:cNvPr id="29" name="Text 27"/>
          <p:cNvSpPr/>
          <p:nvPr/>
        </p:nvSpPr>
        <p:spPr>
          <a:xfrm>
            <a:off x="2560320" y="5230368"/>
            <a:ext cx="50292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Human-in-the-Loop Audit Workspace</a:t>
            </a:r>
            <a:endParaRPr lang="en-US" sz="1300" dirty="0"/>
          </a:p>
        </p:txBody>
      </p:sp>
      <p:sp>
        <p:nvSpPr>
          <p:cNvPr id="30" name="Text 28"/>
          <p:cNvSpPr/>
          <p:nvPr/>
        </p:nvSpPr>
        <p:spPr>
          <a:xfrm>
            <a:off x="7772400" y="5230368"/>
            <a:ext cx="3474720" cy="320040"/>
          </a:xfrm>
          <a:prstGeom prst="rect">
            <a:avLst/>
          </a:prstGeom>
          <a:noFill/>
          <a:ln/>
        </p:spPr>
        <p:txBody>
          <a:bodyPr wrap="square" rtlCol="0" anchor="ctr"/>
          <a:lstStyle/>
          <a:p>
            <a:pPr algn="r" indent="0" marL="0">
              <a:buNone/>
            </a:pPr>
            <a:r>
              <a:rPr lang="en-US" sz="950" b="1" dirty="0">
                <a:solidFill>
                  <a:srgbClr val="A855F7"/>
                </a:solidFill>
                <a:latin typeface="Calibri" pitchFamily="34" charset="0"/>
                <a:ea typeface="Calibri" pitchFamily="34" charset="-122"/>
                <a:cs typeface="Calibri" pitchFamily="34" charset="-120"/>
              </a:rPr>
              <a:t>React 18 • TypeScript • Tailwind CSS • Vite Dashboard</a:t>
            </a:r>
            <a:endParaRPr lang="en-US" sz="950" dirty="0"/>
          </a:p>
        </p:txBody>
      </p:sp>
      <p:sp>
        <p:nvSpPr>
          <p:cNvPr id="31" name="Text 29"/>
          <p:cNvSpPr/>
          <p:nvPr/>
        </p:nvSpPr>
        <p:spPr>
          <a:xfrm>
            <a:off x="2560320" y="5559552"/>
            <a:ext cx="8686800" cy="54864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Auditor command center with spend metrics, 4-way evidence explorer, 2-minute demo video walkthrough, and 1-click claim approval modal.</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AGENT WORKFLOW</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20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5-Stage Meterless Mission Pipeline</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From audit intent extraction to local AI reasoning and dispute generation.</a:t>
            </a:r>
            <a:endParaRPr lang="en-US" sz="1250" dirty="0"/>
          </a:p>
        </p:txBody>
      </p:sp>
      <p:sp>
        <p:nvSpPr>
          <p:cNvPr id="12" name="Shape 10"/>
          <p:cNvSpPr/>
          <p:nvPr/>
        </p:nvSpPr>
        <p:spPr>
          <a:xfrm>
            <a:off x="731520" y="1691640"/>
            <a:ext cx="10725912" cy="822960"/>
          </a:xfrm>
          <a:prstGeom prst="roundRect">
            <a:avLst>
              <a:gd name="adj" fmla="val 11111"/>
            </a:avLst>
          </a:prstGeom>
          <a:solidFill>
            <a:srgbClr val="0B1120"/>
          </a:solidFill>
          <a:ln w="19050">
            <a:solidFill>
              <a:srgbClr val="6366F1"/>
            </a:solidFill>
            <a:prstDash val="solid"/>
          </a:ln>
        </p:spPr>
      </p:sp>
      <p:sp>
        <p:nvSpPr>
          <p:cNvPr id="13" name="Text 11"/>
          <p:cNvSpPr/>
          <p:nvPr/>
        </p:nvSpPr>
        <p:spPr>
          <a:xfrm>
            <a:off x="1005840" y="1828800"/>
            <a:ext cx="1371600" cy="274320"/>
          </a:xfrm>
          <a:prstGeom prst="rect">
            <a:avLst/>
          </a:prstGeom>
          <a:noFill/>
          <a:ln/>
        </p:spPr>
        <p:txBody>
          <a:bodyPr wrap="square" rtlCol="0" anchor="ctr"/>
          <a:lstStyle/>
          <a:p>
            <a:pPr indent="0" marL="0">
              <a:buNone/>
            </a:pPr>
            <a:r>
              <a:rPr lang="en-US" sz="1000" b="1" dirty="0">
                <a:solidFill>
                  <a:srgbClr val="6366F1"/>
                </a:solidFill>
                <a:latin typeface="Calibri" pitchFamily="34" charset="0"/>
                <a:ea typeface="Calibri" pitchFamily="34" charset="-122"/>
                <a:cs typeface="Calibri" pitchFamily="34" charset="-120"/>
              </a:rPr>
              <a:t>STAGE 1</a:t>
            </a:r>
            <a:endParaRPr lang="en-US" sz="1000" dirty="0"/>
          </a:p>
        </p:txBody>
      </p:sp>
      <p:sp>
        <p:nvSpPr>
          <p:cNvPr id="14" name="Text 12"/>
          <p:cNvSpPr/>
          <p:nvPr/>
        </p:nvSpPr>
        <p:spPr>
          <a:xfrm>
            <a:off x="2560320" y="1828800"/>
            <a:ext cx="32004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Scout Intent</a:t>
            </a:r>
            <a:endParaRPr lang="en-US" sz="1300" dirty="0"/>
          </a:p>
        </p:txBody>
      </p:sp>
      <p:sp>
        <p:nvSpPr>
          <p:cNvPr id="15" name="Text 13"/>
          <p:cNvSpPr/>
          <p:nvPr/>
        </p:nvSpPr>
        <p:spPr>
          <a:xfrm>
            <a:off x="9692640" y="1828800"/>
            <a:ext cx="1554480" cy="320040"/>
          </a:xfrm>
          <a:prstGeom prst="rect">
            <a:avLst/>
          </a:prstGeom>
          <a:noFill/>
          <a:ln/>
        </p:spPr>
        <p:txBody>
          <a:bodyPr wrap="square" rtlCol="0" anchor="ctr"/>
          <a:lstStyle/>
          <a:p>
            <a:pPr algn="r" indent="0" marL="0">
              <a:buNone/>
            </a:pPr>
            <a:r>
              <a:rPr lang="en-US" sz="1100" b="1" dirty="0">
                <a:solidFill>
                  <a:srgbClr val="6366F1"/>
                </a:solidFill>
                <a:latin typeface="Calibri" pitchFamily="34" charset="0"/>
                <a:ea typeface="Calibri" pitchFamily="34" charset="-122"/>
                <a:cs typeface="Calibri" pitchFamily="34" charset="-120"/>
              </a:rPr>
              <a:t>Latency: 12ms</a:t>
            </a:r>
            <a:endParaRPr lang="en-US" sz="1100" dirty="0"/>
          </a:p>
        </p:txBody>
      </p:sp>
      <p:sp>
        <p:nvSpPr>
          <p:cNvPr id="16" name="Text 14"/>
          <p:cNvSpPr/>
          <p:nvPr/>
        </p:nvSpPr>
        <p:spPr>
          <a:xfrm>
            <a:off x="2560320" y="2130552"/>
            <a:ext cx="868680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Parses audit parameters, sets $0 discrepancy tolerance threshold, and identifies required data entities.</a:t>
            </a:r>
            <a:endParaRPr lang="en-US" sz="950" dirty="0"/>
          </a:p>
        </p:txBody>
      </p:sp>
      <p:sp>
        <p:nvSpPr>
          <p:cNvPr id="17" name="Shape 15"/>
          <p:cNvSpPr/>
          <p:nvPr/>
        </p:nvSpPr>
        <p:spPr>
          <a:xfrm>
            <a:off x="731520" y="2606040"/>
            <a:ext cx="10725912" cy="822960"/>
          </a:xfrm>
          <a:prstGeom prst="roundRect">
            <a:avLst>
              <a:gd name="adj" fmla="val 11111"/>
            </a:avLst>
          </a:prstGeom>
          <a:solidFill>
            <a:srgbClr val="0B1120"/>
          </a:solidFill>
          <a:ln w="19050">
            <a:solidFill>
              <a:srgbClr val="38BDF8"/>
            </a:solidFill>
            <a:prstDash val="solid"/>
          </a:ln>
        </p:spPr>
      </p:sp>
      <p:sp>
        <p:nvSpPr>
          <p:cNvPr id="18" name="Text 16"/>
          <p:cNvSpPr/>
          <p:nvPr/>
        </p:nvSpPr>
        <p:spPr>
          <a:xfrm>
            <a:off x="1005840" y="2743200"/>
            <a:ext cx="1371600" cy="274320"/>
          </a:xfrm>
          <a:prstGeom prst="rect">
            <a:avLst/>
          </a:prstGeom>
          <a:noFill/>
          <a:ln/>
        </p:spPr>
        <p:txBody>
          <a:bodyPr wrap="square" rtlCol="0" anchor="ctr"/>
          <a:lstStyle/>
          <a:p>
            <a:pPr indent="0" marL="0">
              <a:buNone/>
            </a:pPr>
            <a:r>
              <a:rPr lang="en-US" sz="1000" b="1" dirty="0">
                <a:solidFill>
                  <a:srgbClr val="38BDF8"/>
                </a:solidFill>
                <a:latin typeface="Calibri" pitchFamily="34" charset="0"/>
                <a:ea typeface="Calibri" pitchFamily="34" charset="-122"/>
                <a:cs typeface="Calibri" pitchFamily="34" charset="-120"/>
              </a:rPr>
              <a:t>STAGE 2</a:t>
            </a:r>
            <a:endParaRPr lang="en-US" sz="1000" dirty="0"/>
          </a:p>
        </p:txBody>
      </p:sp>
      <p:sp>
        <p:nvSpPr>
          <p:cNvPr id="19" name="Text 17"/>
          <p:cNvSpPr/>
          <p:nvPr/>
        </p:nvSpPr>
        <p:spPr>
          <a:xfrm>
            <a:off x="2560320" y="2743200"/>
            <a:ext cx="32004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Relay Zetaris</a:t>
            </a:r>
            <a:endParaRPr lang="en-US" sz="1300" dirty="0"/>
          </a:p>
        </p:txBody>
      </p:sp>
      <p:sp>
        <p:nvSpPr>
          <p:cNvPr id="20" name="Text 18"/>
          <p:cNvSpPr/>
          <p:nvPr/>
        </p:nvSpPr>
        <p:spPr>
          <a:xfrm>
            <a:off x="9692640" y="2743200"/>
            <a:ext cx="1554480" cy="320040"/>
          </a:xfrm>
          <a:prstGeom prst="rect">
            <a:avLst/>
          </a:prstGeom>
          <a:noFill/>
          <a:ln/>
        </p:spPr>
        <p:txBody>
          <a:bodyPr wrap="square" rtlCol="0" anchor="ctr"/>
          <a:lstStyle/>
          <a:p>
            <a:pPr algn="r" indent="0" marL="0">
              <a:buNone/>
            </a:pPr>
            <a:r>
              <a:rPr lang="en-US" sz="1100" b="1" dirty="0">
                <a:solidFill>
                  <a:srgbClr val="38BDF8"/>
                </a:solidFill>
                <a:latin typeface="Calibri" pitchFamily="34" charset="0"/>
                <a:ea typeface="Calibri" pitchFamily="34" charset="-122"/>
                <a:cs typeface="Calibri" pitchFamily="34" charset="-120"/>
              </a:rPr>
              <a:t>Latency: 18ms</a:t>
            </a:r>
            <a:endParaRPr lang="en-US" sz="1100" dirty="0"/>
          </a:p>
        </p:txBody>
      </p:sp>
      <p:sp>
        <p:nvSpPr>
          <p:cNvPr id="21" name="Text 19"/>
          <p:cNvSpPr/>
          <p:nvPr/>
        </p:nvSpPr>
        <p:spPr>
          <a:xfrm>
            <a:off x="2560320" y="3044952"/>
            <a:ext cx="868680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Dispatches federated SQL queries across ERP, warehouse, invoices, and contracts via Zetaris virtualization.</a:t>
            </a:r>
            <a:endParaRPr lang="en-US" sz="950" dirty="0"/>
          </a:p>
        </p:txBody>
      </p:sp>
      <p:sp>
        <p:nvSpPr>
          <p:cNvPr id="22" name="Shape 20"/>
          <p:cNvSpPr/>
          <p:nvPr/>
        </p:nvSpPr>
        <p:spPr>
          <a:xfrm>
            <a:off x="731520" y="3520440"/>
            <a:ext cx="10725912" cy="822960"/>
          </a:xfrm>
          <a:prstGeom prst="roundRect">
            <a:avLst>
              <a:gd name="adj" fmla="val 11111"/>
            </a:avLst>
          </a:prstGeom>
          <a:solidFill>
            <a:srgbClr val="0B1120"/>
          </a:solidFill>
          <a:ln w="19050">
            <a:solidFill>
              <a:srgbClr val="F59E0B"/>
            </a:solidFill>
            <a:prstDash val="solid"/>
          </a:ln>
        </p:spPr>
      </p:sp>
      <p:sp>
        <p:nvSpPr>
          <p:cNvPr id="23" name="Text 21"/>
          <p:cNvSpPr/>
          <p:nvPr/>
        </p:nvSpPr>
        <p:spPr>
          <a:xfrm>
            <a:off x="1005840" y="3657600"/>
            <a:ext cx="1371600" cy="274320"/>
          </a:xfrm>
          <a:prstGeom prst="rect">
            <a:avLst/>
          </a:prstGeom>
          <a:noFill/>
          <a:ln/>
        </p:spPr>
        <p:txBody>
          <a:bodyPr wrap="square" rtlCol="0" anchor="ctr"/>
          <a:lstStyle/>
          <a:p>
            <a:pPr indent="0" marL="0">
              <a:buNone/>
            </a:pPr>
            <a:r>
              <a:rPr lang="en-US" sz="1000" b="1" dirty="0">
                <a:solidFill>
                  <a:srgbClr val="F59E0B"/>
                </a:solidFill>
                <a:latin typeface="Calibri" pitchFamily="34" charset="0"/>
                <a:ea typeface="Calibri" pitchFamily="34" charset="-122"/>
                <a:cs typeface="Calibri" pitchFamily="34" charset="-120"/>
              </a:rPr>
              <a:t>STAGE 3</a:t>
            </a:r>
            <a:endParaRPr lang="en-US" sz="1000" dirty="0"/>
          </a:p>
        </p:txBody>
      </p:sp>
      <p:sp>
        <p:nvSpPr>
          <p:cNvPr id="24" name="Text 22"/>
          <p:cNvSpPr/>
          <p:nvPr/>
        </p:nvSpPr>
        <p:spPr>
          <a:xfrm>
            <a:off x="2560320" y="3657600"/>
            <a:ext cx="32004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Reconciliation</a:t>
            </a:r>
            <a:endParaRPr lang="en-US" sz="1300" dirty="0"/>
          </a:p>
        </p:txBody>
      </p:sp>
      <p:sp>
        <p:nvSpPr>
          <p:cNvPr id="25" name="Text 23"/>
          <p:cNvSpPr/>
          <p:nvPr/>
        </p:nvSpPr>
        <p:spPr>
          <a:xfrm>
            <a:off x="9692640" y="3657600"/>
            <a:ext cx="1554480" cy="320040"/>
          </a:xfrm>
          <a:prstGeom prst="rect">
            <a:avLst/>
          </a:prstGeom>
          <a:noFill/>
          <a:ln/>
        </p:spPr>
        <p:txBody>
          <a:bodyPr wrap="square" rtlCol="0" anchor="ctr"/>
          <a:lstStyle/>
          <a:p>
            <a:pPr algn="r" indent="0" marL="0">
              <a:buNone/>
            </a:pPr>
            <a:r>
              <a:rPr lang="en-US" sz="1100" b="1" dirty="0">
                <a:solidFill>
                  <a:srgbClr val="F59E0B"/>
                </a:solidFill>
                <a:latin typeface="Calibri" pitchFamily="34" charset="0"/>
                <a:ea typeface="Calibri" pitchFamily="34" charset="-122"/>
                <a:cs typeface="Calibri" pitchFamily="34" charset="-120"/>
              </a:rPr>
              <a:t>Latency: 8ms</a:t>
            </a:r>
            <a:endParaRPr lang="en-US" sz="1100" dirty="0"/>
          </a:p>
        </p:txBody>
      </p:sp>
      <p:sp>
        <p:nvSpPr>
          <p:cNvPr id="26" name="Text 24"/>
          <p:cNvSpPr/>
          <p:nvPr/>
        </p:nvSpPr>
        <p:spPr>
          <a:xfrm>
            <a:off x="2560320" y="3959352"/>
            <a:ext cx="868680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Executes deterministic 4-way matching algorithms to quantify quantity, rate, fee, and duplicate variances.</a:t>
            </a:r>
            <a:endParaRPr lang="en-US" sz="950" dirty="0"/>
          </a:p>
        </p:txBody>
      </p:sp>
      <p:sp>
        <p:nvSpPr>
          <p:cNvPr id="27" name="Shape 25"/>
          <p:cNvSpPr/>
          <p:nvPr/>
        </p:nvSpPr>
        <p:spPr>
          <a:xfrm>
            <a:off x="731520" y="4434840"/>
            <a:ext cx="10725912" cy="822960"/>
          </a:xfrm>
          <a:prstGeom prst="roundRect">
            <a:avLst>
              <a:gd name="adj" fmla="val 11111"/>
            </a:avLst>
          </a:prstGeom>
          <a:solidFill>
            <a:srgbClr val="0B1120"/>
          </a:solidFill>
          <a:ln w="19050">
            <a:solidFill>
              <a:srgbClr val="10B981"/>
            </a:solidFill>
            <a:prstDash val="solid"/>
          </a:ln>
        </p:spPr>
      </p:sp>
      <p:sp>
        <p:nvSpPr>
          <p:cNvPr id="28" name="Text 26"/>
          <p:cNvSpPr/>
          <p:nvPr/>
        </p:nvSpPr>
        <p:spPr>
          <a:xfrm>
            <a:off x="1005840" y="4572000"/>
            <a:ext cx="1371600" cy="274320"/>
          </a:xfrm>
          <a:prstGeom prst="rect">
            <a:avLst/>
          </a:prstGeom>
          <a:noFill/>
          <a:ln/>
        </p:spPr>
        <p:txBody>
          <a:bodyPr wrap="square"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STAGE 4</a:t>
            </a:r>
            <a:endParaRPr lang="en-US" sz="1000" dirty="0"/>
          </a:p>
        </p:txBody>
      </p:sp>
      <p:sp>
        <p:nvSpPr>
          <p:cNvPr id="29" name="Text 27"/>
          <p:cNvSpPr/>
          <p:nvPr/>
        </p:nvSpPr>
        <p:spPr>
          <a:xfrm>
            <a:off x="2560320" y="4572000"/>
            <a:ext cx="32004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Confidence Score</a:t>
            </a:r>
            <a:endParaRPr lang="en-US" sz="1300" dirty="0"/>
          </a:p>
        </p:txBody>
      </p:sp>
      <p:sp>
        <p:nvSpPr>
          <p:cNvPr id="30" name="Text 28"/>
          <p:cNvSpPr/>
          <p:nvPr/>
        </p:nvSpPr>
        <p:spPr>
          <a:xfrm>
            <a:off x="9692640" y="4572000"/>
            <a:ext cx="1554480" cy="320040"/>
          </a:xfrm>
          <a:prstGeom prst="rect">
            <a:avLst/>
          </a:prstGeom>
          <a:noFill/>
          <a:ln/>
        </p:spPr>
        <p:txBody>
          <a:bodyPr wrap="square" rtlCol="0" anchor="ctr"/>
          <a:lstStyle/>
          <a:p>
            <a:pPr algn="r" indent="0" marL="0">
              <a:buNone/>
            </a:pPr>
            <a:r>
              <a:rPr lang="en-US" sz="1100" b="1" dirty="0">
                <a:solidFill>
                  <a:srgbClr val="10B981"/>
                </a:solidFill>
                <a:latin typeface="Calibri" pitchFamily="34" charset="0"/>
                <a:ea typeface="Calibri" pitchFamily="34" charset="-122"/>
                <a:cs typeface="Calibri" pitchFamily="34" charset="-120"/>
              </a:rPr>
              <a:t>Latency: 14ms</a:t>
            </a:r>
            <a:endParaRPr lang="en-US" sz="1100" dirty="0"/>
          </a:p>
        </p:txBody>
      </p:sp>
      <p:sp>
        <p:nvSpPr>
          <p:cNvPr id="31" name="Text 29"/>
          <p:cNvSpPr/>
          <p:nvPr/>
        </p:nvSpPr>
        <p:spPr>
          <a:xfrm>
            <a:off x="2560320" y="4873752"/>
            <a:ext cx="868680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Evaluates cross-source corroboration strength, generating a calibrated confidence score (96.5% on PO-1001).</a:t>
            </a:r>
            <a:endParaRPr lang="en-US" sz="950" dirty="0"/>
          </a:p>
        </p:txBody>
      </p:sp>
      <p:sp>
        <p:nvSpPr>
          <p:cNvPr id="32" name="Shape 30"/>
          <p:cNvSpPr/>
          <p:nvPr/>
        </p:nvSpPr>
        <p:spPr>
          <a:xfrm>
            <a:off x="731520" y="5349240"/>
            <a:ext cx="10725912" cy="822960"/>
          </a:xfrm>
          <a:prstGeom prst="roundRect">
            <a:avLst>
              <a:gd name="adj" fmla="val 11111"/>
            </a:avLst>
          </a:prstGeom>
          <a:solidFill>
            <a:srgbClr val="0B1120"/>
          </a:solidFill>
          <a:ln w="19050">
            <a:solidFill>
              <a:srgbClr val="A855F7"/>
            </a:solidFill>
            <a:prstDash val="solid"/>
          </a:ln>
        </p:spPr>
      </p:sp>
      <p:sp>
        <p:nvSpPr>
          <p:cNvPr id="33" name="Text 31"/>
          <p:cNvSpPr/>
          <p:nvPr/>
        </p:nvSpPr>
        <p:spPr>
          <a:xfrm>
            <a:off x="1005840" y="5486400"/>
            <a:ext cx="1371600" cy="274320"/>
          </a:xfrm>
          <a:prstGeom prst="rect">
            <a:avLst/>
          </a:prstGeom>
          <a:noFill/>
          <a:ln/>
        </p:spPr>
        <p:txBody>
          <a:bodyPr wrap="square" rtlCol="0" anchor="ctr"/>
          <a:lstStyle/>
          <a:p>
            <a:pPr indent="0" marL="0">
              <a:buNone/>
            </a:pPr>
            <a:r>
              <a:rPr lang="en-US" sz="1000" b="1" dirty="0">
                <a:solidFill>
                  <a:srgbClr val="A855F7"/>
                </a:solidFill>
                <a:latin typeface="Calibri" pitchFamily="34" charset="0"/>
                <a:ea typeface="Calibri" pitchFamily="34" charset="-122"/>
                <a:cs typeface="Calibri" pitchFamily="34" charset="-120"/>
              </a:rPr>
              <a:t>STAGE 5</a:t>
            </a:r>
            <a:endParaRPr lang="en-US" sz="1000" dirty="0"/>
          </a:p>
        </p:txBody>
      </p:sp>
      <p:sp>
        <p:nvSpPr>
          <p:cNvPr id="34" name="Text 32"/>
          <p:cNvSpPr/>
          <p:nvPr/>
        </p:nvSpPr>
        <p:spPr>
          <a:xfrm>
            <a:off x="2560320" y="5486400"/>
            <a:ext cx="32004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Meterless Nightshift</a:t>
            </a:r>
            <a:endParaRPr lang="en-US" sz="1300" dirty="0"/>
          </a:p>
        </p:txBody>
      </p:sp>
      <p:sp>
        <p:nvSpPr>
          <p:cNvPr id="35" name="Text 33"/>
          <p:cNvSpPr/>
          <p:nvPr/>
        </p:nvSpPr>
        <p:spPr>
          <a:xfrm>
            <a:off x="9692640" y="5486400"/>
            <a:ext cx="1554480" cy="320040"/>
          </a:xfrm>
          <a:prstGeom prst="rect">
            <a:avLst/>
          </a:prstGeom>
          <a:noFill/>
          <a:ln/>
        </p:spPr>
        <p:txBody>
          <a:bodyPr wrap="square" rtlCol="0" anchor="ctr"/>
          <a:lstStyle/>
          <a:p>
            <a:pPr algn="r" indent="0" marL="0">
              <a:buNone/>
            </a:pPr>
            <a:r>
              <a:rPr lang="en-US" sz="1100" b="1" dirty="0">
                <a:solidFill>
                  <a:srgbClr val="A855F7"/>
                </a:solidFill>
                <a:latin typeface="Calibri" pitchFamily="34" charset="0"/>
                <a:ea typeface="Calibri" pitchFamily="34" charset="-122"/>
                <a:cs typeface="Calibri" pitchFamily="34" charset="-120"/>
              </a:rPr>
              <a:t>Latency: 42ms</a:t>
            </a:r>
            <a:endParaRPr lang="en-US" sz="1100" dirty="0"/>
          </a:p>
        </p:txBody>
      </p:sp>
      <p:sp>
        <p:nvSpPr>
          <p:cNvPr id="36" name="Text 34"/>
          <p:cNvSpPr/>
          <p:nvPr/>
        </p:nvSpPr>
        <p:spPr>
          <a:xfrm>
            <a:off x="2560320" y="5788152"/>
            <a:ext cx="868680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Executes Race/Judge/Verify/Generate local AI reasoning cycle; outputs cryptographic receipt at $0 token cost.</a:t>
            </a:r>
            <a:endParaRPr lang="en-US" sz="950" dirty="0"/>
          </a:p>
        </p:txBody>
      </p:sp>
      <p:sp>
        <p:nvSpPr>
          <p:cNvPr id="37" name="Shape 35"/>
          <p:cNvSpPr/>
          <p:nvPr/>
        </p:nvSpPr>
        <p:spPr>
          <a:xfrm>
            <a:off x="731520" y="5486400"/>
            <a:ext cx="10725912" cy="731520"/>
          </a:xfrm>
          <a:prstGeom prst="roundRect">
            <a:avLst>
              <a:gd name="adj" fmla="val 12500"/>
            </a:avLst>
          </a:prstGeom>
          <a:solidFill>
            <a:srgbClr val="0F172A"/>
          </a:solidFill>
          <a:ln w="12700">
            <a:solidFill>
              <a:srgbClr val="1E293B"/>
            </a:solidFill>
            <a:prstDash val="solid"/>
          </a:ln>
        </p:spPr>
      </p:sp>
      <p:sp>
        <p:nvSpPr>
          <p:cNvPr id="38" name="Text 36"/>
          <p:cNvSpPr/>
          <p:nvPr/>
        </p:nvSpPr>
        <p:spPr>
          <a:xfrm>
            <a:off x="1005840" y="5715000"/>
            <a:ext cx="10149840" cy="274320"/>
          </a:xfrm>
          <a:prstGeom prst="rect">
            <a:avLst/>
          </a:prstGeom>
          <a:noFill/>
          <a:ln/>
        </p:spPr>
        <p:txBody>
          <a:bodyPr wrap="square" rtlCol="0" anchor="ctr"/>
          <a:lstStyle/>
          <a:p>
            <a:pPr algn="ctr" indent="0" marL="0">
              <a:buNone/>
            </a:pPr>
            <a:r>
              <a:rPr lang="en-US" sz="1100" b="1" dirty="0">
                <a:solidFill>
                  <a:srgbClr val="10B981"/>
                </a:solidFill>
                <a:latin typeface="Calibri" pitchFamily="34" charset="0"/>
                <a:ea typeface="Calibri" pitchFamily="34" charset="-122"/>
                <a:cs typeface="Calibri" pitchFamily="34" charset="-120"/>
              </a:rPr>
              <a:t>TOTAL PIPELINE DURATION: 184ms   |   CLOUD TOKENS CONSUMED: 0   |   IMMUTABLE AUDIT RECEIPT: ns-rcpt-8f3a9e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AUDIT DEFENSIBILITY</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21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Cell-Level Evidence Provenance Index</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Every flagged dollar links to immutable source coordinates {file, row, column, value}.</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19050">
            <a:solidFill>
              <a:srgbClr val="38BDF8"/>
            </a:solidFill>
            <a:prstDash val="solid"/>
          </a:ln>
        </p:spPr>
      </p:sp>
      <p:sp>
        <p:nvSpPr>
          <p:cNvPr id="13" name="Text 11"/>
          <p:cNvSpPr/>
          <p:nvPr/>
        </p:nvSpPr>
        <p:spPr>
          <a:xfrm>
            <a:off x="1005840" y="1920240"/>
            <a:ext cx="10149840" cy="274320"/>
          </a:xfrm>
          <a:prstGeom prst="rect">
            <a:avLst/>
          </a:prstGeom>
          <a:noFill/>
          <a:ln/>
        </p:spPr>
        <p:txBody>
          <a:bodyPr wrap="square" rtlCol="0" anchor="ctr"/>
          <a:lstStyle/>
          <a:p>
            <a:pPr indent="0" marL="0">
              <a:buNone/>
            </a:pPr>
            <a:r>
              <a:rPr lang="en-US" sz="1200" b="1" dirty="0">
                <a:solidFill>
                  <a:srgbClr val="38BDF8"/>
                </a:solidFill>
                <a:latin typeface="Calibri" pitchFamily="34" charset="0"/>
                <a:ea typeface="Calibri" pitchFamily="34" charset="-122"/>
                <a:cs typeface="Calibri" pitchFamily="34" charset="-120"/>
              </a:rPr>
              <a:t>HOW TRACEBACK AI GUARANTEES AUDIT DEFENSIBILITY:</a:t>
            </a:r>
            <a:endParaRPr lang="en-US" sz="1200" dirty="0"/>
          </a:p>
        </p:txBody>
      </p:sp>
      <p:sp>
        <p:nvSpPr>
          <p:cNvPr id="14" name="Shape 12"/>
          <p:cNvSpPr/>
          <p:nvPr/>
        </p:nvSpPr>
        <p:spPr>
          <a:xfrm>
            <a:off x="1005840" y="2286000"/>
            <a:ext cx="4937760" cy="1691640"/>
          </a:xfrm>
          <a:prstGeom prst="roundRect">
            <a:avLst>
              <a:gd name="adj" fmla="val 5405"/>
            </a:avLst>
          </a:prstGeom>
          <a:solidFill>
            <a:srgbClr val="0F172A"/>
          </a:solidFill>
          <a:ln w="12700">
            <a:solidFill>
              <a:srgbClr val="38BDF8"/>
            </a:solidFill>
            <a:prstDash val="solid"/>
          </a:ln>
        </p:spPr>
      </p:sp>
      <p:sp>
        <p:nvSpPr>
          <p:cNvPr id="15" name="Text 13"/>
          <p:cNvSpPr/>
          <p:nvPr/>
        </p:nvSpPr>
        <p:spPr>
          <a:xfrm>
            <a:off x="1188720" y="2423160"/>
            <a:ext cx="4572000" cy="320040"/>
          </a:xfrm>
          <a:prstGeom prst="rect">
            <a:avLst/>
          </a:prstGeom>
          <a:noFill/>
          <a:ln/>
        </p:spPr>
        <p:txBody>
          <a:bodyPr wrap="square" rtlCol="0" anchor="ctr"/>
          <a:lstStyle/>
          <a:p>
            <a:pPr indent="0" marL="0">
              <a:buNone/>
            </a:pPr>
            <a:r>
              <a:rPr lang="en-US" sz="1300" b="1" dirty="0">
                <a:solidFill>
                  <a:srgbClr val="38BDF8"/>
                </a:solidFill>
                <a:latin typeface="Calibri" pitchFamily="34" charset="0"/>
                <a:ea typeface="Calibri" pitchFamily="34" charset="-122"/>
                <a:cs typeface="Calibri" pitchFamily="34" charset="-120"/>
              </a:rPr>
              <a:t>Deterministic Coordinate Index</a:t>
            </a:r>
            <a:endParaRPr lang="en-US" sz="1300" dirty="0"/>
          </a:p>
        </p:txBody>
      </p:sp>
      <p:sp>
        <p:nvSpPr>
          <p:cNvPr id="16" name="Text 14"/>
          <p:cNvSpPr/>
          <p:nvPr/>
        </p:nvSpPr>
        <p:spPr>
          <a:xfrm>
            <a:off x="1188720" y="2788920"/>
            <a:ext cx="4572000" cy="105156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Every discrepancy references exact source coordinates: {file: "invoices.csv", row: 2, column: "invoiced_qty", value: 120}. No vague summaries; auditors can click through to raw CSV rows in the UI.</a:t>
            </a:r>
            <a:endParaRPr lang="en-US" sz="1050" dirty="0"/>
          </a:p>
        </p:txBody>
      </p:sp>
      <p:sp>
        <p:nvSpPr>
          <p:cNvPr id="17" name="Shape 15"/>
          <p:cNvSpPr/>
          <p:nvPr/>
        </p:nvSpPr>
        <p:spPr>
          <a:xfrm>
            <a:off x="6172200" y="2286000"/>
            <a:ext cx="4937760" cy="1691640"/>
          </a:xfrm>
          <a:prstGeom prst="roundRect">
            <a:avLst>
              <a:gd name="adj" fmla="val 5405"/>
            </a:avLst>
          </a:prstGeom>
          <a:solidFill>
            <a:srgbClr val="0F172A"/>
          </a:solidFill>
          <a:ln w="12700">
            <a:solidFill>
              <a:srgbClr val="10B981"/>
            </a:solidFill>
            <a:prstDash val="solid"/>
          </a:ln>
        </p:spPr>
      </p:sp>
      <p:sp>
        <p:nvSpPr>
          <p:cNvPr id="18" name="Text 16"/>
          <p:cNvSpPr/>
          <p:nvPr/>
        </p:nvSpPr>
        <p:spPr>
          <a:xfrm>
            <a:off x="6355080" y="2423160"/>
            <a:ext cx="4572000" cy="320040"/>
          </a:xfrm>
          <a:prstGeom prst="rect">
            <a:avLst/>
          </a:prstGeom>
          <a:noFill/>
          <a:ln/>
        </p:spPr>
        <p:txBody>
          <a:bodyPr wrap="square" rtlCol="0" anchor="ctr"/>
          <a:lstStyle/>
          <a:p>
            <a:pPr indent="0" marL="0">
              <a:buNone/>
            </a:pPr>
            <a:r>
              <a:rPr lang="en-US" sz="1300" b="1" dirty="0">
                <a:solidFill>
                  <a:srgbClr val="10B981"/>
                </a:solidFill>
                <a:latin typeface="Calibri" pitchFamily="34" charset="0"/>
                <a:ea typeface="Calibri" pitchFamily="34" charset="-122"/>
                <a:cs typeface="Calibri" pitchFamily="34" charset="-120"/>
              </a:rPr>
              <a:t>Zero Hallucination Guarantee</a:t>
            </a:r>
            <a:endParaRPr lang="en-US" sz="1300" dirty="0"/>
          </a:p>
        </p:txBody>
      </p:sp>
      <p:sp>
        <p:nvSpPr>
          <p:cNvPr id="19" name="Text 17"/>
          <p:cNvSpPr/>
          <p:nvPr/>
        </p:nvSpPr>
        <p:spPr>
          <a:xfrm>
            <a:off x="6355080" y="2788920"/>
            <a:ext cx="4572000" cy="105156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Generative AI is strictly restricted to text synthesis (writing dispute letters). All mathematical variances and data extractions are calculated using deterministic code, making hallucination mathematically impossible.</a:t>
            </a:r>
            <a:endParaRPr lang="en-US" sz="1050" dirty="0"/>
          </a:p>
        </p:txBody>
      </p:sp>
      <p:sp>
        <p:nvSpPr>
          <p:cNvPr id="20" name="Shape 18"/>
          <p:cNvSpPr/>
          <p:nvPr/>
        </p:nvSpPr>
        <p:spPr>
          <a:xfrm>
            <a:off x="1005840" y="4160520"/>
            <a:ext cx="4937760" cy="1691640"/>
          </a:xfrm>
          <a:prstGeom prst="roundRect">
            <a:avLst>
              <a:gd name="adj" fmla="val 5405"/>
            </a:avLst>
          </a:prstGeom>
          <a:solidFill>
            <a:srgbClr val="0F172A"/>
          </a:solidFill>
          <a:ln w="12700">
            <a:solidFill>
              <a:srgbClr val="F59E0B"/>
            </a:solidFill>
            <a:prstDash val="solid"/>
          </a:ln>
        </p:spPr>
      </p:sp>
      <p:sp>
        <p:nvSpPr>
          <p:cNvPr id="21" name="Text 19"/>
          <p:cNvSpPr/>
          <p:nvPr/>
        </p:nvSpPr>
        <p:spPr>
          <a:xfrm>
            <a:off x="1188720" y="4297680"/>
            <a:ext cx="4572000" cy="320040"/>
          </a:xfrm>
          <a:prstGeom prst="rect">
            <a:avLst/>
          </a:prstGeom>
          <a:noFill/>
          <a:ln/>
        </p:spPr>
        <p:txBody>
          <a:bodyPr wrap="square"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Cryptographic Audit Certificate</a:t>
            </a:r>
            <a:endParaRPr lang="en-US" sz="1300" dirty="0"/>
          </a:p>
        </p:txBody>
      </p:sp>
      <p:sp>
        <p:nvSpPr>
          <p:cNvPr id="22" name="Text 20"/>
          <p:cNvSpPr/>
          <p:nvPr/>
        </p:nvSpPr>
        <p:spPr>
          <a:xfrm>
            <a:off x="1188720" y="4663440"/>
            <a:ext cx="4572000" cy="105156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The system generates a digitally stamped audit certificate citing transaction hashes, execution timestamps, and corroboration metrics, meeting strict SOX internal control criteria.</a:t>
            </a:r>
            <a:endParaRPr lang="en-US" sz="1050" dirty="0"/>
          </a:p>
        </p:txBody>
      </p:sp>
      <p:sp>
        <p:nvSpPr>
          <p:cNvPr id="23" name="Shape 21"/>
          <p:cNvSpPr/>
          <p:nvPr/>
        </p:nvSpPr>
        <p:spPr>
          <a:xfrm>
            <a:off x="6172200" y="4160520"/>
            <a:ext cx="4937760" cy="1691640"/>
          </a:xfrm>
          <a:prstGeom prst="roundRect">
            <a:avLst>
              <a:gd name="adj" fmla="val 5405"/>
            </a:avLst>
          </a:prstGeom>
          <a:solidFill>
            <a:srgbClr val="0F172A"/>
          </a:solidFill>
          <a:ln w="12700">
            <a:solidFill>
              <a:srgbClr val="A855F7"/>
            </a:solidFill>
            <a:prstDash val="solid"/>
          </a:ln>
        </p:spPr>
      </p:sp>
      <p:sp>
        <p:nvSpPr>
          <p:cNvPr id="24" name="Text 22"/>
          <p:cNvSpPr/>
          <p:nvPr/>
        </p:nvSpPr>
        <p:spPr>
          <a:xfrm>
            <a:off x="6355080" y="4297680"/>
            <a:ext cx="4572000" cy="320040"/>
          </a:xfrm>
          <a:prstGeom prst="rect">
            <a:avLst/>
          </a:prstGeom>
          <a:noFill/>
          <a:ln/>
        </p:spPr>
        <p:txBody>
          <a:bodyPr wrap="square" rtlCol="0" anchor="ctr"/>
          <a:lstStyle/>
          <a:p>
            <a:pPr indent="0" marL="0">
              <a:buNone/>
            </a:pPr>
            <a:r>
              <a:rPr lang="en-US" sz="1300" b="1" dirty="0">
                <a:solidFill>
                  <a:srgbClr val="A855F7"/>
                </a:solidFill>
                <a:latin typeface="Calibri" pitchFamily="34" charset="0"/>
                <a:ea typeface="Calibri" pitchFamily="34" charset="-122"/>
                <a:cs typeface="Calibri" pitchFamily="34" charset="-120"/>
              </a:rPr>
              <a:t>Auditor Inspection Modal</a:t>
            </a:r>
            <a:endParaRPr lang="en-US" sz="1300" dirty="0"/>
          </a:p>
        </p:txBody>
      </p:sp>
      <p:sp>
        <p:nvSpPr>
          <p:cNvPr id="25" name="Text 23"/>
          <p:cNvSpPr/>
          <p:nvPr/>
        </p:nvSpPr>
        <p:spPr>
          <a:xfrm>
            <a:off x="6355080" y="4663440"/>
            <a:ext cx="4572000" cy="105156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Auditors can click any evidence badge in the web UI to inspect the underlying source file, highlight the exact cell, and review preceding and succeeding rows for full context.</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AUDIT GOVERNANCE</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22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Human-in-the-Loop Governance &amp; Dispute Synthesis</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Empowering human auditors with 1-click approvals and automated supplier notices.</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A855F7"/>
            </a:solidFill>
            <a:prstDash val="solid"/>
          </a:ln>
        </p:spPr>
      </p:sp>
      <p:sp>
        <p:nvSpPr>
          <p:cNvPr id="13" name="Text 11"/>
          <p:cNvSpPr/>
          <p:nvPr/>
        </p:nvSpPr>
        <p:spPr>
          <a:xfrm>
            <a:off x="1005840" y="1920240"/>
            <a:ext cx="4663440" cy="274320"/>
          </a:xfrm>
          <a:prstGeom prst="rect">
            <a:avLst/>
          </a:prstGeom>
          <a:noFill/>
          <a:ln/>
        </p:spPr>
        <p:txBody>
          <a:bodyPr wrap="square" rtlCol="0" anchor="ctr"/>
          <a:lstStyle/>
          <a:p>
            <a:pPr indent="0" marL="0">
              <a:buNone/>
            </a:pPr>
            <a:r>
              <a:rPr lang="en-US" sz="1100" b="1" dirty="0">
                <a:solidFill>
                  <a:srgbClr val="A855F7"/>
                </a:solidFill>
                <a:latin typeface="Calibri" pitchFamily="34" charset="0"/>
                <a:ea typeface="Calibri" pitchFamily="34" charset="-122"/>
                <a:cs typeface="Calibri" pitchFamily="34" charset="-120"/>
              </a:rPr>
              <a:t>HUMAN GOVERNANCE WORKFLOW</a:t>
            </a:r>
            <a:endParaRPr lang="en-US" sz="1100" dirty="0"/>
          </a:p>
        </p:txBody>
      </p:sp>
      <p:sp>
        <p:nvSpPr>
          <p:cNvPr id="14" name="Text 12"/>
          <p:cNvSpPr/>
          <p:nvPr/>
        </p:nvSpPr>
        <p:spPr>
          <a:xfrm>
            <a:off x="10058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Auditor In Full Control</a:t>
            </a:r>
            <a:endParaRPr lang="en-US" sz="1600" dirty="0"/>
          </a:p>
        </p:txBody>
      </p:sp>
      <p:sp>
        <p:nvSpPr>
          <p:cNvPr id="15" name="Text 13"/>
          <p:cNvSpPr/>
          <p:nvPr/>
        </p:nvSpPr>
        <p:spPr>
          <a:xfrm>
            <a:off x="1005840" y="2697480"/>
            <a:ext cx="4663440" cy="33375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AI as Copilot, Human as Authority: Agents discover and corroborate discrepancies, but human auditors hold final claim approval authority.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1-Click Decision Actions: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1. APPROVE CLAIM: Endorses $1,200.00 recovery and generates formal dispute notice.</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2. OVERRIDE TOLERANCE: Flags transaction as acceptable commercial concession.</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3. REQUEST RE-AUDIT: Triggers re-verification against updated vendor notes.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A855F7"/>
            </a:solidFill>
            <a:prstDash val="solid"/>
          </a:ln>
        </p:spPr>
      </p:sp>
      <p:sp>
        <p:nvSpPr>
          <p:cNvPr id="17" name="Text 15"/>
          <p:cNvSpPr/>
          <p:nvPr/>
        </p:nvSpPr>
        <p:spPr>
          <a:xfrm>
            <a:off x="6492240" y="1920240"/>
            <a:ext cx="466344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SYNTHESIZED DISPUTE NOTICE</a:t>
            </a:r>
            <a:endParaRPr lang="en-US" sz="1100" dirty="0"/>
          </a:p>
        </p:txBody>
      </p:sp>
      <p:sp>
        <p:nvSpPr>
          <p:cNvPr id="18" name="Text 16"/>
          <p:cNvSpPr/>
          <p:nvPr/>
        </p:nvSpPr>
        <p:spPr>
          <a:xfrm>
            <a:off x="64922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Ready-to-Dispatch Supplier Email</a:t>
            </a:r>
            <a:endParaRPr lang="en-US" sz="1600" dirty="0"/>
          </a:p>
        </p:txBody>
      </p:sp>
      <p:sp>
        <p:nvSpPr>
          <p:cNvPr id="19" name="Text 17"/>
          <p:cNvSpPr/>
          <p:nvPr/>
        </p:nvSpPr>
        <p:spPr>
          <a:xfrm>
            <a:off x="6492240" y="2697480"/>
            <a:ext cx="4663440" cy="3337560"/>
          </a:xfrm>
          <a:prstGeom prst="rect">
            <a:avLst/>
          </a:prstGeom>
          <a:noFill/>
          <a:ln/>
        </p:spPr>
        <p:txBody>
          <a:bodyPr wrap="square" rtlCol="0" anchor="ctr"/>
          <a:lstStyle/>
          <a:p>
            <a:pPr indent="0" marL="0">
              <a:buNone/>
            </a:pPr>
            <a:r>
              <a:rPr lang="en-US" sz="950" dirty="0">
                <a:solidFill>
                  <a:srgbClr val="F8FAFC"/>
                </a:solidFill>
                <a:latin typeface="Calibri" pitchFamily="34" charset="0"/>
                <a:ea typeface="Calibri" pitchFamily="34" charset="-122"/>
                <a:cs typeface="Calibri" pitchFamily="34" charset="-120"/>
              </a:rPr>
              <a:t>Subject: Notice of Invoice Discrepancy — PO-1001 / INV-9001</a:t>
            </a:r>
            <a:endParaRPr lang="en-US" sz="950" dirty="0"/>
          </a:p>
          <a:p>
            <a:pPr indent="0" marL="0">
              <a:buNone/>
            </a:pPr>
            <a:endParaRPr lang="en-US" sz="950" dirty="0"/>
          </a:p>
          <a:p>
            <a:pPr indent="0" marL="0">
              <a:buNone/>
            </a:pPr>
            <a:r>
              <a:rPr lang="en-US" sz="950" dirty="0">
                <a:solidFill>
                  <a:srgbClr val="F8FAFC"/>
                </a:solidFill>
                <a:latin typeface="Calibri" pitchFamily="34" charset="0"/>
                <a:ea typeface="Calibri" pitchFamily="34" charset="-122"/>
                <a:cs typeface="Calibri" pitchFamily="34" charset="-120"/>
              </a:rPr>
              <a:t>Dear Apex Industrial Accounts Team,</a:t>
            </a:r>
            <a:endParaRPr lang="en-US" sz="950" dirty="0"/>
          </a:p>
          <a:p>
            <a:pPr indent="0" marL="0">
              <a:buNone/>
            </a:pPr>
            <a:endParaRPr lang="en-US" sz="950" dirty="0"/>
          </a:p>
          <a:p>
            <a:pPr indent="0" marL="0">
              <a:buNone/>
            </a:pPr>
            <a:r>
              <a:rPr lang="en-US" sz="950" dirty="0">
                <a:solidFill>
                  <a:srgbClr val="F8FAFC"/>
                </a:solidFill>
                <a:latin typeface="Calibri" pitchFamily="34" charset="0"/>
                <a:ea typeface="Calibri" pitchFamily="34" charset="-122"/>
                <a:cs typeface="Calibri" pitchFamily="34" charset="-120"/>
              </a:rPr>
              <a:t>Our automated audit of PO-1001 has identified $1,200.00 in discrepancies requiring adjustment prior to payment:</a:t>
            </a:r>
            <a:endParaRPr lang="en-US" sz="950" dirty="0"/>
          </a:p>
          <a:p>
            <a:pPr indent="0" marL="0">
              <a:buNone/>
            </a:pPr>
            <a:r>
              <a:rPr lang="en-US" sz="950" dirty="0">
                <a:solidFill>
                  <a:srgbClr val="F8FAFC"/>
                </a:solidFill>
                <a:latin typeface="Calibri" pitchFamily="34" charset="0"/>
                <a:ea typeface="Calibri" pitchFamily="34" charset="-122"/>
                <a:cs typeface="Calibri" pitchFamily="34" charset="-120"/>
              </a:rPr>
              <a:t>1. Quantity Overbilling ($1,000.00): Invoiced 120 units; warehouse dock note DN-045 logged 100 units physically received.</a:t>
            </a:r>
            <a:endParaRPr lang="en-US" sz="950" dirty="0"/>
          </a:p>
          <a:p>
            <a:pPr indent="0" marL="0">
              <a:buNone/>
            </a:pPr>
            <a:r>
              <a:rPr lang="en-US" sz="950" dirty="0">
                <a:solidFill>
                  <a:srgbClr val="F8FAFC"/>
                </a:solidFill>
                <a:latin typeface="Calibri" pitchFamily="34" charset="0"/>
                <a:ea typeface="Calibri" pitchFamily="34" charset="-122"/>
                <a:cs typeface="Calibri" pitchFamily="34" charset="-120"/>
              </a:rPr>
              <a:t>2. Rate Escalation ($200.00): Invoiced unit price of $50.00 exceeds Master Agreement ceiling of $48.00 (Section 4.2).</a:t>
            </a:r>
            <a:endParaRPr lang="en-US" sz="950" dirty="0"/>
          </a:p>
          <a:p>
            <a:pPr indent="0" marL="0">
              <a:buNone/>
            </a:pPr>
            <a:endParaRPr lang="en-US" sz="950" dirty="0"/>
          </a:p>
          <a:p>
            <a:pPr indent="0" marL="0">
              <a:buNone/>
            </a:pPr>
            <a:r>
              <a:rPr lang="en-US" sz="950" dirty="0">
                <a:solidFill>
                  <a:srgbClr val="F8FAFC"/>
                </a:solidFill>
                <a:latin typeface="Calibri" pitchFamily="34" charset="0"/>
                <a:ea typeface="Calibri" pitchFamily="34" charset="-122"/>
                <a:cs typeface="Calibri" pitchFamily="34" charset="-120"/>
              </a:rPr>
              <a:t>Please issue an amended invoice or credit memo for $1,200.00.</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SPONSOR INTEGRATION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23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Zetaris Data Virtualization: Deep Technical Architecture</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Federated SQL execution across decentralized enterprise data stores in 12ms.</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25400">
            <a:solidFill>
              <a:srgbClr val="38BDF8"/>
            </a:solidFill>
            <a:prstDash val="solid"/>
          </a:ln>
        </p:spPr>
      </p:sp>
      <p:sp>
        <p:nvSpPr>
          <p:cNvPr id="13" name="Text 11"/>
          <p:cNvSpPr/>
          <p:nvPr/>
        </p:nvSpPr>
        <p:spPr>
          <a:xfrm>
            <a:off x="1005840" y="1920240"/>
            <a:ext cx="10149840" cy="274320"/>
          </a:xfrm>
          <a:prstGeom prst="rect">
            <a:avLst/>
          </a:prstGeom>
          <a:noFill/>
          <a:ln/>
        </p:spPr>
        <p:txBody>
          <a:bodyPr wrap="square" rtlCol="0" anchor="ctr"/>
          <a:lstStyle/>
          <a:p>
            <a:pPr indent="0" marL="0">
              <a:buNone/>
            </a:pPr>
            <a:r>
              <a:rPr lang="en-US" sz="1200" b="1" dirty="0">
                <a:solidFill>
                  <a:srgbClr val="38BDF8"/>
                </a:solidFill>
                <a:latin typeface="Calibri" pitchFamily="34" charset="0"/>
                <a:ea typeface="Calibri" pitchFamily="34" charset="-122"/>
                <a:cs typeface="Calibri" pitchFamily="34" charset="-120"/>
              </a:rPr>
              <a:t>FEDERATED SQL QUERY EXECUTION ACROSS 4 DATASETS:</a:t>
            </a:r>
            <a:endParaRPr lang="en-US" sz="1200" dirty="0"/>
          </a:p>
        </p:txBody>
      </p:sp>
      <p:sp>
        <p:nvSpPr>
          <p:cNvPr id="14" name="Shape 12"/>
          <p:cNvSpPr/>
          <p:nvPr/>
        </p:nvSpPr>
        <p:spPr>
          <a:xfrm>
            <a:off x="1005840" y="2286000"/>
            <a:ext cx="10149840" cy="2011680"/>
          </a:xfrm>
          <a:prstGeom prst="roundRect">
            <a:avLst>
              <a:gd name="adj" fmla="val 4545"/>
            </a:avLst>
          </a:prstGeom>
          <a:solidFill>
            <a:srgbClr val="020617"/>
          </a:solidFill>
          <a:ln w="19050">
            <a:solidFill>
              <a:srgbClr val="082F49"/>
            </a:solidFill>
            <a:prstDash val="solid"/>
          </a:ln>
        </p:spPr>
      </p:sp>
      <p:sp>
        <p:nvSpPr>
          <p:cNvPr id="15" name="Text 13"/>
          <p:cNvSpPr/>
          <p:nvPr/>
        </p:nvSpPr>
        <p:spPr>
          <a:xfrm>
            <a:off x="1188720" y="2377440"/>
            <a:ext cx="9784080" cy="1828800"/>
          </a:xfrm>
          <a:prstGeom prst="rect">
            <a:avLst/>
          </a:prstGeom>
          <a:noFill/>
          <a:ln/>
        </p:spPr>
        <p:txBody>
          <a:bodyPr wrap="square" rtlCol="0" anchor="ctr"/>
          <a:lstStyle/>
          <a:p>
            <a:pPr indent="0" marL="0">
              <a:buNone/>
            </a:pPr>
            <a:r>
              <a:rPr lang="en-US" sz="1000" dirty="0">
                <a:solidFill>
                  <a:srgbClr val="38BDF8"/>
                </a:solidFill>
                <a:latin typeface="Courier New" pitchFamily="34" charset="0"/>
                <a:ea typeface="Courier New" pitchFamily="34" charset="-122"/>
                <a:cs typeface="Courier New" pitchFamily="34" charset="-120"/>
              </a:rPr>
              <a:t>SELECT po.po_id, po.supplier_id, po.ordered_qty, po.unit_price as po_price,</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       del.delivery_id, del.delivered_qty, del.delivery_date,</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       inv.invoice_id, inv.invoiced_qty, inv.unit_price as invoice_price,</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       cp.contract_unit_price, cp.price_ceiling</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FROM   zetaris.sap_erp.purchase_orders po</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LEFT JOIN zetaris.wms_cloud.deliveries del      ON po.po_id = del.po_id</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LEFT JOIN zetaris.ap_portal.invoices inv        ON po.po_id = inv.po_id</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LEFT JOIN zetaris.legal_repo.contract_prices cp ON po.supplier_id = cp.supplier_id</a:t>
            </a:r>
            <a:endParaRPr lang="en-US" sz="1000" dirty="0"/>
          </a:p>
          <a:p>
            <a:pPr indent="0" marL="0">
              <a:buNone/>
            </a:pPr>
            <a:r>
              <a:rPr lang="en-US" sz="1000" dirty="0">
                <a:solidFill>
                  <a:srgbClr val="38BDF8"/>
                </a:solidFill>
                <a:latin typeface="Courier New" pitchFamily="34" charset="0"/>
                <a:ea typeface="Courier New" pitchFamily="34" charset="-122"/>
                <a:cs typeface="Courier New" pitchFamily="34" charset="-120"/>
              </a:rPr>
              <a:t>WHERE  po.po_id = 'PO-1001';</a:t>
            </a:r>
            <a:endParaRPr lang="en-US" sz="1000" dirty="0"/>
          </a:p>
        </p:txBody>
      </p:sp>
      <p:sp>
        <p:nvSpPr>
          <p:cNvPr id="16" name="Text 14"/>
          <p:cNvSpPr/>
          <p:nvPr/>
        </p:nvSpPr>
        <p:spPr>
          <a:xfrm>
            <a:off x="1005840" y="4434840"/>
            <a:ext cx="10149840" cy="22860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TECHNICAL CAPABILITIES &amp; ADVANTAGES:</a:t>
            </a:r>
            <a:endParaRPr lang="en-US" sz="1100" dirty="0"/>
          </a:p>
        </p:txBody>
      </p:sp>
      <p:sp>
        <p:nvSpPr>
          <p:cNvPr id="17" name="Text 15"/>
          <p:cNvSpPr/>
          <p:nvPr/>
        </p:nvSpPr>
        <p:spPr>
          <a:xfrm>
            <a:off x="1005840" y="4709160"/>
            <a:ext cx="10149840" cy="1325880"/>
          </a:xfrm>
          <a:prstGeom prst="rect">
            <a:avLst/>
          </a:prstGeom>
          <a:noFill/>
          <a:ln/>
        </p:spPr>
        <p:txBody>
          <a:bodyPr wrap="square" rtlCol="0" anchor="ctr"/>
          <a:lstStyle/>
          <a:p>
            <a:pPr indent="0" marL="0">
              <a:buNone/>
            </a:pPr>
            <a:r>
              <a:rPr lang="en-US" sz="1050" dirty="0">
                <a:solidFill>
                  <a:srgbClr val="CBD5E1"/>
                </a:solidFill>
                <a:latin typeface="Calibri" pitchFamily="34" charset="0"/>
                <a:ea typeface="Calibri" pitchFamily="34" charset="-122"/>
                <a:cs typeface="Calibri" pitchFamily="34" charset="-120"/>
              </a:rPr>
              <a:t>• Zero ETL Pipeline Latency: Queries execute live in 12 milliseconds without waiting for nightly data warehouse ingest.</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Unified Semantic Model: Normalizes field types across disparate CSVs, SQL databases, and cloud APIs into a cohesive tabular view.</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Push-Down Optimization: Pushes filtering predicates directly to source systems, minimizing network data transfer.</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 Enterprise Security: Data remains within original security boundaries; sensitive banking and supplier data is never duplicated.</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SPONSOR INTEGRATION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24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Zetaris Enterprise Hybrid Mode &amp; Offline Resilience</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Dual-mode architecture ensuring 100% offline hackathon execution and cloud deployment.</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38BDF8"/>
            </a:solidFill>
            <a:prstDash val="solid"/>
          </a:ln>
        </p:spPr>
      </p:sp>
      <p:sp>
        <p:nvSpPr>
          <p:cNvPr id="13" name="Text 11"/>
          <p:cNvSpPr/>
          <p:nvPr/>
        </p:nvSpPr>
        <p:spPr>
          <a:xfrm>
            <a:off x="1005840" y="1920240"/>
            <a:ext cx="466344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MODE A: LIVE CLOUD ZETARIS API</a:t>
            </a:r>
            <a:endParaRPr lang="en-US" sz="1100" dirty="0"/>
          </a:p>
        </p:txBody>
      </p:sp>
      <p:sp>
        <p:nvSpPr>
          <p:cNvPr id="14" name="Text 12"/>
          <p:cNvSpPr/>
          <p:nvPr/>
        </p:nvSpPr>
        <p:spPr>
          <a:xfrm>
            <a:off x="10058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Production Enterprise Deployment</a:t>
            </a:r>
            <a:endParaRPr lang="en-US" sz="1600" dirty="0"/>
          </a:p>
        </p:txBody>
      </p:sp>
      <p:sp>
        <p:nvSpPr>
          <p:cNvPr id="15" name="Text 13"/>
          <p:cNvSpPr/>
          <p:nvPr/>
        </p:nvSpPr>
        <p:spPr>
          <a:xfrm>
            <a:off x="1005840" y="2697480"/>
            <a:ext cx="4663440" cy="333756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Connects directly to Zetaris Network API via POST /query.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Authenticates via bearer tokens and workspace credentials.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Queries live enterprise databases across SAP, Oracle, and Coupa.</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Returns high-throughput federated result sets with low latency.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Environment variables: ZETARIS_API_URL, ZETARIS_API_KEY.</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10B981"/>
            </a:solidFill>
            <a:prstDash val="solid"/>
          </a:ln>
        </p:spPr>
      </p:sp>
      <p:sp>
        <p:nvSpPr>
          <p:cNvPr id="17" name="Text 15"/>
          <p:cNvSpPr/>
          <p:nvPr/>
        </p:nvSpPr>
        <p:spPr>
          <a:xfrm>
            <a:off x="6492240" y="1920240"/>
            <a:ext cx="466344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MODE B: IN-MEMORY CROSS-SOURCE MOCK</a:t>
            </a:r>
            <a:endParaRPr lang="en-US" sz="1100" dirty="0"/>
          </a:p>
        </p:txBody>
      </p:sp>
      <p:sp>
        <p:nvSpPr>
          <p:cNvPr id="18" name="Text 16"/>
          <p:cNvSpPr/>
          <p:nvPr/>
        </p:nvSpPr>
        <p:spPr>
          <a:xfrm>
            <a:off x="6492240" y="2194560"/>
            <a:ext cx="466344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100% Offline Hackathon Testability</a:t>
            </a:r>
            <a:endParaRPr lang="en-US" sz="1600" dirty="0"/>
          </a:p>
        </p:txBody>
      </p:sp>
      <p:sp>
        <p:nvSpPr>
          <p:cNvPr id="19" name="Text 17"/>
          <p:cNvSpPr/>
          <p:nvPr/>
        </p:nvSpPr>
        <p:spPr>
          <a:xfrm>
            <a:off x="6492240" y="2697480"/>
            <a:ext cx="4663440" cy="3337560"/>
          </a:xfrm>
          <a:prstGeom prst="rect">
            <a:avLst/>
          </a:prstGeom>
          <a:noFill/>
          <a:ln/>
        </p:spPr>
        <p:txBody>
          <a:bodyPr wrap="square" rtlCol="0" anchor="ctr"/>
          <a:lstStyle/>
          <a:p>
            <a:pPr indent="0" marL="0">
              <a:buNone/>
            </a:pPr>
            <a:r>
              <a:rPr lang="en-US" sz="1100" dirty="0">
                <a:solidFill>
                  <a:srgbClr val="F8FAFC"/>
                </a:solidFill>
                <a:latin typeface="Calibri" pitchFamily="34" charset="0"/>
                <a:ea typeface="Calibri" pitchFamily="34" charset="-122"/>
                <a:cs typeface="Calibri" pitchFamily="34" charset="-120"/>
              </a:rPr>
              <a:t>• Auto-spins up an in-memory SQLite federated engine.</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Loads physical CSV datasets: purchase_orders.csv, deliveries.csv, invoices.csv, contract_prices.csv.</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Executes identical federated SQL join with identical schema output.</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Enables 100% offline development, CI/CD testing, and static GitHub Pages simulation.</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Zero external network dependencies required.</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SPONSOR INTEGRATION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25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Meterless Engine Architecture: Scout, Relay &amp; H-MEM</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Multi-agent orchestration, intent parsing, and persistent hierarchical memory.</a:t>
            </a:r>
            <a:endParaRPr lang="en-US" sz="1250" dirty="0"/>
          </a:p>
        </p:txBody>
      </p:sp>
      <p:sp>
        <p:nvSpPr>
          <p:cNvPr id="12" name="Shape 10"/>
          <p:cNvSpPr/>
          <p:nvPr/>
        </p:nvSpPr>
        <p:spPr>
          <a:xfrm>
            <a:off x="731520" y="1691640"/>
            <a:ext cx="3474720" cy="4526280"/>
          </a:xfrm>
          <a:prstGeom prst="roundRect">
            <a:avLst>
              <a:gd name="adj" fmla="val 3947"/>
            </a:avLst>
          </a:prstGeom>
          <a:solidFill>
            <a:srgbClr val="0B1120"/>
          </a:solidFill>
          <a:ln w="25400">
            <a:solidFill>
              <a:srgbClr val="6366F1"/>
            </a:solidFill>
            <a:prstDash val="solid"/>
          </a:ln>
        </p:spPr>
      </p:sp>
      <p:sp>
        <p:nvSpPr>
          <p:cNvPr id="13" name="Text 11"/>
          <p:cNvSpPr/>
          <p:nvPr/>
        </p:nvSpPr>
        <p:spPr>
          <a:xfrm>
            <a:off x="914400" y="1920240"/>
            <a:ext cx="3108960" cy="274320"/>
          </a:xfrm>
          <a:prstGeom prst="rect">
            <a:avLst/>
          </a:prstGeom>
          <a:noFill/>
          <a:ln/>
        </p:spPr>
        <p:txBody>
          <a:bodyPr wrap="square" rtlCol="0" anchor="ctr"/>
          <a:lstStyle/>
          <a:p>
            <a:pPr indent="0" marL="0">
              <a:buNone/>
            </a:pPr>
            <a:r>
              <a:rPr lang="en-US" sz="1100" b="1" dirty="0">
                <a:solidFill>
                  <a:srgbClr val="6366F1"/>
                </a:solidFill>
                <a:latin typeface="Calibri" pitchFamily="34" charset="0"/>
                <a:ea typeface="Calibri" pitchFamily="34" charset="-122"/>
                <a:cs typeface="Calibri" pitchFamily="34" charset="-120"/>
              </a:rPr>
              <a:t>SCOUT INTENT</a:t>
            </a:r>
            <a:endParaRPr lang="en-US" sz="1100" dirty="0"/>
          </a:p>
        </p:txBody>
      </p:sp>
      <p:sp>
        <p:nvSpPr>
          <p:cNvPr id="14" name="Text 12"/>
          <p:cNvSpPr/>
          <p:nvPr/>
        </p:nvSpPr>
        <p:spPr>
          <a:xfrm>
            <a:off x="914400" y="2194560"/>
            <a:ext cx="31089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Meterless Scout Engine</a:t>
            </a:r>
            <a:endParaRPr lang="en-US" sz="1600" dirty="0"/>
          </a:p>
        </p:txBody>
      </p:sp>
      <p:sp>
        <p:nvSpPr>
          <p:cNvPr id="15" name="Shape 13"/>
          <p:cNvSpPr/>
          <p:nvPr/>
        </p:nvSpPr>
        <p:spPr>
          <a:xfrm>
            <a:off x="914400" y="2651760"/>
            <a:ext cx="3108960" cy="320040"/>
          </a:xfrm>
          <a:prstGeom prst="roundRect">
            <a:avLst>
              <a:gd name="adj" fmla="val 22857"/>
            </a:avLst>
          </a:prstGeom>
          <a:solidFill>
            <a:srgbClr val="0F172A"/>
          </a:solidFill>
          <a:ln w="12700">
            <a:solidFill>
              <a:srgbClr val="6366F1"/>
            </a:solidFill>
            <a:prstDash val="solid"/>
          </a:ln>
        </p:spPr>
      </p:sp>
      <p:sp>
        <p:nvSpPr>
          <p:cNvPr id="16" name="Text 14"/>
          <p:cNvSpPr/>
          <p:nvPr/>
        </p:nvSpPr>
        <p:spPr>
          <a:xfrm>
            <a:off x="914400" y="2651760"/>
            <a:ext cx="3108960" cy="320040"/>
          </a:xfrm>
          <a:prstGeom prst="rect">
            <a:avLst/>
          </a:prstGeom>
          <a:noFill/>
          <a:ln/>
        </p:spPr>
        <p:txBody>
          <a:bodyPr wrap="square" rtlCol="0" anchor="ctr"/>
          <a:lstStyle/>
          <a:p>
            <a:pPr algn="ctr" indent="0" marL="0">
              <a:buNone/>
            </a:pPr>
            <a:r>
              <a:rPr lang="en-US" sz="1000" b="1" dirty="0">
                <a:solidFill>
                  <a:srgbClr val="6366F1"/>
                </a:solidFill>
                <a:latin typeface="Calibri" pitchFamily="34" charset="0"/>
                <a:ea typeface="Calibri" pitchFamily="34" charset="-122"/>
                <a:cs typeface="Calibri" pitchFamily="34" charset="-120"/>
              </a:rPr>
              <a:t>12ms Latency</a:t>
            </a:r>
            <a:endParaRPr lang="en-US" sz="1000" dirty="0"/>
          </a:p>
        </p:txBody>
      </p:sp>
      <p:sp>
        <p:nvSpPr>
          <p:cNvPr id="17" name="Text 15"/>
          <p:cNvSpPr/>
          <p:nvPr/>
        </p:nvSpPr>
        <p:spPr>
          <a:xfrm>
            <a:off x="914400" y="3108960"/>
            <a:ext cx="3108960" cy="292608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Analyzes user prompts, audit directives, and compliance policies. Configures audit tolerances ($0 threshold) and translates natural language queries into structured execution plans.</a:t>
            </a:r>
            <a:endParaRPr lang="en-US" sz="1100" dirty="0"/>
          </a:p>
        </p:txBody>
      </p:sp>
      <p:sp>
        <p:nvSpPr>
          <p:cNvPr id="18" name="Shape 16"/>
          <p:cNvSpPr/>
          <p:nvPr/>
        </p:nvSpPr>
        <p:spPr>
          <a:xfrm>
            <a:off x="4370832" y="1691640"/>
            <a:ext cx="3474720" cy="4526280"/>
          </a:xfrm>
          <a:prstGeom prst="roundRect">
            <a:avLst>
              <a:gd name="adj" fmla="val 3947"/>
            </a:avLst>
          </a:prstGeom>
          <a:solidFill>
            <a:srgbClr val="0B1120"/>
          </a:solidFill>
          <a:ln w="25400">
            <a:solidFill>
              <a:srgbClr val="38BDF8"/>
            </a:solidFill>
            <a:prstDash val="solid"/>
          </a:ln>
        </p:spPr>
      </p:sp>
      <p:sp>
        <p:nvSpPr>
          <p:cNvPr id="19" name="Text 17"/>
          <p:cNvSpPr/>
          <p:nvPr/>
        </p:nvSpPr>
        <p:spPr>
          <a:xfrm>
            <a:off x="4553712" y="1920240"/>
            <a:ext cx="310896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RELAY ENGINE</a:t>
            </a:r>
            <a:endParaRPr lang="en-US" sz="1100" dirty="0"/>
          </a:p>
        </p:txBody>
      </p:sp>
      <p:sp>
        <p:nvSpPr>
          <p:cNvPr id="20" name="Text 18"/>
          <p:cNvSpPr/>
          <p:nvPr/>
        </p:nvSpPr>
        <p:spPr>
          <a:xfrm>
            <a:off x="4553712" y="2194560"/>
            <a:ext cx="31089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Meterless Relay Router</a:t>
            </a:r>
            <a:endParaRPr lang="en-US" sz="1600" dirty="0"/>
          </a:p>
        </p:txBody>
      </p:sp>
      <p:sp>
        <p:nvSpPr>
          <p:cNvPr id="21" name="Shape 19"/>
          <p:cNvSpPr/>
          <p:nvPr/>
        </p:nvSpPr>
        <p:spPr>
          <a:xfrm>
            <a:off x="4553712" y="2651760"/>
            <a:ext cx="3108960" cy="320040"/>
          </a:xfrm>
          <a:prstGeom prst="roundRect">
            <a:avLst>
              <a:gd name="adj" fmla="val 22857"/>
            </a:avLst>
          </a:prstGeom>
          <a:solidFill>
            <a:srgbClr val="0F172A"/>
          </a:solidFill>
          <a:ln w="12700">
            <a:solidFill>
              <a:srgbClr val="38BDF8"/>
            </a:solidFill>
            <a:prstDash val="solid"/>
          </a:ln>
        </p:spPr>
      </p:sp>
      <p:sp>
        <p:nvSpPr>
          <p:cNvPr id="22" name="Text 20"/>
          <p:cNvSpPr/>
          <p:nvPr/>
        </p:nvSpPr>
        <p:spPr>
          <a:xfrm>
            <a:off x="4553712" y="2651760"/>
            <a:ext cx="3108960" cy="320040"/>
          </a:xfrm>
          <a:prstGeom prst="rect">
            <a:avLst/>
          </a:prstGeom>
          <a:noFill/>
          <a:ln/>
        </p:spPr>
        <p:txBody>
          <a:bodyPr wrap="square"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18ms Latency</a:t>
            </a:r>
            <a:endParaRPr lang="en-US" sz="1000" dirty="0"/>
          </a:p>
        </p:txBody>
      </p:sp>
      <p:sp>
        <p:nvSpPr>
          <p:cNvPr id="23" name="Text 21"/>
          <p:cNvSpPr/>
          <p:nvPr/>
        </p:nvSpPr>
        <p:spPr>
          <a:xfrm>
            <a:off x="4553712" y="3108960"/>
            <a:ext cx="3108960" cy="292608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Asynchronous multi-agent dispatcher that coordinates tool execution. Routes queries to Zetaris, triggers reconciliation algorithms, and monitors execution telemetry.</a:t>
            </a:r>
            <a:endParaRPr lang="en-US" sz="1100" dirty="0"/>
          </a:p>
        </p:txBody>
      </p:sp>
      <p:sp>
        <p:nvSpPr>
          <p:cNvPr id="24" name="Shape 22"/>
          <p:cNvSpPr/>
          <p:nvPr/>
        </p:nvSpPr>
        <p:spPr>
          <a:xfrm>
            <a:off x="8010144" y="1691640"/>
            <a:ext cx="3474720" cy="4526280"/>
          </a:xfrm>
          <a:prstGeom prst="roundRect">
            <a:avLst>
              <a:gd name="adj" fmla="val 3947"/>
            </a:avLst>
          </a:prstGeom>
          <a:solidFill>
            <a:srgbClr val="0B1120"/>
          </a:solidFill>
          <a:ln w="25400">
            <a:solidFill>
              <a:srgbClr val="A855F7"/>
            </a:solidFill>
            <a:prstDash val="solid"/>
          </a:ln>
        </p:spPr>
      </p:sp>
      <p:sp>
        <p:nvSpPr>
          <p:cNvPr id="25" name="Text 23"/>
          <p:cNvSpPr/>
          <p:nvPr/>
        </p:nvSpPr>
        <p:spPr>
          <a:xfrm>
            <a:off x="8193024" y="1920240"/>
            <a:ext cx="3108960" cy="274320"/>
          </a:xfrm>
          <a:prstGeom prst="rect">
            <a:avLst/>
          </a:prstGeom>
          <a:noFill/>
          <a:ln/>
        </p:spPr>
        <p:txBody>
          <a:bodyPr wrap="square" rtlCol="0" anchor="ctr"/>
          <a:lstStyle/>
          <a:p>
            <a:pPr indent="0" marL="0">
              <a:buNone/>
            </a:pPr>
            <a:r>
              <a:rPr lang="en-US" sz="1100" b="1" dirty="0">
                <a:solidFill>
                  <a:srgbClr val="A855F7"/>
                </a:solidFill>
                <a:latin typeface="Calibri" pitchFamily="34" charset="0"/>
                <a:ea typeface="Calibri" pitchFamily="34" charset="-122"/>
                <a:cs typeface="Calibri" pitchFamily="34" charset="-120"/>
              </a:rPr>
              <a:t>GAIA H-MEM</a:t>
            </a:r>
            <a:endParaRPr lang="en-US" sz="1100" dirty="0"/>
          </a:p>
        </p:txBody>
      </p:sp>
      <p:sp>
        <p:nvSpPr>
          <p:cNvPr id="26" name="Text 24"/>
          <p:cNvSpPr/>
          <p:nvPr/>
        </p:nvSpPr>
        <p:spPr>
          <a:xfrm>
            <a:off x="8193024" y="2194560"/>
            <a:ext cx="310896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Hierarchical Working Memory</a:t>
            </a:r>
            <a:endParaRPr lang="en-US" sz="1600" dirty="0"/>
          </a:p>
        </p:txBody>
      </p:sp>
      <p:sp>
        <p:nvSpPr>
          <p:cNvPr id="27" name="Shape 25"/>
          <p:cNvSpPr/>
          <p:nvPr/>
        </p:nvSpPr>
        <p:spPr>
          <a:xfrm>
            <a:off x="8193024" y="2651760"/>
            <a:ext cx="3108960" cy="320040"/>
          </a:xfrm>
          <a:prstGeom prst="roundRect">
            <a:avLst>
              <a:gd name="adj" fmla="val 22857"/>
            </a:avLst>
          </a:prstGeom>
          <a:solidFill>
            <a:srgbClr val="0F172A"/>
          </a:solidFill>
          <a:ln w="12700">
            <a:solidFill>
              <a:srgbClr val="A855F7"/>
            </a:solidFill>
            <a:prstDash val="solid"/>
          </a:ln>
        </p:spPr>
      </p:sp>
      <p:sp>
        <p:nvSpPr>
          <p:cNvPr id="28" name="Text 26"/>
          <p:cNvSpPr/>
          <p:nvPr/>
        </p:nvSpPr>
        <p:spPr>
          <a:xfrm>
            <a:off x="8193024" y="2651760"/>
            <a:ext cx="3108960" cy="320040"/>
          </a:xfrm>
          <a:prstGeom prst="rect">
            <a:avLst/>
          </a:prstGeom>
          <a:noFill/>
          <a:ln/>
        </p:spPr>
        <p:txBody>
          <a:bodyPr wrap="square" rtlCol="0" anchor="ctr"/>
          <a:lstStyle/>
          <a:p>
            <a:pPr algn="ctr" indent="0" marL="0">
              <a:buNone/>
            </a:pPr>
            <a:r>
              <a:rPr lang="en-US" sz="1000" b="1" dirty="0">
                <a:solidFill>
                  <a:srgbClr val="A855F7"/>
                </a:solidFill>
                <a:latin typeface="Calibri" pitchFamily="34" charset="0"/>
                <a:ea typeface="Calibri" pitchFamily="34" charset="-122"/>
                <a:cs typeface="Calibri" pitchFamily="34" charset="-120"/>
              </a:rPr>
              <a:t>Persistent State</a:t>
            </a:r>
            <a:endParaRPr lang="en-US" sz="1000" dirty="0"/>
          </a:p>
        </p:txBody>
      </p:sp>
      <p:sp>
        <p:nvSpPr>
          <p:cNvPr id="29" name="Text 27"/>
          <p:cNvSpPr/>
          <p:nvPr/>
        </p:nvSpPr>
        <p:spPr>
          <a:xfrm>
            <a:off x="8193024" y="3108960"/>
            <a:ext cx="3108960" cy="292608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Meterless Gaia H-MEM maintains multi-turn context across audit sessions. Persists investigation checkpoints, dispute correspondence, and historical auditor decisions.</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SPONSOR INTEGRATION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26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Meterless Nightshift AI: $0.00 Token Compute Provider</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Autonomous local intelligence running a 4-stage Race, Judge, Verify, Generate cycle.</a:t>
            </a:r>
            <a:endParaRPr lang="en-US" sz="1250" dirty="0"/>
          </a:p>
        </p:txBody>
      </p:sp>
      <p:sp>
        <p:nvSpPr>
          <p:cNvPr id="12" name="Shape 10"/>
          <p:cNvSpPr/>
          <p:nvPr/>
        </p:nvSpPr>
        <p:spPr>
          <a:xfrm>
            <a:off x="731520" y="1691640"/>
            <a:ext cx="6217920" cy="4526280"/>
          </a:xfrm>
          <a:prstGeom prst="roundRect">
            <a:avLst>
              <a:gd name="adj" fmla="val 3030"/>
            </a:avLst>
          </a:prstGeom>
          <a:solidFill>
            <a:srgbClr val="0B1120"/>
          </a:solidFill>
          <a:ln w="25400">
            <a:solidFill>
              <a:srgbClr val="10B981"/>
            </a:solidFill>
            <a:prstDash val="solid"/>
          </a:ln>
        </p:spPr>
      </p:sp>
      <p:sp>
        <p:nvSpPr>
          <p:cNvPr id="13" name="Text 11"/>
          <p:cNvSpPr/>
          <p:nvPr/>
        </p:nvSpPr>
        <p:spPr>
          <a:xfrm>
            <a:off x="1005840" y="1920240"/>
            <a:ext cx="5669280" cy="274320"/>
          </a:xfrm>
          <a:prstGeom prst="rect">
            <a:avLst/>
          </a:prstGeom>
          <a:noFill/>
          <a:ln/>
        </p:spPr>
        <p:txBody>
          <a:bodyPr wrap="square"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NIGHTSHIFT 4-STAGE REASONING CYCLE</a:t>
            </a:r>
            <a:endParaRPr lang="en-US" sz="1100" dirty="0"/>
          </a:p>
        </p:txBody>
      </p:sp>
      <p:sp>
        <p:nvSpPr>
          <p:cNvPr id="14" name="Text 12"/>
          <p:cNvSpPr/>
          <p:nvPr/>
        </p:nvSpPr>
        <p:spPr>
          <a:xfrm>
            <a:off x="1005840" y="2194560"/>
            <a:ext cx="5669280" cy="4114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Autonomous Local Execution Pipeline</a:t>
            </a:r>
            <a:endParaRPr lang="en-US" sz="1600" dirty="0"/>
          </a:p>
        </p:txBody>
      </p:sp>
      <p:sp>
        <p:nvSpPr>
          <p:cNvPr id="15" name="Shape 13"/>
          <p:cNvSpPr/>
          <p:nvPr/>
        </p:nvSpPr>
        <p:spPr>
          <a:xfrm>
            <a:off x="1005840" y="2697480"/>
            <a:ext cx="5669280" cy="731520"/>
          </a:xfrm>
          <a:prstGeom prst="roundRect">
            <a:avLst>
              <a:gd name="adj" fmla="val 10000"/>
            </a:avLst>
          </a:prstGeom>
          <a:solidFill>
            <a:srgbClr val="0F172A"/>
          </a:solidFill>
          <a:ln w="12700">
            <a:solidFill>
              <a:srgbClr val="059669"/>
            </a:solidFill>
            <a:prstDash val="solid"/>
          </a:ln>
        </p:spPr>
      </p:sp>
      <p:sp>
        <p:nvSpPr>
          <p:cNvPr id="16" name="Text 14"/>
          <p:cNvSpPr/>
          <p:nvPr/>
        </p:nvSpPr>
        <p:spPr>
          <a:xfrm>
            <a:off x="1143000" y="2788920"/>
            <a:ext cx="5394960" cy="228600"/>
          </a:xfrm>
          <a:prstGeom prst="rect">
            <a:avLst/>
          </a:prstGeom>
          <a:noFill/>
          <a:ln/>
        </p:spPr>
        <p:txBody>
          <a:bodyPr wrap="square" rtlCol="0" anchor="ctr"/>
          <a:lstStyle/>
          <a:p>
            <a:pPr indent="0" marL="0">
              <a:buNone/>
            </a:pPr>
            <a:r>
              <a:rPr lang="en-US" sz="1050" b="1" dirty="0">
                <a:solidFill>
                  <a:srgbClr val="10B981"/>
                </a:solidFill>
                <a:latin typeface="Calibri" pitchFamily="34" charset="0"/>
                <a:ea typeface="Calibri" pitchFamily="34" charset="-122"/>
                <a:cs typeface="Calibri" pitchFamily="34" charset="-120"/>
              </a:rPr>
              <a:t>1. RACE (Fast Heuristic)</a:t>
            </a:r>
            <a:endParaRPr lang="en-US" sz="1050" dirty="0"/>
          </a:p>
        </p:txBody>
      </p:sp>
      <p:sp>
        <p:nvSpPr>
          <p:cNvPr id="17" name="Text 15"/>
          <p:cNvSpPr/>
          <p:nvPr/>
        </p:nvSpPr>
        <p:spPr>
          <a:xfrm>
            <a:off x="1143000" y="3044952"/>
            <a:ext cx="539496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Spawns parallel lightweight evaluation candidates across quantity and rate variances.</a:t>
            </a:r>
            <a:endParaRPr lang="en-US" sz="950" dirty="0"/>
          </a:p>
        </p:txBody>
      </p:sp>
      <p:sp>
        <p:nvSpPr>
          <p:cNvPr id="18" name="Shape 16"/>
          <p:cNvSpPr/>
          <p:nvPr/>
        </p:nvSpPr>
        <p:spPr>
          <a:xfrm>
            <a:off x="1005840" y="3538728"/>
            <a:ext cx="5669280" cy="731520"/>
          </a:xfrm>
          <a:prstGeom prst="roundRect">
            <a:avLst>
              <a:gd name="adj" fmla="val 10000"/>
            </a:avLst>
          </a:prstGeom>
          <a:solidFill>
            <a:srgbClr val="0F172A"/>
          </a:solidFill>
          <a:ln w="12700">
            <a:solidFill>
              <a:srgbClr val="059669"/>
            </a:solidFill>
            <a:prstDash val="solid"/>
          </a:ln>
        </p:spPr>
      </p:sp>
      <p:sp>
        <p:nvSpPr>
          <p:cNvPr id="19" name="Text 17"/>
          <p:cNvSpPr/>
          <p:nvPr/>
        </p:nvSpPr>
        <p:spPr>
          <a:xfrm>
            <a:off x="1143000" y="3630168"/>
            <a:ext cx="5394960" cy="228600"/>
          </a:xfrm>
          <a:prstGeom prst="rect">
            <a:avLst/>
          </a:prstGeom>
          <a:noFill/>
          <a:ln/>
        </p:spPr>
        <p:txBody>
          <a:bodyPr wrap="square" rtlCol="0" anchor="ctr"/>
          <a:lstStyle/>
          <a:p>
            <a:pPr indent="0" marL="0">
              <a:buNone/>
            </a:pPr>
            <a:r>
              <a:rPr lang="en-US" sz="1050" b="1" dirty="0">
                <a:solidFill>
                  <a:srgbClr val="10B981"/>
                </a:solidFill>
                <a:latin typeface="Calibri" pitchFamily="34" charset="0"/>
                <a:ea typeface="Calibri" pitchFamily="34" charset="-122"/>
                <a:cs typeface="Calibri" pitchFamily="34" charset="-120"/>
              </a:rPr>
              <a:t>2. JUDGE (Multi-Point Corroboration)</a:t>
            </a:r>
            <a:endParaRPr lang="en-US" sz="1050" dirty="0"/>
          </a:p>
        </p:txBody>
      </p:sp>
      <p:sp>
        <p:nvSpPr>
          <p:cNvPr id="20" name="Text 18"/>
          <p:cNvSpPr/>
          <p:nvPr/>
        </p:nvSpPr>
        <p:spPr>
          <a:xfrm>
            <a:off x="1143000" y="3886200"/>
            <a:ext cx="539496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Arbitrates candidate discrepancies against physical dock notes and contract schedules.</a:t>
            </a:r>
            <a:endParaRPr lang="en-US" sz="950" dirty="0"/>
          </a:p>
        </p:txBody>
      </p:sp>
      <p:sp>
        <p:nvSpPr>
          <p:cNvPr id="21" name="Shape 19"/>
          <p:cNvSpPr/>
          <p:nvPr/>
        </p:nvSpPr>
        <p:spPr>
          <a:xfrm>
            <a:off x="1005840" y="4379976"/>
            <a:ext cx="5669280" cy="731520"/>
          </a:xfrm>
          <a:prstGeom prst="roundRect">
            <a:avLst>
              <a:gd name="adj" fmla="val 10000"/>
            </a:avLst>
          </a:prstGeom>
          <a:solidFill>
            <a:srgbClr val="0F172A"/>
          </a:solidFill>
          <a:ln w="12700">
            <a:solidFill>
              <a:srgbClr val="059669"/>
            </a:solidFill>
            <a:prstDash val="solid"/>
          </a:ln>
        </p:spPr>
      </p:sp>
      <p:sp>
        <p:nvSpPr>
          <p:cNvPr id="22" name="Text 20"/>
          <p:cNvSpPr/>
          <p:nvPr/>
        </p:nvSpPr>
        <p:spPr>
          <a:xfrm>
            <a:off x="1143000" y="4471416"/>
            <a:ext cx="5394960" cy="228600"/>
          </a:xfrm>
          <a:prstGeom prst="rect">
            <a:avLst/>
          </a:prstGeom>
          <a:noFill/>
          <a:ln/>
        </p:spPr>
        <p:txBody>
          <a:bodyPr wrap="square" rtlCol="0" anchor="ctr"/>
          <a:lstStyle/>
          <a:p>
            <a:pPr indent="0" marL="0">
              <a:buNone/>
            </a:pPr>
            <a:r>
              <a:rPr lang="en-US" sz="1050" b="1" dirty="0">
                <a:solidFill>
                  <a:srgbClr val="10B981"/>
                </a:solidFill>
                <a:latin typeface="Calibri" pitchFamily="34" charset="0"/>
                <a:ea typeface="Calibri" pitchFamily="34" charset="-122"/>
                <a:cs typeface="Calibri" pitchFamily="34" charset="-120"/>
              </a:rPr>
              <a:t>3. VERIFY (Deterministic Proof)</a:t>
            </a:r>
            <a:endParaRPr lang="en-US" sz="1050" dirty="0"/>
          </a:p>
        </p:txBody>
      </p:sp>
      <p:sp>
        <p:nvSpPr>
          <p:cNvPr id="23" name="Text 21"/>
          <p:cNvSpPr/>
          <p:nvPr/>
        </p:nvSpPr>
        <p:spPr>
          <a:xfrm>
            <a:off x="1143000" y="4727448"/>
            <a:ext cx="539496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Cross-checks findings against exact cell coordinates {file, row, col}; rejects hallucinations.</a:t>
            </a:r>
            <a:endParaRPr lang="en-US" sz="950" dirty="0"/>
          </a:p>
        </p:txBody>
      </p:sp>
      <p:sp>
        <p:nvSpPr>
          <p:cNvPr id="24" name="Shape 22"/>
          <p:cNvSpPr/>
          <p:nvPr/>
        </p:nvSpPr>
        <p:spPr>
          <a:xfrm>
            <a:off x="1005840" y="5221224"/>
            <a:ext cx="5669280" cy="731520"/>
          </a:xfrm>
          <a:prstGeom prst="roundRect">
            <a:avLst>
              <a:gd name="adj" fmla="val 10000"/>
            </a:avLst>
          </a:prstGeom>
          <a:solidFill>
            <a:srgbClr val="0F172A"/>
          </a:solidFill>
          <a:ln w="12700">
            <a:solidFill>
              <a:srgbClr val="059669"/>
            </a:solidFill>
            <a:prstDash val="solid"/>
          </a:ln>
        </p:spPr>
      </p:sp>
      <p:sp>
        <p:nvSpPr>
          <p:cNvPr id="25" name="Text 23"/>
          <p:cNvSpPr/>
          <p:nvPr/>
        </p:nvSpPr>
        <p:spPr>
          <a:xfrm>
            <a:off x="1143000" y="5312664"/>
            <a:ext cx="5394960" cy="228600"/>
          </a:xfrm>
          <a:prstGeom prst="rect">
            <a:avLst/>
          </a:prstGeom>
          <a:noFill/>
          <a:ln/>
        </p:spPr>
        <p:txBody>
          <a:bodyPr wrap="square" rtlCol="0" anchor="ctr"/>
          <a:lstStyle/>
          <a:p>
            <a:pPr indent="0" marL="0">
              <a:buNone/>
            </a:pPr>
            <a:r>
              <a:rPr lang="en-US" sz="1050" b="1" dirty="0">
                <a:solidFill>
                  <a:srgbClr val="10B981"/>
                </a:solidFill>
                <a:latin typeface="Calibri" pitchFamily="34" charset="0"/>
                <a:ea typeface="Calibri" pitchFamily="34" charset="-122"/>
                <a:cs typeface="Calibri" pitchFamily="34" charset="-120"/>
              </a:rPr>
              <a:t>4. GENERATE (Resolution Synthesis)</a:t>
            </a:r>
            <a:endParaRPr lang="en-US" sz="1050" dirty="0"/>
          </a:p>
        </p:txBody>
      </p:sp>
      <p:sp>
        <p:nvSpPr>
          <p:cNvPr id="26" name="Text 24"/>
          <p:cNvSpPr/>
          <p:nvPr/>
        </p:nvSpPr>
        <p:spPr>
          <a:xfrm>
            <a:off x="1143000" y="5568696"/>
            <a:ext cx="5394960" cy="320040"/>
          </a:xfrm>
          <a:prstGeom prst="rect">
            <a:avLst/>
          </a:prstGeom>
          <a:noFill/>
          <a:ln/>
        </p:spPr>
        <p:txBody>
          <a:bodyPr wrap="square" rtlCol="0" anchor="ctr"/>
          <a:lstStyle/>
          <a:p>
            <a:pPr indent="0" marL="0">
              <a:buNone/>
            </a:pPr>
            <a:r>
              <a:rPr lang="en-US" sz="950" dirty="0">
                <a:solidFill>
                  <a:srgbClr val="CBD5E1"/>
                </a:solidFill>
                <a:latin typeface="Calibri" pitchFamily="34" charset="0"/>
                <a:ea typeface="Calibri" pitchFamily="34" charset="-122"/>
                <a:cs typeface="Calibri" pitchFamily="34" charset="-120"/>
              </a:rPr>
              <a:t>Synthesizes executive summary and formal supplier dispute documentation in 42ms.</a:t>
            </a:r>
            <a:endParaRPr lang="en-US" sz="950" dirty="0"/>
          </a:p>
        </p:txBody>
      </p:sp>
      <p:sp>
        <p:nvSpPr>
          <p:cNvPr id="27" name="Shape 25"/>
          <p:cNvSpPr/>
          <p:nvPr/>
        </p:nvSpPr>
        <p:spPr>
          <a:xfrm>
            <a:off x="7223760" y="1691640"/>
            <a:ext cx="4233672" cy="4526280"/>
          </a:xfrm>
          <a:prstGeom prst="roundRect">
            <a:avLst>
              <a:gd name="adj" fmla="val 3240"/>
            </a:avLst>
          </a:prstGeom>
          <a:solidFill>
            <a:srgbClr val="064E3B"/>
          </a:solidFill>
          <a:ln w="25400">
            <a:solidFill>
              <a:srgbClr val="10B981"/>
            </a:solidFill>
            <a:prstDash val="solid"/>
          </a:ln>
        </p:spPr>
      </p:sp>
      <p:sp>
        <p:nvSpPr>
          <p:cNvPr id="28" name="Text 26"/>
          <p:cNvSpPr/>
          <p:nvPr/>
        </p:nvSpPr>
        <p:spPr>
          <a:xfrm>
            <a:off x="7452360" y="1920240"/>
            <a:ext cx="3749040" cy="274320"/>
          </a:xfrm>
          <a:prstGeom prst="rect">
            <a:avLst/>
          </a:prstGeom>
          <a:noFill/>
          <a:ln/>
        </p:spPr>
        <p:txBody>
          <a:bodyPr wrap="square" rtlCol="0" anchor="ctr"/>
          <a:lstStyle/>
          <a:p>
            <a:pPr indent="0" marL="0">
              <a:buNone/>
            </a:pPr>
            <a:r>
              <a:rPr lang="en-US" sz="1100" b="1" dirty="0">
                <a:solidFill>
                  <a:srgbClr val="6EE7B7"/>
                </a:solidFill>
                <a:latin typeface="Calibri" pitchFamily="34" charset="0"/>
                <a:ea typeface="Calibri" pitchFamily="34" charset="-122"/>
                <a:cs typeface="Calibri" pitchFamily="34" charset="-120"/>
              </a:rPr>
              <a:t>CRYPTOGRAPHIC AUDIT RECEIPT</a:t>
            </a:r>
            <a:endParaRPr lang="en-US" sz="1100" dirty="0"/>
          </a:p>
        </p:txBody>
      </p:sp>
      <p:sp>
        <p:nvSpPr>
          <p:cNvPr id="29" name="Text 27"/>
          <p:cNvSpPr/>
          <p:nvPr/>
        </p:nvSpPr>
        <p:spPr>
          <a:xfrm>
            <a:off x="7452360" y="2194560"/>
            <a:ext cx="3749040" cy="411480"/>
          </a:xfrm>
          <a:prstGeom prst="rect">
            <a:avLst/>
          </a:prstGeom>
          <a:noFill/>
          <a:ln/>
        </p:spPr>
        <p:txBody>
          <a:bodyPr wrap="square" rtlCol="0" anchor="ctr"/>
          <a:lstStyle/>
          <a:p>
            <a:pPr indent="0" marL="0">
              <a:buNone/>
            </a:pPr>
            <a:r>
              <a:rPr lang="en-US" sz="1800" b="1" dirty="0">
                <a:solidFill>
                  <a:srgbClr val="FFFFFF"/>
                </a:solidFill>
                <a:latin typeface="Courier New" pitchFamily="34" charset="0"/>
                <a:ea typeface="Courier New" pitchFamily="34" charset="-122"/>
                <a:cs typeface="Courier New" pitchFamily="34" charset="-120"/>
              </a:rPr>
              <a:t>ns-rcpt-8f3a9e</a:t>
            </a:r>
            <a:endParaRPr lang="en-US" sz="1800" dirty="0"/>
          </a:p>
        </p:txBody>
      </p:sp>
      <p:sp>
        <p:nvSpPr>
          <p:cNvPr id="30" name="Text 28"/>
          <p:cNvSpPr/>
          <p:nvPr/>
        </p:nvSpPr>
        <p:spPr>
          <a:xfrm>
            <a:off x="7452360" y="2697480"/>
            <a:ext cx="3749040" cy="333756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 Execution Engine: Meterless Nightshift v2.4</a:t>
            </a:r>
            <a:endParaRPr lang="en-US" sz="1050" dirty="0"/>
          </a:p>
          <a:p>
            <a:pPr indent="0" marL="0">
              <a:buNone/>
            </a:pPr>
            <a:r>
              <a:rPr lang="en-US" sz="1050" dirty="0">
                <a:solidFill>
                  <a:srgbClr val="E2E8F0"/>
                </a:solidFill>
                <a:latin typeface="Calibri" pitchFamily="34" charset="0"/>
                <a:ea typeface="Calibri" pitchFamily="34" charset="-122"/>
                <a:cs typeface="Calibri" pitchFamily="34" charset="-120"/>
              </a:rPr>
              <a:t>• Compute Location: Local Enterprise Boundary</a:t>
            </a:r>
            <a:endParaRPr lang="en-US" sz="1050" dirty="0"/>
          </a:p>
          <a:p>
            <a:pPr indent="0" marL="0">
              <a:buNone/>
            </a:pPr>
            <a:r>
              <a:rPr lang="en-US" sz="1050" dirty="0">
                <a:solidFill>
                  <a:srgbClr val="E2E8F0"/>
                </a:solidFill>
                <a:latin typeface="Calibri" pitchFamily="34" charset="0"/>
                <a:ea typeface="Calibri" pitchFamily="34" charset="-122"/>
                <a:cs typeface="Calibri" pitchFamily="34" charset="-120"/>
              </a:rPr>
              <a:t>• Cloud Tokens Incurred: Exactly 0.00</a:t>
            </a:r>
            <a:endParaRPr lang="en-US" sz="1050" dirty="0"/>
          </a:p>
          <a:p>
            <a:pPr indent="0" marL="0">
              <a:buNone/>
            </a:pPr>
            <a:r>
              <a:rPr lang="en-US" sz="1050" dirty="0">
                <a:solidFill>
                  <a:srgbClr val="E2E8F0"/>
                </a:solidFill>
                <a:latin typeface="Calibri" pitchFamily="34" charset="0"/>
                <a:ea typeface="Calibri" pitchFamily="34" charset="-122"/>
                <a:cs typeface="Calibri" pitchFamily="34" charset="-120"/>
              </a:rPr>
              <a:t>• Cloud Token Cost: $0.00 USD</a:t>
            </a:r>
            <a:endParaRPr lang="en-US" sz="1050" dirty="0"/>
          </a:p>
          <a:p>
            <a:pPr indent="0" marL="0">
              <a:buNone/>
            </a:pPr>
            <a:r>
              <a:rPr lang="en-US" sz="1050" dirty="0">
                <a:solidFill>
                  <a:srgbClr val="E2E8F0"/>
                </a:solidFill>
                <a:latin typeface="Calibri" pitchFamily="34" charset="0"/>
                <a:ea typeface="Calibri" pitchFamily="34" charset="-122"/>
                <a:cs typeface="Calibri" pitchFamily="34" charset="-120"/>
              </a:rPr>
              <a:t>• Inference Latency: 42 milliseconds</a:t>
            </a:r>
            <a:endParaRPr lang="en-US" sz="1050" dirty="0"/>
          </a:p>
          <a:p>
            <a:pPr indent="0" marL="0">
              <a:buNone/>
            </a:pPr>
            <a:r>
              <a:rPr lang="en-US" sz="1050" dirty="0">
                <a:solidFill>
                  <a:srgbClr val="E2E8F0"/>
                </a:solidFill>
                <a:latin typeface="Calibri" pitchFamily="34" charset="0"/>
                <a:ea typeface="Calibri" pitchFamily="34" charset="-122"/>
                <a:cs typeface="Calibri" pitchFamily="34" charset="-120"/>
              </a:rPr>
              <a:t>• Execution Hash: a4f8...39e1</a:t>
            </a:r>
            <a:endParaRPr lang="en-US" sz="1050" dirty="0"/>
          </a:p>
          <a:p>
            <a:pPr indent="0" marL="0">
              <a:buNone/>
            </a:pPr>
            <a:r>
              <a:rPr lang="en-US" sz="1050" dirty="0">
                <a:solidFill>
                  <a:srgbClr val="E2E8F0"/>
                </a:solidFill>
                <a:latin typeface="Calibri" pitchFamily="34" charset="0"/>
                <a:ea typeface="Calibri" pitchFamily="34" charset="-122"/>
                <a:cs typeface="Calibri" pitchFamily="34" charset="-120"/>
              </a:rPr>
              <a:t>• Status: VERIFIED &amp; SEALED</a:t>
            </a:r>
            <a:endParaRPr lang="en-US" sz="1050" dirty="0"/>
          </a:p>
          <a:p>
            <a:pPr indent="0" marL="0">
              <a:buNone/>
            </a:pPr>
            <a:endParaRPr lang="en-US" sz="1050" dirty="0"/>
          </a:p>
          <a:p>
            <a:pPr indent="0" marL="0">
              <a:buNone/>
            </a:pPr>
            <a:r>
              <a:rPr lang="en-US" sz="1050" dirty="0">
                <a:solidFill>
                  <a:srgbClr val="E2E8F0"/>
                </a:solidFill>
                <a:latin typeface="Calibri" pitchFamily="34" charset="0"/>
                <a:ea typeface="Calibri" pitchFamily="34" charset="-122"/>
                <a:cs typeface="Calibri" pitchFamily="34" charset="-120"/>
              </a:rPr>
              <a:t>Nightshift eliminates cloud API rate limits, keeps sensitive enterprise data private, and guarantees predictable $0 inference cost.</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ROI &amp; ROADMAP</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27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Enterprise Business Impact &amp; Implementation ROI</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Quantifying financial returns and path to enterprise production deployment.</a:t>
            </a:r>
            <a:endParaRPr lang="en-US" sz="1250" dirty="0"/>
          </a:p>
        </p:txBody>
      </p:sp>
      <p:sp>
        <p:nvSpPr>
          <p:cNvPr id="12" name="Shape 10"/>
          <p:cNvSpPr/>
          <p:nvPr/>
        </p:nvSpPr>
        <p:spPr>
          <a:xfrm>
            <a:off x="731520" y="1691640"/>
            <a:ext cx="2606040" cy="2011680"/>
          </a:xfrm>
          <a:prstGeom prst="roundRect">
            <a:avLst>
              <a:gd name="adj" fmla="val 5455"/>
            </a:avLst>
          </a:prstGeom>
          <a:solidFill>
            <a:srgbClr val="0B1120"/>
          </a:solidFill>
          <a:ln w="19050">
            <a:solidFill>
              <a:srgbClr val="10B981"/>
            </a:solidFill>
            <a:prstDash val="solid"/>
          </a:ln>
        </p:spPr>
      </p:sp>
      <p:sp>
        <p:nvSpPr>
          <p:cNvPr id="13" name="Text 11"/>
          <p:cNvSpPr/>
          <p:nvPr/>
        </p:nvSpPr>
        <p:spPr>
          <a:xfrm>
            <a:off x="868680" y="1874520"/>
            <a:ext cx="2331720" cy="640080"/>
          </a:xfrm>
          <a:prstGeom prst="rect">
            <a:avLst/>
          </a:prstGeom>
          <a:noFill/>
          <a:ln/>
        </p:spPr>
        <p:txBody>
          <a:bodyPr wrap="square" rtlCol="0" anchor="ctr"/>
          <a:lstStyle/>
          <a:p>
            <a:pPr algn="ctr" indent="0" marL="0">
              <a:buNone/>
            </a:pPr>
            <a:r>
              <a:rPr lang="en-US" sz="2800" b="1" dirty="0">
                <a:solidFill>
                  <a:srgbClr val="10B981"/>
                </a:solidFill>
                <a:latin typeface="Calibri" pitchFamily="34" charset="0"/>
                <a:ea typeface="Calibri" pitchFamily="34" charset="-122"/>
                <a:cs typeface="Calibri" pitchFamily="34" charset="-120"/>
              </a:rPr>
              <a:t>$1.2M - $2.5M</a:t>
            </a:r>
            <a:endParaRPr lang="en-US" sz="2800" dirty="0"/>
          </a:p>
        </p:txBody>
      </p:sp>
      <p:sp>
        <p:nvSpPr>
          <p:cNvPr id="14" name="Text 12"/>
          <p:cNvSpPr/>
          <p:nvPr/>
        </p:nvSpPr>
        <p:spPr>
          <a:xfrm>
            <a:off x="868680" y="2560320"/>
            <a:ext cx="2331720" cy="32004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Annual Cash Recovery</a:t>
            </a:r>
            <a:endParaRPr lang="en-US" sz="1250" dirty="0"/>
          </a:p>
        </p:txBody>
      </p:sp>
      <p:sp>
        <p:nvSpPr>
          <p:cNvPr id="15" name="Text 13"/>
          <p:cNvSpPr/>
          <p:nvPr/>
        </p:nvSpPr>
        <p:spPr>
          <a:xfrm>
            <a:off x="868680" y="2880360"/>
            <a:ext cx="2331720" cy="731520"/>
          </a:xfrm>
          <a:prstGeom prst="rect">
            <a:avLst/>
          </a:prstGeom>
          <a:noFill/>
          <a:ln/>
        </p:spPr>
        <p:txBody>
          <a:bodyPr wrap="square" rtlCol="0" anchor="ctr"/>
          <a:lstStyle/>
          <a:p>
            <a:pPr algn="ctr" indent="0" marL="0">
              <a:buNone/>
            </a:pPr>
            <a:r>
              <a:rPr lang="en-US" sz="950" dirty="0">
                <a:solidFill>
                  <a:srgbClr val="CBD5E1"/>
                </a:solidFill>
                <a:latin typeface="Calibri" pitchFamily="34" charset="0"/>
                <a:ea typeface="Calibri" pitchFamily="34" charset="-122"/>
                <a:cs typeface="Calibri" pitchFamily="34" charset="-120"/>
              </a:rPr>
              <a:t>Projected net recovery for an enterprise processing $50M in annual procurement spend.</a:t>
            </a:r>
            <a:endParaRPr lang="en-US" sz="950" dirty="0"/>
          </a:p>
        </p:txBody>
      </p:sp>
      <p:sp>
        <p:nvSpPr>
          <p:cNvPr id="16" name="Shape 14"/>
          <p:cNvSpPr/>
          <p:nvPr/>
        </p:nvSpPr>
        <p:spPr>
          <a:xfrm>
            <a:off x="3456432" y="1691640"/>
            <a:ext cx="2606040" cy="2011680"/>
          </a:xfrm>
          <a:prstGeom prst="roundRect">
            <a:avLst>
              <a:gd name="adj" fmla="val 5455"/>
            </a:avLst>
          </a:prstGeom>
          <a:solidFill>
            <a:srgbClr val="0B1120"/>
          </a:solidFill>
          <a:ln w="19050">
            <a:solidFill>
              <a:srgbClr val="38BDF8"/>
            </a:solidFill>
            <a:prstDash val="solid"/>
          </a:ln>
        </p:spPr>
      </p:sp>
      <p:sp>
        <p:nvSpPr>
          <p:cNvPr id="17" name="Text 15"/>
          <p:cNvSpPr/>
          <p:nvPr/>
        </p:nvSpPr>
        <p:spPr>
          <a:xfrm>
            <a:off x="3593592" y="1874520"/>
            <a:ext cx="2331720" cy="640080"/>
          </a:xfrm>
          <a:prstGeom prst="rect">
            <a:avLst/>
          </a:prstGeom>
          <a:noFill/>
          <a:ln/>
        </p:spPr>
        <p:txBody>
          <a:bodyPr wrap="square" rtlCol="0" anchor="ctr"/>
          <a:lstStyle/>
          <a:p>
            <a:pPr algn="ctr" indent="0" marL="0">
              <a:buNone/>
            </a:pPr>
            <a:r>
              <a:rPr lang="en-US" sz="2800" b="1" dirty="0">
                <a:solidFill>
                  <a:srgbClr val="38BDF8"/>
                </a:solidFill>
                <a:latin typeface="Calibri" pitchFamily="34" charset="0"/>
                <a:ea typeface="Calibri" pitchFamily="34" charset="-122"/>
                <a:cs typeface="Calibri" pitchFamily="34" charset="-120"/>
              </a:rPr>
              <a:t>10x - 25x</a:t>
            </a:r>
            <a:endParaRPr lang="en-US" sz="2800" dirty="0"/>
          </a:p>
        </p:txBody>
      </p:sp>
      <p:sp>
        <p:nvSpPr>
          <p:cNvPr id="18" name="Text 16"/>
          <p:cNvSpPr/>
          <p:nvPr/>
        </p:nvSpPr>
        <p:spPr>
          <a:xfrm>
            <a:off x="3593592" y="2560320"/>
            <a:ext cx="2331720" cy="32004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Annualized ROI</a:t>
            </a:r>
            <a:endParaRPr lang="en-US" sz="1250" dirty="0"/>
          </a:p>
        </p:txBody>
      </p:sp>
      <p:sp>
        <p:nvSpPr>
          <p:cNvPr id="19" name="Text 17"/>
          <p:cNvSpPr/>
          <p:nvPr/>
        </p:nvSpPr>
        <p:spPr>
          <a:xfrm>
            <a:off x="3593592" y="2880360"/>
            <a:ext cx="2331720" cy="731520"/>
          </a:xfrm>
          <a:prstGeom prst="rect">
            <a:avLst/>
          </a:prstGeom>
          <a:noFill/>
          <a:ln/>
        </p:spPr>
        <p:txBody>
          <a:bodyPr wrap="square" rtlCol="0" anchor="ctr"/>
          <a:lstStyle/>
          <a:p>
            <a:pPr algn="ctr" indent="0" marL="0">
              <a:buNone/>
            </a:pPr>
            <a:r>
              <a:rPr lang="en-US" sz="950" dirty="0">
                <a:solidFill>
                  <a:srgbClr val="CBD5E1"/>
                </a:solidFill>
                <a:latin typeface="Calibri" pitchFamily="34" charset="0"/>
                <a:ea typeface="Calibri" pitchFamily="34" charset="-122"/>
                <a:cs typeface="Calibri" pitchFamily="34" charset="-120"/>
              </a:rPr>
              <a:t>First-year return on investment based on recovered overpayments vs software cost.</a:t>
            </a:r>
            <a:endParaRPr lang="en-US" sz="950" dirty="0"/>
          </a:p>
        </p:txBody>
      </p:sp>
      <p:sp>
        <p:nvSpPr>
          <p:cNvPr id="20" name="Shape 18"/>
          <p:cNvSpPr/>
          <p:nvPr/>
        </p:nvSpPr>
        <p:spPr>
          <a:xfrm>
            <a:off x="6181344" y="1691640"/>
            <a:ext cx="2606040" cy="2011680"/>
          </a:xfrm>
          <a:prstGeom prst="roundRect">
            <a:avLst>
              <a:gd name="adj" fmla="val 5455"/>
            </a:avLst>
          </a:prstGeom>
          <a:solidFill>
            <a:srgbClr val="0B1120"/>
          </a:solidFill>
          <a:ln w="19050">
            <a:solidFill>
              <a:srgbClr val="F59E0B"/>
            </a:solidFill>
            <a:prstDash val="solid"/>
          </a:ln>
        </p:spPr>
      </p:sp>
      <p:sp>
        <p:nvSpPr>
          <p:cNvPr id="21" name="Text 19"/>
          <p:cNvSpPr/>
          <p:nvPr/>
        </p:nvSpPr>
        <p:spPr>
          <a:xfrm>
            <a:off x="6318504" y="1874520"/>
            <a:ext cx="2331720" cy="640080"/>
          </a:xfrm>
          <a:prstGeom prst="rect">
            <a:avLst/>
          </a:prstGeom>
          <a:noFill/>
          <a:ln/>
        </p:spPr>
        <p:txBody>
          <a:bodyPr wrap="square" rtlCol="0" anchor="ctr"/>
          <a:lstStyle/>
          <a:p>
            <a:pPr algn="ctr" indent="0" marL="0">
              <a:buNone/>
            </a:pPr>
            <a:r>
              <a:rPr lang="en-US" sz="2800" b="1" dirty="0">
                <a:solidFill>
                  <a:srgbClr val="F59E0B"/>
                </a:solidFill>
                <a:latin typeface="Calibri" pitchFamily="34" charset="0"/>
                <a:ea typeface="Calibri" pitchFamily="34" charset="-122"/>
                <a:cs typeface="Calibri" pitchFamily="34" charset="-120"/>
              </a:rPr>
              <a:t>&lt;30 Days</a:t>
            </a:r>
            <a:endParaRPr lang="en-US" sz="2800" dirty="0"/>
          </a:p>
        </p:txBody>
      </p:sp>
      <p:sp>
        <p:nvSpPr>
          <p:cNvPr id="22" name="Text 20"/>
          <p:cNvSpPr/>
          <p:nvPr/>
        </p:nvSpPr>
        <p:spPr>
          <a:xfrm>
            <a:off x="6318504" y="2560320"/>
            <a:ext cx="2331720" cy="32004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Time to Value</a:t>
            </a:r>
            <a:endParaRPr lang="en-US" sz="1250" dirty="0"/>
          </a:p>
        </p:txBody>
      </p:sp>
      <p:sp>
        <p:nvSpPr>
          <p:cNvPr id="23" name="Text 21"/>
          <p:cNvSpPr/>
          <p:nvPr/>
        </p:nvSpPr>
        <p:spPr>
          <a:xfrm>
            <a:off x="6318504" y="2880360"/>
            <a:ext cx="2331720" cy="731520"/>
          </a:xfrm>
          <a:prstGeom prst="rect">
            <a:avLst/>
          </a:prstGeom>
          <a:noFill/>
          <a:ln/>
        </p:spPr>
        <p:txBody>
          <a:bodyPr wrap="square" rtlCol="0" anchor="ctr"/>
          <a:lstStyle/>
          <a:p>
            <a:pPr algn="ctr" indent="0" marL="0">
              <a:buNone/>
            </a:pPr>
            <a:r>
              <a:rPr lang="en-US" sz="950" dirty="0">
                <a:solidFill>
                  <a:srgbClr val="CBD5E1"/>
                </a:solidFill>
                <a:latin typeface="Calibri" pitchFamily="34" charset="0"/>
                <a:ea typeface="Calibri" pitchFamily="34" charset="-122"/>
                <a:cs typeface="Calibri" pitchFamily="34" charset="-120"/>
              </a:rPr>
              <a:t>Rapid time to first recovery via zero-ETL data virtualization connectors.</a:t>
            </a:r>
            <a:endParaRPr lang="en-US" sz="950" dirty="0"/>
          </a:p>
        </p:txBody>
      </p:sp>
      <p:sp>
        <p:nvSpPr>
          <p:cNvPr id="24" name="Shape 22"/>
          <p:cNvSpPr/>
          <p:nvPr/>
        </p:nvSpPr>
        <p:spPr>
          <a:xfrm>
            <a:off x="8906256" y="1691640"/>
            <a:ext cx="2606040" cy="2011680"/>
          </a:xfrm>
          <a:prstGeom prst="roundRect">
            <a:avLst>
              <a:gd name="adj" fmla="val 5455"/>
            </a:avLst>
          </a:prstGeom>
          <a:solidFill>
            <a:srgbClr val="0B1120"/>
          </a:solidFill>
          <a:ln w="19050">
            <a:solidFill>
              <a:srgbClr val="A855F7"/>
            </a:solidFill>
            <a:prstDash val="solid"/>
          </a:ln>
        </p:spPr>
      </p:sp>
      <p:sp>
        <p:nvSpPr>
          <p:cNvPr id="25" name="Text 23"/>
          <p:cNvSpPr/>
          <p:nvPr/>
        </p:nvSpPr>
        <p:spPr>
          <a:xfrm>
            <a:off x="9043416" y="1874520"/>
            <a:ext cx="2331720" cy="640080"/>
          </a:xfrm>
          <a:prstGeom prst="rect">
            <a:avLst/>
          </a:prstGeom>
          <a:noFill/>
          <a:ln/>
        </p:spPr>
        <p:txBody>
          <a:bodyPr wrap="square" rtlCol="0" anchor="ctr"/>
          <a:lstStyle/>
          <a:p>
            <a:pPr algn="ctr" indent="0" marL="0">
              <a:buNone/>
            </a:pPr>
            <a:r>
              <a:rPr lang="en-US" sz="2800" b="1" dirty="0">
                <a:solidFill>
                  <a:srgbClr val="A855F7"/>
                </a:solidFill>
                <a:latin typeface="Calibri" pitchFamily="34" charset="0"/>
                <a:ea typeface="Calibri" pitchFamily="34" charset="-122"/>
                <a:cs typeface="Calibri" pitchFamily="34" charset="-120"/>
              </a:rPr>
              <a:t>100%</a:t>
            </a:r>
            <a:endParaRPr lang="en-US" sz="2800" dirty="0"/>
          </a:p>
        </p:txBody>
      </p:sp>
      <p:sp>
        <p:nvSpPr>
          <p:cNvPr id="26" name="Text 24"/>
          <p:cNvSpPr/>
          <p:nvPr/>
        </p:nvSpPr>
        <p:spPr>
          <a:xfrm>
            <a:off x="9043416" y="2560320"/>
            <a:ext cx="2331720" cy="320040"/>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Ledger Audit Coverage</a:t>
            </a:r>
            <a:endParaRPr lang="en-US" sz="1250" dirty="0"/>
          </a:p>
        </p:txBody>
      </p:sp>
      <p:sp>
        <p:nvSpPr>
          <p:cNvPr id="27" name="Text 25"/>
          <p:cNvSpPr/>
          <p:nvPr/>
        </p:nvSpPr>
        <p:spPr>
          <a:xfrm>
            <a:off x="9043416" y="2880360"/>
            <a:ext cx="2331720" cy="731520"/>
          </a:xfrm>
          <a:prstGeom prst="rect">
            <a:avLst/>
          </a:prstGeom>
          <a:noFill/>
          <a:ln/>
        </p:spPr>
        <p:txBody>
          <a:bodyPr wrap="square" rtlCol="0" anchor="ctr"/>
          <a:lstStyle/>
          <a:p>
            <a:pPr algn="ctr" indent="0" marL="0">
              <a:buNone/>
            </a:pPr>
            <a:r>
              <a:rPr lang="en-US" sz="950" dirty="0">
                <a:solidFill>
                  <a:srgbClr val="CBD5E1"/>
                </a:solidFill>
                <a:latin typeface="Calibri" pitchFamily="34" charset="0"/>
                <a:ea typeface="Calibri" pitchFamily="34" charset="-122"/>
                <a:cs typeface="Calibri" pitchFamily="34" charset="-120"/>
              </a:rPr>
              <a:t>Complete transition from 5% random sampling to 100% continuous census audit.</a:t>
            </a:r>
            <a:endParaRPr lang="en-US" sz="950" dirty="0"/>
          </a:p>
        </p:txBody>
      </p:sp>
      <p:sp>
        <p:nvSpPr>
          <p:cNvPr id="28" name="Shape 26"/>
          <p:cNvSpPr/>
          <p:nvPr/>
        </p:nvSpPr>
        <p:spPr>
          <a:xfrm>
            <a:off x="731520" y="3886200"/>
            <a:ext cx="10725912" cy="2331720"/>
          </a:xfrm>
          <a:prstGeom prst="roundRect">
            <a:avLst>
              <a:gd name="adj" fmla="val 5882"/>
            </a:avLst>
          </a:prstGeom>
          <a:solidFill>
            <a:srgbClr val="0F172A"/>
          </a:solidFill>
          <a:ln w="19050">
            <a:solidFill>
              <a:srgbClr val="1E293B"/>
            </a:solidFill>
            <a:prstDash val="solid"/>
          </a:ln>
        </p:spPr>
      </p:sp>
      <p:sp>
        <p:nvSpPr>
          <p:cNvPr id="29" name="Text 27"/>
          <p:cNvSpPr/>
          <p:nvPr/>
        </p:nvSpPr>
        <p:spPr>
          <a:xfrm>
            <a:off x="1005840" y="4069080"/>
            <a:ext cx="1014984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ENTERPRISE SCALE &amp; PRODUCT ROADMAP:</a:t>
            </a:r>
            <a:endParaRPr lang="en-US" sz="1100" dirty="0"/>
          </a:p>
        </p:txBody>
      </p:sp>
      <p:sp>
        <p:nvSpPr>
          <p:cNvPr id="30" name="Text 28"/>
          <p:cNvSpPr/>
          <p:nvPr/>
        </p:nvSpPr>
        <p:spPr>
          <a:xfrm>
            <a:off x="1005840" y="4389120"/>
            <a:ext cx="10149840" cy="1691640"/>
          </a:xfrm>
          <a:prstGeom prst="rect">
            <a:avLst/>
          </a:prstGeom>
          <a:noFill/>
          <a:ln/>
        </p:spPr>
        <p:txBody>
          <a:bodyPr wrap="square" rtlCol="0" anchor="ctr"/>
          <a:lstStyle/>
          <a:p>
            <a:pPr indent="0" marL="0">
              <a:buNone/>
            </a:pPr>
            <a:r>
              <a:rPr lang="en-US" sz="1100" dirty="0">
                <a:solidFill>
                  <a:srgbClr val="CBD5E1"/>
                </a:solidFill>
                <a:latin typeface="Calibri" pitchFamily="34" charset="0"/>
                <a:ea typeface="Calibri" pitchFamily="34" charset="-122"/>
                <a:cs typeface="Calibri" pitchFamily="34" charset="-120"/>
              </a:rPr>
              <a:t>• Phase 1 (Current): Autonomous 4-way matching with Zetaris Zero-ETL, Meterless Engine, and Nightshift AI ($0 compute).</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Phase 2 (Q1 2027): Native bidirectional connectors for SAP S/4HANA, Coupa, and Oracle Cloud Procurement.</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Phase 3 (Q2 2027): NVIDIA NIM microservice deployment (meta/llama-3.1-8b-instruct) for high-throughput enterprise clusters.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Phase 4 (Q3 2027): Autonomous supplier portal negotiation with automated credit memo settlement loops.</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560320" cy="292608"/>
          </a:xfrm>
          <a:prstGeom prst="roundRect">
            <a:avLst>
              <a:gd name="adj" fmla="val 50000"/>
            </a:avLst>
          </a:prstGeom>
          <a:solidFill>
            <a:srgbClr val="1E1B4B"/>
          </a:solidFill>
          <a:ln w="12700">
            <a:solidFill>
              <a:srgbClr val="4338CA"/>
            </a:solidFill>
            <a:prstDash val="solid"/>
          </a:ln>
        </p:spPr>
      </p:sp>
      <p:sp>
        <p:nvSpPr>
          <p:cNvPr id="3" name="Text 1"/>
          <p:cNvSpPr/>
          <p:nvPr/>
        </p:nvSpPr>
        <p:spPr>
          <a:xfrm>
            <a:off x="731520" y="384048"/>
            <a:ext cx="2560320" cy="292608"/>
          </a:xfrm>
          <a:prstGeom prst="rect">
            <a:avLst/>
          </a:prstGeom>
          <a:noFill/>
          <a:ln/>
        </p:spPr>
        <p:txBody>
          <a:bodyPr wrap="square" rtlCol="0" anchor="ctr"/>
          <a:lstStyle/>
          <a:p>
            <a:pPr algn="ctr" indent="0" marL="0">
              <a:buNone/>
            </a:pPr>
            <a:r>
              <a:rPr lang="en-US" sz="950" b="1" dirty="0">
                <a:solidFill>
                  <a:srgbClr val="A5B4FC"/>
                </a:solidFill>
                <a:latin typeface="Calibri" pitchFamily="34" charset="0"/>
                <a:ea typeface="Calibri" pitchFamily="34" charset="-122"/>
                <a:cs typeface="Calibri" pitchFamily="34" charset="-120"/>
              </a:rPr>
              <a:t>VERIFICATION &amp; CONCLUSION</a:t>
            </a:r>
            <a:endParaRPr lang="en-US" sz="950" dirty="0"/>
          </a:p>
        </p:txBody>
      </p:sp>
      <p:sp>
        <p:nvSpPr>
          <p:cNvPr id="4" name="Shape 2"/>
          <p:cNvSpPr/>
          <p:nvPr/>
        </p:nvSpPr>
        <p:spPr>
          <a:xfrm>
            <a:off x="342900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42900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28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54480"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54480"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698480"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Summary, Live Demo, and Open-Source Repository</a:t>
            </a:r>
            <a:endParaRPr lang="en-US" sz="2100" dirty="0"/>
          </a:p>
        </p:txBody>
      </p:sp>
      <p:sp>
        <p:nvSpPr>
          <p:cNvPr id="11" name="Text 9"/>
          <p:cNvSpPr/>
          <p:nvPr/>
        </p:nvSpPr>
        <p:spPr>
          <a:xfrm>
            <a:off x="731520" y="1234440"/>
            <a:ext cx="10698480" cy="292608"/>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TraceBack AI turns enterprise procurement leakage into measurable cash recovery.</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25400">
            <a:solidFill>
              <a:srgbClr val="312E81"/>
            </a:solidFill>
            <a:prstDash val="solid"/>
          </a:ln>
        </p:spPr>
      </p:sp>
      <p:sp>
        <p:nvSpPr>
          <p:cNvPr id="13" name="Text 11"/>
          <p:cNvSpPr/>
          <p:nvPr/>
        </p:nvSpPr>
        <p:spPr>
          <a:xfrm>
            <a:off x="1005840" y="1920240"/>
            <a:ext cx="1014984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PRODUCTION VERIFICATION &amp; DEMONSTRATION LINKS:</a:t>
            </a:r>
            <a:endParaRPr lang="en-US" sz="1100" dirty="0"/>
          </a:p>
        </p:txBody>
      </p:sp>
      <p:sp>
        <p:nvSpPr>
          <p:cNvPr id="14" name="Shape 12"/>
          <p:cNvSpPr/>
          <p:nvPr/>
        </p:nvSpPr>
        <p:spPr>
          <a:xfrm>
            <a:off x="1005840" y="2286000"/>
            <a:ext cx="10149840" cy="530352"/>
          </a:xfrm>
          <a:prstGeom prst="roundRect">
            <a:avLst>
              <a:gd name="adj" fmla="val 13793"/>
            </a:avLst>
          </a:prstGeom>
          <a:solidFill>
            <a:srgbClr val="0F172A"/>
          </a:solidFill>
          <a:ln w="12700">
            <a:solidFill>
              <a:srgbClr val="1E293B"/>
            </a:solidFill>
            <a:prstDash val="solid"/>
          </a:ln>
        </p:spPr>
      </p:sp>
      <p:sp>
        <p:nvSpPr>
          <p:cNvPr id="15" name="Text 13"/>
          <p:cNvSpPr/>
          <p:nvPr/>
        </p:nvSpPr>
        <p:spPr>
          <a:xfrm>
            <a:off x="1188720" y="2359152"/>
            <a:ext cx="3840480" cy="201168"/>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Live Web Application (GitHub Pages):</a:t>
            </a:r>
            <a:endParaRPr lang="en-US" sz="1050" dirty="0"/>
          </a:p>
        </p:txBody>
      </p:sp>
      <p:sp>
        <p:nvSpPr>
          <p:cNvPr id="16" name="Text 14"/>
          <p:cNvSpPr/>
          <p:nvPr/>
        </p:nvSpPr>
        <p:spPr>
          <a:xfrm>
            <a:off x="1188720" y="2560320"/>
            <a:ext cx="384048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Full interactive React dashboard with simulation, audit trail &amp; claim approval.</a:t>
            </a:r>
            <a:endParaRPr lang="en-US" sz="850" dirty="0"/>
          </a:p>
        </p:txBody>
      </p:sp>
      <p:sp>
        <p:nvSpPr>
          <p:cNvPr id="17" name="Text 15"/>
          <p:cNvSpPr/>
          <p:nvPr/>
        </p:nvSpPr>
        <p:spPr>
          <a:xfrm>
            <a:off x="5120640" y="2423160"/>
            <a:ext cx="5852160" cy="274320"/>
          </a:xfrm>
          <a:prstGeom prst="rect">
            <a:avLst/>
          </a:prstGeom>
          <a:noFill/>
          <a:ln/>
        </p:spPr>
        <p:txBody>
          <a:bodyPr wrap="square" rtlCol="0" anchor="ctr"/>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a:t>
            </a:r>
            <a:endParaRPr lang="en-US" sz="1050" dirty="0"/>
          </a:p>
        </p:txBody>
      </p:sp>
      <p:sp>
        <p:nvSpPr>
          <p:cNvPr id="18" name="Shape 16"/>
          <p:cNvSpPr/>
          <p:nvPr/>
        </p:nvSpPr>
        <p:spPr>
          <a:xfrm>
            <a:off x="1005840" y="2907792"/>
            <a:ext cx="10149840" cy="530352"/>
          </a:xfrm>
          <a:prstGeom prst="roundRect">
            <a:avLst>
              <a:gd name="adj" fmla="val 13793"/>
            </a:avLst>
          </a:prstGeom>
          <a:solidFill>
            <a:srgbClr val="0F172A"/>
          </a:solidFill>
          <a:ln w="12700">
            <a:solidFill>
              <a:srgbClr val="1E293B"/>
            </a:solidFill>
            <a:prstDash val="solid"/>
          </a:ln>
        </p:spPr>
      </p:sp>
      <p:sp>
        <p:nvSpPr>
          <p:cNvPr id="19" name="Text 17"/>
          <p:cNvSpPr/>
          <p:nvPr/>
        </p:nvSpPr>
        <p:spPr>
          <a:xfrm>
            <a:off x="1188720" y="2980944"/>
            <a:ext cx="3840480" cy="201168"/>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Interactive Web Presentation Deck:</a:t>
            </a:r>
            <a:endParaRPr lang="en-US" sz="1050" dirty="0"/>
          </a:p>
        </p:txBody>
      </p:sp>
      <p:sp>
        <p:nvSpPr>
          <p:cNvPr id="20" name="Text 18"/>
          <p:cNvSpPr/>
          <p:nvPr/>
        </p:nvSpPr>
        <p:spPr>
          <a:xfrm>
            <a:off x="1188720" y="3182112"/>
            <a:ext cx="384048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In-browser 28-slide deck with keyboard navigation and speaker notes.</a:t>
            </a:r>
            <a:endParaRPr lang="en-US" sz="850" dirty="0"/>
          </a:p>
        </p:txBody>
      </p:sp>
      <p:sp>
        <p:nvSpPr>
          <p:cNvPr id="21" name="Text 19"/>
          <p:cNvSpPr/>
          <p:nvPr/>
        </p:nvSpPr>
        <p:spPr>
          <a:xfrm>
            <a:off x="5120640" y="3044952"/>
            <a:ext cx="5852160" cy="274320"/>
          </a:xfrm>
          <a:prstGeom prst="rect">
            <a:avLst/>
          </a:prstGeom>
          <a:noFill/>
          <a:ln/>
        </p:spPr>
        <p:txBody>
          <a:bodyPr wrap="square" rtlCol="0" anchor="ctr"/>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https://zaintahir2025.github.io/traceback-ai/presentation.html</a:t>
            </a:r>
            <a:endParaRPr lang="en-US" sz="1050" dirty="0"/>
          </a:p>
        </p:txBody>
      </p:sp>
      <p:sp>
        <p:nvSpPr>
          <p:cNvPr id="22" name="Shape 20"/>
          <p:cNvSpPr/>
          <p:nvPr/>
        </p:nvSpPr>
        <p:spPr>
          <a:xfrm>
            <a:off x="1005840" y="3529584"/>
            <a:ext cx="10149840" cy="530352"/>
          </a:xfrm>
          <a:prstGeom prst="roundRect">
            <a:avLst>
              <a:gd name="adj" fmla="val 13793"/>
            </a:avLst>
          </a:prstGeom>
          <a:solidFill>
            <a:srgbClr val="0F172A"/>
          </a:solidFill>
          <a:ln w="12700">
            <a:solidFill>
              <a:srgbClr val="1E293B"/>
            </a:solidFill>
            <a:prstDash val="solid"/>
          </a:ln>
        </p:spPr>
      </p:sp>
      <p:sp>
        <p:nvSpPr>
          <p:cNvPr id="23" name="Text 21"/>
          <p:cNvSpPr/>
          <p:nvPr/>
        </p:nvSpPr>
        <p:spPr>
          <a:xfrm>
            <a:off x="1188720" y="3602736"/>
            <a:ext cx="3840480" cy="201168"/>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PowerPoint File (.pptx) Download:</a:t>
            </a:r>
            <a:endParaRPr lang="en-US" sz="1050" dirty="0"/>
          </a:p>
        </p:txBody>
      </p:sp>
      <p:sp>
        <p:nvSpPr>
          <p:cNvPr id="24" name="Text 22"/>
          <p:cNvSpPr/>
          <p:nvPr/>
        </p:nvSpPr>
        <p:spPr>
          <a:xfrm>
            <a:off x="1188720" y="3803904"/>
            <a:ext cx="384048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Direct download of official 28-slide Microsoft PowerPoint deck (240 KB).</a:t>
            </a:r>
            <a:endParaRPr lang="en-US" sz="850" dirty="0"/>
          </a:p>
        </p:txBody>
      </p:sp>
      <p:sp>
        <p:nvSpPr>
          <p:cNvPr id="25" name="Text 23"/>
          <p:cNvSpPr/>
          <p:nvPr/>
        </p:nvSpPr>
        <p:spPr>
          <a:xfrm>
            <a:off x="5120640" y="3666744"/>
            <a:ext cx="5852160" cy="274320"/>
          </a:xfrm>
          <a:prstGeom prst="rect">
            <a:avLst/>
          </a:prstGeom>
          <a:noFill/>
          <a:ln/>
        </p:spPr>
        <p:txBody>
          <a:bodyPr wrap="square" rtlCol="0" anchor="ctr"/>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https://zaintahir2025.github.io/traceback-ai/traceback-ai-presentation.pptx</a:t>
            </a:r>
            <a:endParaRPr lang="en-US" sz="1050" dirty="0"/>
          </a:p>
        </p:txBody>
      </p:sp>
      <p:sp>
        <p:nvSpPr>
          <p:cNvPr id="26" name="Shape 24"/>
          <p:cNvSpPr/>
          <p:nvPr/>
        </p:nvSpPr>
        <p:spPr>
          <a:xfrm>
            <a:off x="1005840" y="4151376"/>
            <a:ext cx="10149840" cy="530352"/>
          </a:xfrm>
          <a:prstGeom prst="roundRect">
            <a:avLst>
              <a:gd name="adj" fmla="val 13793"/>
            </a:avLst>
          </a:prstGeom>
          <a:solidFill>
            <a:srgbClr val="0F172A"/>
          </a:solidFill>
          <a:ln w="12700">
            <a:solidFill>
              <a:srgbClr val="1E293B"/>
            </a:solidFill>
            <a:prstDash val="solid"/>
          </a:ln>
        </p:spPr>
      </p:sp>
      <p:sp>
        <p:nvSpPr>
          <p:cNvPr id="27" name="Text 25"/>
          <p:cNvSpPr/>
          <p:nvPr/>
        </p:nvSpPr>
        <p:spPr>
          <a:xfrm>
            <a:off x="1188720" y="4224528"/>
            <a:ext cx="3840480" cy="201168"/>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2-Minute Demo Video Walkthrough:</a:t>
            </a:r>
            <a:endParaRPr lang="en-US" sz="1050" dirty="0"/>
          </a:p>
        </p:txBody>
      </p:sp>
      <p:sp>
        <p:nvSpPr>
          <p:cNvPr id="28" name="Text 26"/>
          <p:cNvSpPr/>
          <p:nvPr/>
        </p:nvSpPr>
        <p:spPr>
          <a:xfrm>
            <a:off x="1188720" y="4425696"/>
            <a:ext cx="384048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Standalone HTML5 presentation with synchronized speech narration.</a:t>
            </a:r>
            <a:endParaRPr lang="en-US" sz="850" dirty="0"/>
          </a:p>
        </p:txBody>
      </p:sp>
      <p:sp>
        <p:nvSpPr>
          <p:cNvPr id="29" name="Text 27"/>
          <p:cNvSpPr/>
          <p:nvPr/>
        </p:nvSpPr>
        <p:spPr>
          <a:xfrm>
            <a:off x="5120640" y="4288536"/>
            <a:ext cx="5852160" cy="274320"/>
          </a:xfrm>
          <a:prstGeom prst="rect">
            <a:avLst/>
          </a:prstGeom>
          <a:noFill/>
          <a:ln/>
        </p:spPr>
        <p:txBody>
          <a:bodyPr wrap="square" rtlCol="0" anchor="ctr"/>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https://zaintahir2025.github.io/traceback-ai/demo-video.html</a:t>
            </a:r>
            <a:endParaRPr lang="en-US" sz="1050" dirty="0"/>
          </a:p>
        </p:txBody>
      </p:sp>
      <p:sp>
        <p:nvSpPr>
          <p:cNvPr id="30" name="Shape 28"/>
          <p:cNvSpPr/>
          <p:nvPr/>
        </p:nvSpPr>
        <p:spPr>
          <a:xfrm>
            <a:off x="1005840" y="4773168"/>
            <a:ext cx="10149840" cy="530352"/>
          </a:xfrm>
          <a:prstGeom prst="roundRect">
            <a:avLst>
              <a:gd name="adj" fmla="val 13793"/>
            </a:avLst>
          </a:prstGeom>
          <a:solidFill>
            <a:srgbClr val="0F172A"/>
          </a:solidFill>
          <a:ln w="12700">
            <a:solidFill>
              <a:srgbClr val="1E293B"/>
            </a:solidFill>
            <a:prstDash val="solid"/>
          </a:ln>
        </p:spPr>
      </p:sp>
      <p:sp>
        <p:nvSpPr>
          <p:cNvPr id="31" name="Text 29"/>
          <p:cNvSpPr/>
          <p:nvPr/>
        </p:nvSpPr>
        <p:spPr>
          <a:xfrm>
            <a:off x="1188720" y="4846320"/>
            <a:ext cx="3840480" cy="201168"/>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Official Demo Video (MP4) File:</a:t>
            </a:r>
            <a:endParaRPr lang="en-US" sz="1050" dirty="0"/>
          </a:p>
        </p:txBody>
      </p:sp>
      <p:sp>
        <p:nvSpPr>
          <p:cNvPr id="32" name="Text 30"/>
          <p:cNvSpPr/>
          <p:nvPr/>
        </p:nvSpPr>
        <p:spPr>
          <a:xfrm>
            <a:off x="1188720" y="5047488"/>
            <a:ext cx="384048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Direct download of 98-second HD MP4 video file (4.02 MB).</a:t>
            </a:r>
            <a:endParaRPr lang="en-US" sz="850" dirty="0"/>
          </a:p>
        </p:txBody>
      </p:sp>
      <p:sp>
        <p:nvSpPr>
          <p:cNvPr id="33" name="Text 31"/>
          <p:cNvSpPr/>
          <p:nvPr/>
        </p:nvSpPr>
        <p:spPr>
          <a:xfrm>
            <a:off x="5120640" y="4910328"/>
            <a:ext cx="5852160" cy="274320"/>
          </a:xfrm>
          <a:prstGeom prst="rect">
            <a:avLst/>
          </a:prstGeom>
          <a:noFill/>
          <a:ln/>
        </p:spPr>
        <p:txBody>
          <a:bodyPr wrap="square" rtlCol="0" anchor="ctr"/>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https://zaintahir2025.github.io/traceback-ai/traceback-ai-demo.mp4</a:t>
            </a:r>
            <a:endParaRPr lang="en-US" sz="1050" dirty="0"/>
          </a:p>
        </p:txBody>
      </p:sp>
      <p:sp>
        <p:nvSpPr>
          <p:cNvPr id="34" name="Shape 32"/>
          <p:cNvSpPr/>
          <p:nvPr/>
        </p:nvSpPr>
        <p:spPr>
          <a:xfrm>
            <a:off x="1005840" y="5394960"/>
            <a:ext cx="10149840" cy="530352"/>
          </a:xfrm>
          <a:prstGeom prst="roundRect">
            <a:avLst>
              <a:gd name="adj" fmla="val 13793"/>
            </a:avLst>
          </a:prstGeom>
          <a:solidFill>
            <a:srgbClr val="0F172A"/>
          </a:solidFill>
          <a:ln w="12700">
            <a:solidFill>
              <a:srgbClr val="1E293B"/>
            </a:solidFill>
            <a:prstDash val="solid"/>
          </a:ln>
        </p:spPr>
      </p:sp>
      <p:sp>
        <p:nvSpPr>
          <p:cNvPr id="35" name="Text 33"/>
          <p:cNvSpPr/>
          <p:nvPr/>
        </p:nvSpPr>
        <p:spPr>
          <a:xfrm>
            <a:off x="1188720" y="5468112"/>
            <a:ext cx="3840480" cy="201168"/>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Open-Source GitHub Repository:</a:t>
            </a:r>
            <a:endParaRPr lang="en-US" sz="1050" dirty="0"/>
          </a:p>
        </p:txBody>
      </p:sp>
      <p:sp>
        <p:nvSpPr>
          <p:cNvPr id="36" name="Text 34"/>
          <p:cNvSpPr/>
          <p:nvPr/>
        </p:nvSpPr>
        <p:spPr>
          <a:xfrm>
            <a:off x="1188720" y="5669280"/>
            <a:ext cx="384048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Full source code, backend API, tests, Zetaris integration &amp; Meterless engine.</a:t>
            </a:r>
            <a:endParaRPr lang="en-US" sz="850" dirty="0"/>
          </a:p>
        </p:txBody>
      </p:sp>
      <p:sp>
        <p:nvSpPr>
          <p:cNvPr id="37" name="Text 35"/>
          <p:cNvSpPr/>
          <p:nvPr/>
        </p:nvSpPr>
        <p:spPr>
          <a:xfrm>
            <a:off x="5120640" y="5532120"/>
            <a:ext cx="5852160" cy="274320"/>
          </a:xfrm>
          <a:prstGeom prst="rect">
            <a:avLst/>
          </a:prstGeom>
          <a:noFill/>
          <a:ln/>
        </p:spPr>
        <p:txBody>
          <a:bodyPr wrap="square" rtlCol="0" anchor="ctr"/>
          <a:lstStyle/>
          <a:p>
            <a:pPr indent="0" marL="0">
              <a:buNone/>
            </a:pPr>
            <a:r>
              <a:rPr lang="en-US" sz="1050" dirty="0">
                <a:solidFill>
                  <a:srgbClr val="38BDF8"/>
                </a:solidFill>
                <a:latin typeface="Calibri" pitchFamily="34" charset="0"/>
                <a:ea typeface="Calibri" pitchFamily="34" charset="-122"/>
                <a:cs typeface="Calibri" pitchFamily="34" charset="-120"/>
              </a:rPr>
              <a:t>https://github.com/zaintahir2025/traceback-ai</a:t>
            </a:r>
            <a:endParaRPr lang="en-US" sz="1050" dirty="0"/>
          </a:p>
        </p:txBody>
      </p:sp>
      <p:sp>
        <p:nvSpPr>
          <p:cNvPr id="38" name="Text 36"/>
          <p:cNvSpPr/>
          <p:nvPr/>
        </p:nvSpPr>
        <p:spPr>
          <a:xfrm>
            <a:off x="1005840" y="5897880"/>
            <a:ext cx="10149840" cy="274320"/>
          </a:xfrm>
          <a:prstGeom prst="rect">
            <a:avLst/>
          </a:prstGeom>
          <a:noFill/>
          <a:ln/>
        </p:spPr>
        <p:txBody>
          <a:bodyPr wrap="square" rtlCol="0" anchor="ctr"/>
          <a:lstStyle/>
          <a:p>
            <a:pPr algn="ctr" indent="0" marL="0">
              <a:buNone/>
            </a:pPr>
            <a:r>
              <a:rPr lang="en-US" sz="1100" b="1" dirty="0">
                <a:solidFill>
                  <a:srgbClr val="10B981"/>
                </a:solidFill>
                <a:latin typeface="Calibri" pitchFamily="34" charset="0"/>
                <a:ea typeface="Calibri" pitchFamily="34" charset="-122"/>
                <a:cs typeface="Calibri" pitchFamily="34" charset="-120"/>
              </a:rPr>
              <a:t>TraceBack AI is fully built, tested, and live today. Thank you for your time!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TraceBack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TraceBack AI — Comprehensive 28-Slide Executive Deck</dc:title>
  <dc:subject>Autonomous 4-Way Cross-Source Data Virtualization &amp; Spend Recovery Agent</dc:subject>
  <dc:creator>Zain Tahir</dc:creator>
  <cp:lastModifiedBy>Zain Tahir</cp:lastModifiedBy>
  <cp:revision>1</cp:revision>
  <dcterms:created xsi:type="dcterms:W3CDTF">2026-10-26T17:50:20Z</dcterms:created>
  <dcterms:modified xsi:type="dcterms:W3CDTF">2026-10-26T17:50:20Z</dcterms:modified>
</cp:coreProperties>
</file>