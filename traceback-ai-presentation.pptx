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TraceBack AI, an autonomous multi-agent platform designed to eradicate enterprise procurement leakage. In Fortune 500 supply chains, companies quietly lose 1.5% to 4% of total procurement spend due to uncoordinated enterprise silos. By combining Zetaris Zero-ETL Data Virtualization, Meterless Relay Orchestration, and Meterless Nightshift local intelligence, TraceBack AI reconciles purchase orders, delivery notes, supplier invoices, and legal contracts in under 200 milliseconds with an immutable, cell-level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core problem: procurement data does not live in one place. Silo 1 is the ERP where purchase orders are cut. Silo 2 is the warehouse management system where dock workers log actual physical receipts. Silo 3 is accounts payable where supplier invoices are received. And Silo 4 is legal and contract repositories containing negotiated discount rates. When an invoice arrives, AP checks the purchase order and sees 120 units approved at $50. They pay it. But the warehouse only accepted 100 units! That is a $1,000 quantity loss. Furthermore, the master contract specifies a $48 rate, not $50. That is an extra $200 price creep. In a typical $50 million spend company, this leakage accounts for $1.5 million in wasted cash each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uses TraceBack AI? We address four key enterprise stakeholders: First, the Chief Procurement Officer, who gains 100% contract compliance and prevents supplier price creep. Second, the Lead Financial Auditor, who replaces random 5% sample audits with a 100% census audit with cell-level legal evidence. Third, the Accounts Payable controller, who catches overcharges in 184ms before money leaves the bank and dispatches automated dispute letters. And fourth, Supply Chain and Warehouse managers, who ensure inventory receipts strictly govern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TraceBack AI in action. On Purchase Order PO-1001, TraceBack AI reconciles all four sources in 184 milliseconds. It uncovers two distinct discrepancies totaling $1,200.00. Discrepancy 1 is quantity overbilling: the supplier billed for 120 units, but warehouse receiving note DN-045 logged only 100 units physically received. That is 20 unreceived units billed at $50, or a $1,000 loss. Discrepancy 2 is contract rate escalation: the invoice charged $50 per unit versus our contracted rate of $48. That is $2 per unit across 100 received units, adding $200. Every single finding links directly to the exact file, row, and column. And crucially, to prove credibility, testing clean order PO-1002 returns zero overcharges and 100% concordance, proving our agents do not trigger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architecture is structured in four high-performance layers. Layer 1 is the Data Virtualization Layer powered by Zetaris, which connects directly to ERP, WMS, AP, and Contract stores without data copying. Layer 2 is the Agent Orchestration Pipeline built on Meterless. It runs a 5-stage mission: Scout parses audit intent, Relay coordinates queries, the reconciliation engine calculates discrepancies, confidence scoring evaluates audit strength, and Meterless Nightshift performs autonomous local reasoning. Layer 3 is the Evidence Index that locks down immutable cell coordinates. And Layer 4 is the interactive React frontend where auditors approve claims and export dispute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our deep integration with the required hackathon sponsors. On the left is Zetaris: rather than building slow, fragile ETL pipelines that copy sensitive financial data, Zetaris allows our agents to execute federated SQL joins across ERP, WMS, invoice, and contract datasets on the fly in 12 milliseconds. We support both the live Zetaris Network API and an identical in-memory cross-source mock for seamless offline execution. On the right is the Meterless Engine: Scout establishes audit rules; Relay coordinates agents and data queries; Meterless Nightshift serves as our AI provider, running a 4-stage Race, Judge, Verify, Generate local reasoning cycle that eliminates cloud token costs and produces an immutable cryptographic receipt; and Gaia H-MEM persists audit state across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TraceBack AI converts passive invoice processing into proactive, cash-generating spend defense. With 184-millisecond audit speed, $1,200 recovered per 100 purchase orders, 96.5% audit confidence, and zero false positives, it delivers immediate ROI to procurement organizations. Everything demonstrated is fully open-source, deployed live on GitHub Pages, and verifiable right now.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731520"/>
            <a:ext cx="10725912" cy="5120640"/>
          </a:xfrm>
          <a:prstGeom prst="roundRect">
            <a:avLst>
              <a:gd name="adj" fmla="val 3571"/>
            </a:avLst>
          </a:prstGeom>
          <a:solidFill>
            <a:srgbClr val="0B1120"/>
          </a:solidFill>
          <a:ln w="25400">
            <a:solidFill>
              <a:srgbClr val="312E81"/>
            </a:solidFill>
            <a:prstDash val="solid"/>
          </a:ln>
        </p:spPr>
      </p:sp>
      <p:sp>
        <p:nvSpPr>
          <p:cNvPr id="3" name="Shape 1"/>
          <p:cNvSpPr/>
          <p:nvPr/>
        </p:nvSpPr>
        <p:spPr>
          <a:xfrm>
            <a:off x="1188720" y="1188720"/>
            <a:ext cx="3108960" cy="329184"/>
          </a:xfrm>
          <a:prstGeom prst="roundRect">
            <a:avLst>
              <a:gd name="adj" fmla="val 50000"/>
            </a:avLst>
          </a:prstGeom>
          <a:solidFill>
            <a:srgbClr val="1E1B4B"/>
          </a:solidFill>
          <a:ln w="19050">
            <a:solidFill>
              <a:srgbClr val="6366F1"/>
            </a:solidFill>
            <a:prstDash val="solid"/>
          </a:ln>
        </p:spPr>
      </p:sp>
      <p:sp>
        <p:nvSpPr>
          <p:cNvPr id="4" name="Text 2"/>
          <p:cNvSpPr/>
          <p:nvPr/>
        </p:nvSpPr>
        <p:spPr>
          <a:xfrm>
            <a:off x="1188720" y="1188720"/>
            <a:ext cx="3108960" cy="329184"/>
          </a:xfrm>
          <a:prstGeom prst="rect">
            <a:avLst/>
          </a:prstGeom>
          <a:noFill/>
          <a:ln/>
        </p:spPr>
        <p:txBody>
          <a:bodyPr wrap="square" rtlCol="0" anchor="ctr"/>
          <a:lstStyle/>
          <a:p>
            <a:pPr algn="ctr" indent="0" marL="0">
              <a:buNone/>
            </a:pPr>
            <a:r>
              <a:rPr lang="en-US" sz="1100" b="1" dirty="0">
                <a:solidFill>
                  <a:srgbClr val="C7D2FE"/>
                </a:solidFill>
                <a:latin typeface="Calibri" pitchFamily="34" charset="0"/>
                <a:ea typeface="Calibri" pitchFamily="34" charset="-122"/>
                <a:cs typeface="Calibri" pitchFamily="34" charset="-120"/>
              </a:rPr>
              <a:t>GLOBAL AI HACKATHON 2026</a:t>
            </a:r>
            <a:endParaRPr lang="en-US" sz="1100" dirty="0"/>
          </a:p>
        </p:txBody>
      </p:sp>
      <p:sp>
        <p:nvSpPr>
          <p:cNvPr id="5" name="Text 3"/>
          <p:cNvSpPr/>
          <p:nvPr/>
        </p:nvSpPr>
        <p:spPr>
          <a:xfrm>
            <a:off x="1188720" y="1691640"/>
            <a:ext cx="9601200" cy="82296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TraceBack AI</a:t>
            </a:r>
            <a:endParaRPr lang="en-US" sz="4400" dirty="0"/>
          </a:p>
        </p:txBody>
      </p:sp>
      <p:sp>
        <p:nvSpPr>
          <p:cNvPr id="6" name="Text 4"/>
          <p:cNvSpPr/>
          <p:nvPr/>
        </p:nvSpPr>
        <p:spPr>
          <a:xfrm>
            <a:off x="1188720" y="2514600"/>
            <a:ext cx="9601200" cy="457200"/>
          </a:xfrm>
          <a:prstGeom prst="rect">
            <a:avLst/>
          </a:prstGeom>
          <a:noFill/>
          <a:ln/>
        </p:spPr>
        <p:txBody>
          <a:bodyPr wrap="square" rtlCol="0" anchor="t"/>
          <a:lstStyle/>
          <a:p>
            <a:pPr indent="0" marL="0">
              <a:buNone/>
            </a:pPr>
            <a:r>
              <a:rPr lang="en-US" sz="1800" b="1" dirty="0">
                <a:solidFill>
                  <a:srgbClr val="38BDF8"/>
                </a:solidFill>
                <a:latin typeface="Calibri" pitchFamily="34" charset="0"/>
                <a:ea typeface="Calibri" pitchFamily="34" charset="-122"/>
                <a:cs typeface="Calibri" pitchFamily="34" charset="-120"/>
              </a:rPr>
              <a:t>Autonomous 4-Way Cross-Source Data Virtualization &amp; Supplier Spend Recovery Agent</a:t>
            </a:r>
            <a:endParaRPr lang="en-US" sz="1800" dirty="0"/>
          </a:p>
        </p:txBody>
      </p:sp>
      <p:sp>
        <p:nvSpPr>
          <p:cNvPr id="7" name="Text 5"/>
          <p:cNvSpPr/>
          <p:nvPr/>
        </p:nvSpPr>
        <p:spPr>
          <a:xfrm>
            <a:off x="1188720" y="3017520"/>
            <a:ext cx="9601200" cy="548640"/>
          </a:xfrm>
          <a:prstGeom prst="rect">
            <a:avLst/>
          </a:prstGeom>
          <a:noFill/>
          <a:ln/>
        </p:spPr>
        <p:txBody>
          <a:bodyPr wrap="square" rtlCol="0" anchor="t"/>
          <a:lstStyle/>
          <a:p>
            <a:pPr indent="0" marL="0">
              <a:buNone/>
            </a:pPr>
            <a:r>
              <a:rPr lang="en-US" sz="1400" dirty="0">
                <a:solidFill>
                  <a:srgbClr val="CBD5E1"/>
                </a:solidFill>
                <a:latin typeface="Calibri" pitchFamily="34" charset="0"/>
                <a:ea typeface="Calibri" pitchFamily="34" charset="-122"/>
                <a:cs typeface="Calibri" pitchFamily="34" charset="-120"/>
              </a:rPr>
              <a:t>Unifying ERP purchase orders, warehouse delivery receipts, AP invoices, and master contracts with zero ETL, cell-level audit trails, and zero dollar local AI execution.</a:t>
            </a:r>
            <a:endParaRPr lang="en-US" sz="1400" dirty="0"/>
          </a:p>
        </p:txBody>
      </p:sp>
      <p:sp>
        <p:nvSpPr>
          <p:cNvPr id="8" name="Shape 6"/>
          <p:cNvSpPr/>
          <p:nvPr/>
        </p:nvSpPr>
        <p:spPr>
          <a:xfrm>
            <a:off x="1188720" y="3794760"/>
            <a:ext cx="3108960" cy="1143000"/>
          </a:xfrm>
          <a:prstGeom prst="roundRect">
            <a:avLst>
              <a:gd name="adj" fmla="val 12000"/>
            </a:avLst>
          </a:prstGeom>
          <a:solidFill>
            <a:srgbClr val="082F49"/>
          </a:solidFill>
          <a:ln w="19050">
            <a:solidFill>
              <a:srgbClr val="38BDF8"/>
            </a:solidFill>
            <a:prstDash val="solid"/>
          </a:ln>
        </p:spPr>
      </p:sp>
      <p:sp>
        <p:nvSpPr>
          <p:cNvPr id="9" name="Text 7"/>
          <p:cNvSpPr/>
          <p:nvPr/>
        </p:nvSpPr>
        <p:spPr>
          <a:xfrm>
            <a:off x="1325880" y="3886200"/>
            <a:ext cx="283464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ZETARIS VIRTUALIZATION</a:t>
            </a:r>
            <a:endParaRPr lang="en-US" sz="1100" dirty="0"/>
          </a:p>
        </p:txBody>
      </p:sp>
      <p:sp>
        <p:nvSpPr>
          <p:cNvPr id="10" name="Text 8"/>
          <p:cNvSpPr/>
          <p:nvPr/>
        </p:nvSpPr>
        <p:spPr>
          <a:xfrm>
            <a:off x="1325880" y="4160520"/>
            <a:ext cx="2834640" cy="68580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Zero-ETL federated queries across 4 live datasets in 12ms</a:t>
            </a:r>
            <a:endParaRPr lang="en-US" sz="1100" dirty="0"/>
          </a:p>
        </p:txBody>
      </p:sp>
      <p:sp>
        <p:nvSpPr>
          <p:cNvPr id="11" name="Shape 9"/>
          <p:cNvSpPr/>
          <p:nvPr/>
        </p:nvSpPr>
        <p:spPr>
          <a:xfrm>
            <a:off x="4480560" y="3794760"/>
            <a:ext cx="3108960" cy="1143000"/>
          </a:xfrm>
          <a:prstGeom prst="roundRect">
            <a:avLst>
              <a:gd name="adj" fmla="val 12000"/>
            </a:avLst>
          </a:prstGeom>
          <a:solidFill>
            <a:srgbClr val="064E3B"/>
          </a:solidFill>
          <a:ln w="19050">
            <a:solidFill>
              <a:srgbClr val="10B981"/>
            </a:solidFill>
            <a:prstDash val="solid"/>
          </a:ln>
        </p:spPr>
      </p:sp>
      <p:sp>
        <p:nvSpPr>
          <p:cNvPr id="12" name="Text 10"/>
          <p:cNvSpPr/>
          <p:nvPr/>
        </p:nvSpPr>
        <p:spPr>
          <a:xfrm>
            <a:off x="4617720" y="3886200"/>
            <a:ext cx="283464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METERLESS RELAY &amp; H-MEM</a:t>
            </a:r>
            <a:endParaRPr lang="en-US" sz="1100" dirty="0"/>
          </a:p>
        </p:txBody>
      </p:sp>
      <p:sp>
        <p:nvSpPr>
          <p:cNvPr id="13" name="Text 11"/>
          <p:cNvSpPr/>
          <p:nvPr/>
        </p:nvSpPr>
        <p:spPr>
          <a:xfrm>
            <a:off x="4617720" y="4160520"/>
            <a:ext cx="2834640" cy="68580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Scout intent, relay coordination, and persistent Gaia memory</a:t>
            </a:r>
            <a:endParaRPr lang="en-US" sz="1100" dirty="0"/>
          </a:p>
        </p:txBody>
      </p:sp>
      <p:sp>
        <p:nvSpPr>
          <p:cNvPr id="14" name="Shape 12"/>
          <p:cNvSpPr/>
          <p:nvPr/>
        </p:nvSpPr>
        <p:spPr>
          <a:xfrm>
            <a:off x="7772400" y="3794760"/>
            <a:ext cx="3108960" cy="1143000"/>
          </a:xfrm>
          <a:prstGeom prst="roundRect">
            <a:avLst>
              <a:gd name="adj" fmla="val 12000"/>
            </a:avLst>
          </a:prstGeom>
          <a:solidFill>
            <a:srgbClr val="2E1065"/>
          </a:solidFill>
          <a:ln w="19050">
            <a:solidFill>
              <a:srgbClr val="A855F7"/>
            </a:solidFill>
            <a:prstDash val="solid"/>
          </a:ln>
        </p:spPr>
      </p:sp>
      <p:sp>
        <p:nvSpPr>
          <p:cNvPr id="15" name="Text 13"/>
          <p:cNvSpPr/>
          <p:nvPr/>
        </p:nvSpPr>
        <p:spPr>
          <a:xfrm>
            <a:off x="7909560" y="3886200"/>
            <a:ext cx="2834640" cy="274320"/>
          </a:xfrm>
          <a:prstGeom prst="rect">
            <a:avLst/>
          </a:prstGeom>
          <a:noFill/>
          <a:ln/>
        </p:spPr>
        <p:txBody>
          <a:bodyPr wrap="square" rtlCol="0" anchor="ctr"/>
          <a:lstStyle/>
          <a:p>
            <a:pPr indent="0" marL="0">
              <a:buNone/>
            </a:pPr>
            <a:r>
              <a:rPr lang="en-US" sz="1100" b="1" dirty="0">
                <a:solidFill>
                  <a:srgbClr val="A855F7"/>
                </a:solidFill>
                <a:latin typeface="Calibri" pitchFamily="34" charset="0"/>
                <a:ea typeface="Calibri" pitchFamily="34" charset="-122"/>
                <a:cs typeface="Calibri" pitchFamily="34" charset="-120"/>
              </a:rPr>
              <a:t>METERLESS NIGHTSHIFT AI</a:t>
            </a:r>
            <a:endParaRPr lang="en-US" sz="1100" dirty="0"/>
          </a:p>
        </p:txBody>
      </p:sp>
      <p:sp>
        <p:nvSpPr>
          <p:cNvPr id="16" name="Text 14"/>
          <p:cNvSpPr/>
          <p:nvPr/>
        </p:nvSpPr>
        <p:spPr>
          <a:xfrm>
            <a:off x="7909560" y="4160520"/>
            <a:ext cx="2834640" cy="68580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4-stage Race/Judge/Verify/Generate cycle at $0 cloud token cost</a:t>
            </a:r>
            <a:endParaRPr lang="en-US" sz="1100" dirty="0"/>
          </a:p>
        </p:txBody>
      </p:sp>
      <p:sp>
        <p:nvSpPr>
          <p:cNvPr id="17" name="Text 15"/>
          <p:cNvSpPr/>
          <p:nvPr/>
        </p:nvSpPr>
        <p:spPr>
          <a:xfrm>
            <a:off x="1188720" y="5212080"/>
            <a:ext cx="960120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Live Deployment: https://zaintahir2025.github.io/traceback-ai/   |   Lead Developer: Zain Tahir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PROBLEM STATEMENT</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The $1.5M Enterprise Spend Leakage: 4 Disconnected Silos</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Why global procurement operations quietly lose 1.5% to 4.0% of total spend every year.</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3200400" cy="4389120"/>
          </a:xfrm>
          <a:prstGeom prst="roundRect">
            <a:avLst>
              <a:gd name="adj" fmla="val 4286"/>
            </a:avLst>
          </a:prstGeom>
          <a:solidFill>
            <a:srgbClr val="1C1917"/>
          </a:solidFill>
          <a:ln w="25400">
            <a:solidFill>
              <a:srgbClr val="F43F5E"/>
            </a:solidFill>
            <a:prstDash val="solid"/>
          </a:ln>
        </p:spPr>
      </p:sp>
      <p:sp>
        <p:nvSpPr>
          <p:cNvPr id="11" name="Text 9"/>
          <p:cNvSpPr/>
          <p:nvPr/>
        </p:nvSpPr>
        <p:spPr>
          <a:xfrm>
            <a:off x="914400" y="1920240"/>
            <a:ext cx="2834640" cy="274320"/>
          </a:xfrm>
          <a:prstGeom prst="rect">
            <a:avLst/>
          </a:prstGeom>
          <a:noFill/>
          <a:ln/>
        </p:spPr>
        <p:txBody>
          <a:bodyPr wrap="square" rtlCol="0" anchor="ctr"/>
          <a:lstStyle/>
          <a:p>
            <a:pPr indent="0" marL="0">
              <a:buNone/>
            </a:pPr>
            <a:r>
              <a:rPr lang="en-US" sz="1100" b="1" dirty="0">
                <a:solidFill>
                  <a:srgbClr val="F43F5E"/>
                </a:solidFill>
                <a:latin typeface="Calibri" pitchFamily="34" charset="0"/>
                <a:ea typeface="Calibri" pitchFamily="34" charset="-122"/>
                <a:cs typeface="Calibri" pitchFamily="34" charset="-120"/>
              </a:rPr>
              <a:t>ANNUAL LEAKAGE</a:t>
            </a:r>
            <a:endParaRPr lang="en-US" sz="1100" dirty="0"/>
          </a:p>
        </p:txBody>
      </p:sp>
      <p:sp>
        <p:nvSpPr>
          <p:cNvPr id="12" name="Text 10"/>
          <p:cNvSpPr/>
          <p:nvPr/>
        </p:nvSpPr>
        <p:spPr>
          <a:xfrm>
            <a:off x="914400" y="2194560"/>
            <a:ext cx="2834640" cy="731520"/>
          </a:xfrm>
          <a:prstGeom prst="rect">
            <a:avLst/>
          </a:prstGeom>
          <a:noFill/>
          <a:ln/>
        </p:spPr>
        <p:txBody>
          <a:bodyPr wrap="square"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1.5% - 4.0%</a:t>
            </a:r>
            <a:endParaRPr lang="en-US" sz="3800" dirty="0"/>
          </a:p>
        </p:txBody>
      </p:sp>
      <p:sp>
        <p:nvSpPr>
          <p:cNvPr id="13" name="Text 11"/>
          <p:cNvSpPr/>
          <p:nvPr/>
        </p:nvSpPr>
        <p:spPr>
          <a:xfrm>
            <a:off x="914400" y="2926080"/>
            <a:ext cx="2834640" cy="548640"/>
          </a:xfrm>
          <a:prstGeom prst="rect">
            <a:avLst/>
          </a:prstGeom>
          <a:noFill/>
          <a:ln/>
        </p:spPr>
        <p:txBody>
          <a:bodyPr wrap="square" rtlCol="0" anchor="ctr"/>
          <a:lstStyle/>
          <a:p>
            <a:pPr indent="0" marL="0">
              <a:buNone/>
            </a:pPr>
            <a:r>
              <a:rPr lang="en-US" sz="1200" dirty="0">
                <a:solidFill>
                  <a:srgbClr val="CBD5E1"/>
                </a:solidFill>
                <a:latin typeface="Calibri" pitchFamily="34" charset="0"/>
                <a:ea typeface="Calibri" pitchFamily="34" charset="-122"/>
                <a:cs typeface="Calibri" pitchFamily="34" charset="-120"/>
              </a:rPr>
              <a:t>of total enterprise procurement spend is paid in unverified supplier overcharges.</a:t>
            </a:r>
            <a:endParaRPr lang="en-US" sz="1200" dirty="0"/>
          </a:p>
        </p:txBody>
      </p:sp>
      <p:sp>
        <p:nvSpPr>
          <p:cNvPr id="14" name="Shape 12"/>
          <p:cNvSpPr/>
          <p:nvPr/>
        </p:nvSpPr>
        <p:spPr>
          <a:xfrm>
            <a:off x="914400" y="3566160"/>
            <a:ext cx="2834640" cy="0"/>
          </a:xfrm>
          <a:prstGeom prst="line">
            <a:avLst/>
          </a:prstGeom>
          <a:noFill/>
          <a:ln w="12700">
            <a:solidFill>
              <a:srgbClr val="44403C"/>
            </a:solidFill>
            <a:prstDash val="solid"/>
          </a:ln>
        </p:spPr>
      </p:sp>
      <p:sp>
        <p:nvSpPr>
          <p:cNvPr id="15" name="Text 13"/>
          <p:cNvSpPr/>
          <p:nvPr/>
        </p:nvSpPr>
        <p:spPr>
          <a:xfrm>
            <a:off x="914400" y="3749040"/>
            <a:ext cx="2834640" cy="27432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THE AUDIT REALITY:</a:t>
            </a:r>
            <a:endParaRPr lang="en-US" sz="1100" dirty="0"/>
          </a:p>
        </p:txBody>
      </p:sp>
      <p:sp>
        <p:nvSpPr>
          <p:cNvPr id="16" name="Text 14"/>
          <p:cNvSpPr/>
          <p:nvPr/>
        </p:nvSpPr>
        <p:spPr>
          <a:xfrm>
            <a:off x="914400" y="4023360"/>
            <a:ext cx="2834640" cy="1920240"/>
          </a:xfrm>
          <a:prstGeom prst="rect">
            <a:avLst/>
          </a:prstGeom>
          <a:noFill/>
          <a:ln/>
        </p:spPr>
        <p:txBody>
          <a:bodyPr wrap="square"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10,000+ invoices received per month</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2-way manual matching misses delivery notes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Contract ceiling prices stored in separate PDFs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Human fatigue causes 85%+ overcharges to clear</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Post-payment recovery audits cost 30% in fees</a:t>
            </a:r>
            <a:endParaRPr lang="en-US" sz="1100" dirty="0"/>
          </a:p>
        </p:txBody>
      </p:sp>
      <p:sp>
        <p:nvSpPr>
          <p:cNvPr id="17" name="Shape 15"/>
          <p:cNvSpPr/>
          <p:nvPr/>
        </p:nvSpPr>
        <p:spPr>
          <a:xfrm>
            <a:off x="4206240" y="1737360"/>
            <a:ext cx="3474720" cy="2103120"/>
          </a:xfrm>
          <a:prstGeom prst="roundRect">
            <a:avLst>
              <a:gd name="adj" fmla="val 5217"/>
            </a:avLst>
          </a:prstGeom>
          <a:solidFill>
            <a:srgbClr val="0B1120"/>
          </a:solidFill>
          <a:ln w="19050">
            <a:solidFill>
              <a:srgbClr val="38BDF8"/>
            </a:solidFill>
            <a:prstDash val="solid"/>
          </a:ln>
        </p:spPr>
      </p:sp>
      <p:sp>
        <p:nvSpPr>
          <p:cNvPr id="18" name="Text 16"/>
          <p:cNvSpPr/>
          <p:nvPr/>
        </p:nvSpPr>
        <p:spPr>
          <a:xfrm>
            <a:off x="4389120" y="1874520"/>
            <a:ext cx="310896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SILO 1: SAP ERP</a:t>
            </a:r>
            <a:endParaRPr lang="en-US" sz="1000" dirty="0"/>
          </a:p>
        </p:txBody>
      </p:sp>
      <p:sp>
        <p:nvSpPr>
          <p:cNvPr id="19" name="Text 17"/>
          <p:cNvSpPr/>
          <p:nvPr/>
        </p:nvSpPr>
        <p:spPr>
          <a:xfrm>
            <a:off x="4389120" y="212140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Purchase Orders</a:t>
            </a:r>
            <a:endParaRPr lang="en-US" sz="1500" dirty="0"/>
          </a:p>
        </p:txBody>
      </p:sp>
      <p:sp>
        <p:nvSpPr>
          <p:cNvPr id="20" name="Text 18"/>
          <p:cNvSpPr/>
          <p:nvPr/>
        </p:nvSpPr>
        <p:spPr>
          <a:xfrm>
            <a:off x="4389120" y="2468880"/>
            <a:ext cx="310896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PO-1001 authorized 120 units at $50/ea ($6,000.00). Knows what was approved to buy, but has no live confirmation of what the warehouse actually accepted.</a:t>
            </a:r>
            <a:endParaRPr lang="en-US" sz="1050" dirty="0"/>
          </a:p>
        </p:txBody>
      </p:sp>
      <p:sp>
        <p:nvSpPr>
          <p:cNvPr id="21" name="Shape 19"/>
          <p:cNvSpPr/>
          <p:nvPr/>
        </p:nvSpPr>
        <p:spPr>
          <a:xfrm>
            <a:off x="7818120" y="1737360"/>
            <a:ext cx="3474720" cy="2103120"/>
          </a:xfrm>
          <a:prstGeom prst="roundRect">
            <a:avLst>
              <a:gd name="adj" fmla="val 5217"/>
            </a:avLst>
          </a:prstGeom>
          <a:solidFill>
            <a:srgbClr val="0B1120"/>
          </a:solidFill>
          <a:ln w="19050">
            <a:solidFill>
              <a:srgbClr val="F59E0B"/>
            </a:solidFill>
            <a:prstDash val="solid"/>
          </a:ln>
        </p:spPr>
      </p:sp>
      <p:sp>
        <p:nvSpPr>
          <p:cNvPr id="22" name="Text 20"/>
          <p:cNvSpPr/>
          <p:nvPr/>
        </p:nvSpPr>
        <p:spPr>
          <a:xfrm>
            <a:off x="8001000" y="1874520"/>
            <a:ext cx="3108960" cy="228600"/>
          </a:xfrm>
          <a:prstGeom prst="rect">
            <a:avLst/>
          </a:prstGeom>
          <a:noFill/>
          <a:ln/>
        </p:spPr>
        <p:txBody>
          <a:bodyPr wrap="square" rtlCol="0" anchor="ctr"/>
          <a:lstStyle/>
          <a:p>
            <a:pPr indent="0" marL="0">
              <a:buNone/>
            </a:pPr>
            <a:r>
              <a:rPr lang="en-US" sz="1000" b="1" dirty="0">
                <a:solidFill>
                  <a:srgbClr val="F59E0B"/>
                </a:solidFill>
                <a:latin typeface="Calibri" pitchFamily="34" charset="0"/>
                <a:ea typeface="Calibri" pitchFamily="34" charset="-122"/>
                <a:cs typeface="Calibri" pitchFamily="34" charset="-120"/>
              </a:rPr>
              <a:t>SILO 2: WMS LOGISTICS</a:t>
            </a:r>
            <a:endParaRPr lang="en-US" sz="1000" dirty="0"/>
          </a:p>
        </p:txBody>
      </p:sp>
      <p:sp>
        <p:nvSpPr>
          <p:cNvPr id="23" name="Text 21"/>
          <p:cNvSpPr/>
          <p:nvPr/>
        </p:nvSpPr>
        <p:spPr>
          <a:xfrm>
            <a:off x="8001000" y="212140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Warehouse Receiving Notes</a:t>
            </a:r>
            <a:endParaRPr lang="en-US" sz="1500" dirty="0"/>
          </a:p>
        </p:txBody>
      </p:sp>
      <p:sp>
        <p:nvSpPr>
          <p:cNvPr id="24" name="Text 22"/>
          <p:cNvSpPr/>
          <p:nvPr/>
        </p:nvSpPr>
        <p:spPr>
          <a:xfrm>
            <a:off x="8001000" y="2468880"/>
            <a:ext cx="310896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Goods receipt DN-045 logged only 100 units physically delivered at the receiving dock. 20 damaged or backordered units were never physically received.</a:t>
            </a:r>
            <a:endParaRPr lang="en-US" sz="1050" dirty="0"/>
          </a:p>
        </p:txBody>
      </p:sp>
      <p:sp>
        <p:nvSpPr>
          <p:cNvPr id="25" name="Shape 23"/>
          <p:cNvSpPr/>
          <p:nvPr/>
        </p:nvSpPr>
        <p:spPr>
          <a:xfrm>
            <a:off x="4206240" y="3977640"/>
            <a:ext cx="3474720" cy="2103120"/>
          </a:xfrm>
          <a:prstGeom prst="roundRect">
            <a:avLst>
              <a:gd name="adj" fmla="val 5217"/>
            </a:avLst>
          </a:prstGeom>
          <a:solidFill>
            <a:srgbClr val="0B1120"/>
          </a:solidFill>
          <a:ln w="19050">
            <a:solidFill>
              <a:srgbClr val="F43F5E"/>
            </a:solidFill>
            <a:prstDash val="solid"/>
          </a:ln>
        </p:spPr>
      </p:sp>
      <p:sp>
        <p:nvSpPr>
          <p:cNvPr id="26" name="Text 24"/>
          <p:cNvSpPr/>
          <p:nvPr/>
        </p:nvSpPr>
        <p:spPr>
          <a:xfrm>
            <a:off x="4389120" y="4114800"/>
            <a:ext cx="3108960" cy="228600"/>
          </a:xfrm>
          <a:prstGeom prst="rect">
            <a:avLst/>
          </a:prstGeom>
          <a:noFill/>
          <a:ln/>
        </p:spPr>
        <p:txBody>
          <a:bodyPr wrap="square" rtlCol="0" anchor="ctr"/>
          <a:lstStyle/>
          <a:p>
            <a:pPr indent="0" marL="0">
              <a:buNone/>
            </a:pPr>
            <a:r>
              <a:rPr lang="en-US" sz="1000" b="1" dirty="0">
                <a:solidFill>
                  <a:srgbClr val="F43F5E"/>
                </a:solidFill>
                <a:latin typeface="Calibri" pitchFamily="34" charset="0"/>
                <a:ea typeface="Calibri" pitchFamily="34" charset="-122"/>
                <a:cs typeface="Calibri" pitchFamily="34" charset="-120"/>
              </a:rPr>
              <a:t>SILO 3: ACCOUNTS PAYABLE</a:t>
            </a:r>
            <a:endParaRPr lang="en-US" sz="1000" dirty="0"/>
          </a:p>
        </p:txBody>
      </p:sp>
      <p:sp>
        <p:nvSpPr>
          <p:cNvPr id="27" name="Text 25"/>
          <p:cNvSpPr/>
          <p:nvPr/>
        </p:nvSpPr>
        <p:spPr>
          <a:xfrm>
            <a:off x="4389120" y="436168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Supplier Invoices</a:t>
            </a:r>
            <a:endParaRPr lang="en-US" sz="1500" dirty="0"/>
          </a:p>
        </p:txBody>
      </p:sp>
      <p:sp>
        <p:nvSpPr>
          <p:cNvPr id="28" name="Text 26"/>
          <p:cNvSpPr/>
          <p:nvPr/>
        </p:nvSpPr>
        <p:spPr>
          <a:xfrm>
            <a:off x="4389120" y="4709160"/>
            <a:ext cx="310896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Supplier bills for the full 120 units on INV-9001 ($6,000.00). Accounts Payable verifies against the PO and clears payment without cross-checking the WMS dock note.</a:t>
            </a:r>
            <a:endParaRPr lang="en-US" sz="1050" dirty="0"/>
          </a:p>
        </p:txBody>
      </p:sp>
      <p:sp>
        <p:nvSpPr>
          <p:cNvPr id="29" name="Shape 27"/>
          <p:cNvSpPr/>
          <p:nvPr/>
        </p:nvSpPr>
        <p:spPr>
          <a:xfrm>
            <a:off x="7818120" y="3977640"/>
            <a:ext cx="3474720" cy="2103120"/>
          </a:xfrm>
          <a:prstGeom prst="roundRect">
            <a:avLst>
              <a:gd name="adj" fmla="val 5217"/>
            </a:avLst>
          </a:prstGeom>
          <a:solidFill>
            <a:srgbClr val="0B1120"/>
          </a:solidFill>
          <a:ln w="19050">
            <a:solidFill>
              <a:srgbClr val="A855F7"/>
            </a:solidFill>
            <a:prstDash val="solid"/>
          </a:ln>
        </p:spPr>
      </p:sp>
      <p:sp>
        <p:nvSpPr>
          <p:cNvPr id="30" name="Text 28"/>
          <p:cNvSpPr/>
          <p:nvPr/>
        </p:nvSpPr>
        <p:spPr>
          <a:xfrm>
            <a:off x="8001000" y="4114800"/>
            <a:ext cx="3108960" cy="228600"/>
          </a:xfrm>
          <a:prstGeom prst="rect">
            <a:avLst/>
          </a:prstGeom>
          <a:noFill/>
          <a:ln/>
        </p:spPr>
        <p:txBody>
          <a:bodyPr wrap="square" rtlCol="0" anchor="ctr"/>
          <a:lstStyle/>
          <a:p>
            <a:pPr indent="0" marL="0">
              <a:buNone/>
            </a:pPr>
            <a:r>
              <a:rPr lang="en-US" sz="1000" b="1" dirty="0">
                <a:solidFill>
                  <a:srgbClr val="A855F7"/>
                </a:solidFill>
                <a:latin typeface="Calibri" pitchFamily="34" charset="0"/>
                <a:ea typeface="Calibri" pitchFamily="34" charset="-122"/>
                <a:cs typeface="Calibri" pitchFamily="34" charset="-120"/>
              </a:rPr>
              <a:t>SILO 4: LEGAL &amp; SOURCING</a:t>
            </a:r>
            <a:endParaRPr lang="en-US" sz="1000" dirty="0"/>
          </a:p>
        </p:txBody>
      </p:sp>
      <p:sp>
        <p:nvSpPr>
          <p:cNvPr id="31" name="Text 29"/>
          <p:cNvSpPr/>
          <p:nvPr/>
        </p:nvSpPr>
        <p:spPr>
          <a:xfrm>
            <a:off x="8001000" y="4361688"/>
            <a:ext cx="3108960" cy="3200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Master Agreements</a:t>
            </a:r>
            <a:endParaRPr lang="en-US" sz="1500" dirty="0"/>
          </a:p>
        </p:txBody>
      </p:sp>
      <p:sp>
        <p:nvSpPr>
          <p:cNvPr id="32" name="Text 30"/>
          <p:cNvSpPr/>
          <p:nvPr/>
        </p:nvSpPr>
        <p:spPr>
          <a:xfrm>
            <a:off x="8001000" y="4709160"/>
            <a:ext cx="310896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Master Contract Schedule sets ceiling price at $48.00/unit. Invoice billed at $50.00/unit. A $2.00 rate escalation ($200.00 leakage) goes completely undetected.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TARGET PERSONAS</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Built for Procurement, Finance, and Audit Leadership</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Delivering role-tailored automation, audit defensibility, and cash recovery across the enterprise.</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2606040" cy="4389120"/>
          </a:xfrm>
          <a:prstGeom prst="roundRect">
            <a:avLst>
              <a:gd name="adj" fmla="val 5263"/>
            </a:avLst>
          </a:prstGeom>
          <a:solidFill>
            <a:srgbClr val="0B1120"/>
          </a:solidFill>
          <a:ln w="19050">
            <a:solidFill>
              <a:srgbClr val="38BDF8"/>
            </a:solidFill>
            <a:prstDash val="solid"/>
          </a:ln>
        </p:spPr>
      </p:sp>
      <p:sp>
        <p:nvSpPr>
          <p:cNvPr id="11" name="Shape 9"/>
          <p:cNvSpPr/>
          <p:nvPr/>
        </p:nvSpPr>
        <p:spPr>
          <a:xfrm>
            <a:off x="868680" y="1874520"/>
            <a:ext cx="2331720" cy="868680"/>
          </a:xfrm>
          <a:prstGeom prst="roundRect">
            <a:avLst>
              <a:gd name="adj" fmla="val 10526"/>
            </a:avLst>
          </a:prstGeom>
          <a:solidFill>
            <a:srgbClr val="082F49"/>
          </a:solidFill>
          <a:ln w="12700">
            <a:solidFill>
              <a:srgbClr val="38BDF8"/>
            </a:solidFill>
            <a:prstDash val="solid"/>
          </a:ln>
        </p:spPr>
      </p:sp>
      <p:sp>
        <p:nvSpPr>
          <p:cNvPr id="12" name="Text 10"/>
          <p:cNvSpPr/>
          <p:nvPr/>
        </p:nvSpPr>
        <p:spPr>
          <a:xfrm>
            <a:off x="960120" y="1938528"/>
            <a:ext cx="214884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Chief Procurement Officer (CPO)</a:t>
            </a:r>
            <a:endParaRPr lang="en-US" sz="1200" dirty="0"/>
          </a:p>
        </p:txBody>
      </p:sp>
      <p:sp>
        <p:nvSpPr>
          <p:cNvPr id="13" name="Text 11"/>
          <p:cNvSpPr/>
          <p:nvPr/>
        </p:nvSpPr>
        <p:spPr>
          <a:xfrm>
            <a:off x="960120" y="2395728"/>
            <a:ext cx="2148840" cy="274320"/>
          </a:xfrm>
          <a:prstGeom prst="rect">
            <a:avLst/>
          </a:prstGeom>
          <a:noFill/>
          <a:ln/>
        </p:spPr>
        <p:txBody>
          <a:bodyPr wrap="square" rtlCol="0" anchor="ctr"/>
          <a:lstStyle/>
          <a:p>
            <a:pPr indent="0" marL="0">
              <a:buNone/>
            </a:pPr>
            <a:r>
              <a:rPr lang="en-US" sz="950" dirty="0">
                <a:solidFill>
                  <a:srgbClr val="38BDF8"/>
                </a:solidFill>
                <a:latin typeface="Calibri" pitchFamily="34" charset="0"/>
                <a:ea typeface="Calibri" pitchFamily="34" charset="-122"/>
                <a:cs typeface="Calibri" pitchFamily="34" charset="-120"/>
              </a:rPr>
              <a:t>Strategic Sourcing &amp; Vendor Governance</a:t>
            </a:r>
            <a:endParaRPr lang="en-US" sz="950" dirty="0"/>
          </a:p>
        </p:txBody>
      </p:sp>
      <p:sp>
        <p:nvSpPr>
          <p:cNvPr id="14" name="Text 12"/>
          <p:cNvSpPr/>
          <p:nvPr/>
        </p:nvSpPr>
        <p:spPr>
          <a:xfrm>
            <a:off x="914400" y="2880360"/>
            <a:ext cx="2240280" cy="228600"/>
          </a:xfrm>
          <a:prstGeom prst="rect">
            <a:avLst/>
          </a:prstGeom>
          <a:noFill/>
          <a:ln/>
        </p:spPr>
        <p:txBody>
          <a:bodyPr wrap="square" rtlCol="0" anchor="ctr"/>
          <a:lstStyle/>
          <a:p>
            <a:pPr indent="0" marL="0">
              <a:buNone/>
            </a:pPr>
            <a:r>
              <a:rPr lang="en-US" sz="900" b="1" dirty="0">
                <a:solidFill>
                  <a:srgbClr val="F43F5E"/>
                </a:solidFill>
                <a:latin typeface="Calibri" pitchFamily="34" charset="0"/>
                <a:ea typeface="Calibri" pitchFamily="34" charset="-122"/>
                <a:cs typeface="Calibri" pitchFamily="34" charset="-120"/>
              </a:rPr>
              <a:t>PRIMARY PAIN POINT:</a:t>
            </a:r>
            <a:endParaRPr lang="en-US" sz="900" dirty="0"/>
          </a:p>
        </p:txBody>
      </p:sp>
      <p:sp>
        <p:nvSpPr>
          <p:cNvPr id="15" name="Text 13"/>
          <p:cNvSpPr/>
          <p:nvPr/>
        </p:nvSpPr>
        <p:spPr>
          <a:xfrm>
            <a:off x="914400" y="3108960"/>
            <a:ext cx="2240280" cy="5486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Supplier Price Creep &amp; Contract Non-Compliance</a:t>
            </a:r>
            <a:endParaRPr lang="en-US" sz="1050" dirty="0"/>
          </a:p>
        </p:txBody>
      </p:sp>
      <p:sp>
        <p:nvSpPr>
          <p:cNvPr id="16" name="Text 14"/>
          <p:cNvSpPr/>
          <p:nvPr/>
        </p:nvSpPr>
        <p:spPr>
          <a:xfrm>
            <a:off x="914400" y="3794760"/>
            <a:ext cx="2240280" cy="22860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TRACEBACK AI VALUE:</a:t>
            </a:r>
            <a:endParaRPr lang="en-US" sz="900" dirty="0"/>
          </a:p>
        </p:txBody>
      </p:sp>
      <p:sp>
        <p:nvSpPr>
          <p:cNvPr id="17" name="Text 15"/>
          <p:cNvSpPr/>
          <p:nvPr/>
        </p:nvSpPr>
        <p:spPr>
          <a:xfrm>
            <a:off x="914400" y="4023360"/>
            <a:ext cx="2240280" cy="1188720"/>
          </a:xfrm>
          <a:prstGeom prst="rect">
            <a:avLst/>
          </a:prstGeom>
          <a:noFill/>
          <a:ln/>
        </p:spPr>
        <p:txBody>
          <a:bodyPr wrap="square" rtlCol="0" anchor="ctr"/>
          <a:lstStyle/>
          <a:p>
            <a:pPr indent="0" marL="0">
              <a:buNone/>
            </a:pPr>
            <a:r>
              <a:rPr lang="en-US" sz="1050" dirty="0">
                <a:solidFill>
                  <a:srgbClr val="F8FAFC"/>
                </a:solidFill>
                <a:latin typeface="Calibri" pitchFamily="34" charset="0"/>
                <a:ea typeface="Calibri" pitchFamily="34" charset="-122"/>
                <a:cs typeface="Calibri" pitchFamily="34" charset="-120"/>
              </a:rPr>
              <a:t>Automated contract rate enforcement across 100% of purchase orders with vendor scorecards.</a:t>
            </a:r>
            <a:endParaRPr lang="en-US" sz="1050" dirty="0"/>
          </a:p>
        </p:txBody>
      </p:sp>
      <p:sp>
        <p:nvSpPr>
          <p:cNvPr id="18" name="Shape 16"/>
          <p:cNvSpPr/>
          <p:nvPr/>
        </p:nvSpPr>
        <p:spPr>
          <a:xfrm>
            <a:off x="914400" y="5349240"/>
            <a:ext cx="2240280" cy="502920"/>
          </a:xfrm>
          <a:prstGeom prst="roundRect">
            <a:avLst>
              <a:gd name="adj" fmla="val 18182"/>
            </a:avLst>
          </a:prstGeom>
          <a:solidFill>
            <a:srgbClr val="0F172A"/>
          </a:solidFill>
          <a:ln w="12700">
            <a:solidFill>
              <a:srgbClr val="38BDF8"/>
            </a:solidFill>
            <a:prstDash val="solid"/>
          </a:ln>
        </p:spPr>
      </p:sp>
      <p:sp>
        <p:nvSpPr>
          <p:cNvPr id="19" name="Text 17"/>
          <p:cNvSpPr/>
          <p:nvPr/>
        </p:nvSpPr>
        <p:spPr>
          <a:xfrm>
            <a:off x="914400" y="5349240"/>
            <a:ext cx="2240280" cy="502920"/>
          </a:xfrm>
          <a:prstGeom prst="rect">
            <a:avLst/>
          </a:prstGeom>
          <a:noFill/>
          <a:ln/>
        </p:spPr>
        <p:txBody>
          <a:bodyPr wrap="square" rtlCol="0" anchor="ctr"/>
          <a:lstStyle/>
          <a:p>
            <a:pPr algn="ctr" indent="0" marL="0">
              <a:buNone/>
            </a:pPr>
            <a:r>
              <a:rPr lang="en-US" sz="1100" b="1" dirty="0">
                <a:solidFill>
                  <a:srgbClr val="38BDF8"/>
                </a:solidFill>
                <a:latin typeface="Calibri" pitchFamily="34" charset="0"/>
                <a:ea typeface="Calibri" pitchFamily="34" charset="-122"/>
                <a:cs typeface="Calibri" pitchFamily="34" charset="-120"/>
              </a:rPr>
              <a:t>3.2% Spend Reduction</a:t>
            </a:r>
            <a:endParaRPr lang="en-US" sz="1100" dirty="0"/>
          </a:p>
        </p:txBody>
      </p:sp>
      <p:sp>
        <p:nvSpPr>
          <p:cNvPr id="20" name="Shape 18"/>
          <p:cNvSpPr/>
          <p:nvPr/>
        </p:nvSpPr>
        <p:spPr>
          <a:xfrm>
            <a:off x="3456432" y="1737360"/>
            <a:ext cx="2606040" cy="4389120"/>
          </a:xfrm>
          <a:prstGeom prst="roundRect">
            <a:avLst>
              <a:gd name="adj" fmla="val 5263"/>
            </a:avLst>
          </a:prstGeom>
          <a:solidFill>
            <a:srgbClr val="0B1120"/>
          </a:solidFill>
          <a:ln w="19050">
            <a:solidFill>
              <a:srgbClr val="10B981"/>
            </a:solidFill>
            <a:prstDash val="solid"/>
          </a:ln>
        </p:spPr>
      </p:sp>
      <p:sp>
        <p:nvSpPr>
          <p:cNvPr id="21" name="Shape 19"/>
          <p:cNvSpPr/>
          <p:nvPr/>
        </p:nvSpPr>
        <p:spPr>
          <a:xfrm>
            <a:off x="3593592" y="1874520"/>
            <a:ext cx="2331720" cy="868680"/>
          </a:xfrm>
          <a:prstGeom prst="roundRect">
            <a:avLst>
              <a:gd name="adj" fmla="val 10526"/>
            </a:avLst>
          </a:prstGeom>
          <a:solidFill>
            <a:srgbClr val="064E3B"/>
          </a:solidFill>
          <a:ln w="12700">
            <a:solidFill>
              <a:srgbClr val="10B981"/>
            </a:solidFill>
            <a:prstDash val="solid"/>
          </a:ln>
        </p:spPr>
      </p:sp>
      <p:sp>
        <p:nvSpPr>
          <p:cNvPr id="22" name="Text 20"/>
          <p:cNvSpPr/>
          <p:nvPr/>
        </p:nvSpPr>
        <p:spPr>
          <a:xfrm>
            <a:off x="3685032" y="1938528"/>
            <a:ext cx="214884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Lead Financial Auditor</a:t>
            </a:r>
            <a:endParaRPr lang="en-US" sz="1200" dirty="0"/>
          </a:p>
        </p:txBody>
      </p:sp>
      <p:sp>
        <p:nvSpPr>
          <p:cNvPr id="23" name="Text 21"/>
          <p:cNvSpPr/>
          <p:nvPr/>
        </p:nvSpPr>
        <p:spPr>
          <a:xfrm>
            <a:off x="3685032" y="2395728"/>
            <a:ext cx="2148840" cy="274320"/>
          </a:xfrm>
          <a:prstGeom prst="rect">
            <a:avLst/>
          </a:prstGeom>
          <a:noFill/>
          <a:ln/>
        </p:spPr>
        <p:txBody>
          <a:bodyPr wrap="square" rtlCol="0" anchor="ctr"/>
          <a:lstStyle/>
          <a:p>
            <a:pPr indent="0" marL="0">
              <a:buNone/>
            </a:pPr>
            <a:r>
              <a:rPr lang="en-US" sz="950" dirty="0">
                <a:solidFill>
                  <a:srgbClr val="10B981"/>
                </a:solidFill>
                <a:latin typeface="Calibri" pitchFamily="34" charset="0"/>
                <a:ea typeface="Calibri" pitchFamily="34" charset="-122"/>
                <a:cs typeface="Calibri" pitchFamily="34" charset="-120"/>
              </a:rPr>
              <a:t>Internal Controls &amp; Sarbanes-Oxley Compliance</a:t>
            </a:r>
            <a:endParaRPr lang="en-US" sz="950" dirty="0"/>
          </a:p>
        </p:txBody>
      </p:sp>
      <p:sp>
        <p:nvSpPr>
          <p:cNvPr id="24" name="Text 22"/>
          <p:cNvSpPr/>
          <p:nvPr/>
        </p:nvSpPr>
        <p:spPr>
          <a:xfrm>
            <a:off x="3639312" y="2880360"/>
            <a:ext cx="2240280" cy="228600"/>
          </a:xfrm>
          <a:prstGeom prst="rect">
            <a:avLst/>
          </a:prstGeom>
          <a:noFill/>
          <a:ln/>
        </p:spPr>
        <p:txBody>
          <a:bodyPr wrap="square" rtlCol="0" anchor="ctr"/>
          <a:lstStyle/>
          <a:p>
            <a:pPr indent="0" marL="0">
              <a:buNone/>
            </a:pPr>
            <a:r>
              <a:rPr lang="en-US" sz="900" b="1" dirty="0">
                <a:solidFill>
                  <a:srgbClr val="F43F5E"/>
                </a:solidFill>
                <a:latin typeface="Calibri" pitchFamily="34" charset="0"/>
                <a:ea typeface="Calibri" pitchFamily="34" charset="-122"/>
                <a:cs typeface="Calibri" pitchFamily="34" charset="-120"/>
              </a:rPr>
              <a:t>PRIMARY PAIN POINT:</a:t>
            </a:r>
            <a:endParaRPr lang="en-US" sz="900" dirty="0"/>
          </a:p>
        </p:txBody>
      </p:sp>
      <p:sp>
        <p:nvSpPr>
          <p:cNvPr id="25" name="Text 23"/>
          <p:cNvSpPr/>
          <p:nvPr/>
        </p:nvSpPr>
        <p:spPr>
          <a:xfrm>
            <a:off x="3639312" y="3108960"/>
            <a:ext cx="2240280" cy="5486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Sample-Based Auditing &amp; Lack of Granular Evidence</a:t>
            </a:r>
            <a:endParaRPr lang="en-US" sz="1050" dirty="0"/>
          </a:p>
        </p:txBody>
      </p:sp>
      <p:sp>
        <p:nvSpPr>
          <p:cNvPr id="26" name="Text 24"/>
          <p:cNvSpPr/>
          <p:nvPr/>
        </p:nvSpPr>
        <p:spPr>
          <a:xfrm>
            <a:off x="3639312" y="3794760"/>
            <a:ext cx="2240280" cy="22860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TRACEBACK AI VALUE:</a:t>
            </a:r>
            <a:endParaRPr lang="en-US" sz="900" dirty="0"/>
          </a:p>
        </p:txBody>
      </p:sp>
      <p:sp>
        <p:nvSpPr>
          <p:cNvPr id="27" name="Text 25"/>
          <p:cNvSpPr/>
          <p:nvPr/>
        </p:nvSpPr>
        <p:spPr>
          <a:xfrm>
            <a:off x="3639312" y="4023360"/>
            <a:ext cx="2240280" cy="1188720"/>
          </a:xfrm>
          <a:prstGeom prst="rect">
            <a:avLst/>
          </a:prstGeom>
          <a:noFill/>
          <a:ln/>
        </p:spPr>
        <p:txBody>
          <a:bodyPr wrap="square" rtlCol="0" anchor="ctr"/>
          <a:lstStyle/>
          <a:p>
            <a:pPr indent="0" marL="0">
              <a:buNone/>
            </a:pPr>
            <a:r>
              <a:rPr lang="en-US" sz="1050" dirty="0">
                <a:solidFill>
                  <a:srgbClr val="F8FAFC"/>
                </a:solidFill>
                <a:latin typeface="Calibri" pitchFamily="34" charset="0"/>
                <a:ea typeface="Calibri" pitchFamily="34" charset="-122"/>
                <a:cs typeface="Calibri" pitchFamily="34" charset="-120"/>
              </a:rPr>
              <a:t>100% census reconciliation with deterministic cell-level citations {file, row, col} and confidence scores.</a:t>
            </a:r>
            <a:endParaRPr lang="en-US" sz="1050" dirty="0"/>
          </a:p>
        </p:txBody>
      </p:sp>
      <p:sp>
        <p:nvSpPr>
          <p:cNvPr id="28" name="Shape 26"/>
          <p:cNvSpPr/>
          <p:nvPr/>
        </p:nvSpPr>
        <p:spPr>
          <a:xfrm>
            <a:off x="3639312" y="5349240"/>
            <a:ext cx="2240280" cy="502920"/>
          </a:xfrm>
          <a:prstGeom prst="roundRect">
            <a:avLst>
              <a:gd name="adj" fmla="val 18182"/>
            </a:avLst>
          </a:prstGeom>
          <a:solidFill>
            <a:srgbClr val="0F172A"/>
          </a:solidFill>
          <a:ln w="12700">
            <a:solidFill>
              <a:srgbClr val="10B981"/>
            </a:solidFill>
            <a:prstDash val="solid"/>
          </a:ln>
        </p:spPr>
      </p:sp>
      <p:sp>
        <p:nvSpPr>
          <p:cNvPr id="29" name="Text 27"/>
          <p:cNvSpPr/>
          <p:nvPr/>
        </p:nvSpPr>
        <p:spPr>
          <a:xfrm>
            <a:off x="3639312" y="5349240"/>
            <a:ext cx="2240280" cy="502920"/>
          </a:xfrm>
          <a:prstGeom prst="rect">
            <a:avLst/>
          </a:prstGeom>
          <a:noFill/>
          <a:ln/>
        </p:spPr>
        <p:txBody>
          <a:bodyPr wrap="square"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100% Audit Defensibility</a:t>
            </a:r>
            <a:endParaRPr lang="en-US" sz="1100" dirty="0"/>
          </a:p>
        </p:txBody>
      </p:sp>
      <p:sp>
        <p:nvSpPr>
          <p:cNvPr id="30" name="Shape 28"/>
          <p:cNvSpPr/>
          <p:nvPr/>
        </p:nvSpPr>
        <p:spPr>
          <a:xfrm>
            <a:off x="6181344" y="1737360"/>
            <a:ext cx="2606040" cy="4389120"/>
          </a:xfrm>
          <a:prstGeom prst="roundRect">
            <a:avLst>
              <a:gd name="adj" fmla="val 5263"/>
            </a:avLst>
          </a:prstGeom>
          <a:solidFill>
            <a:srgbClr val="0B1120"/>
          </a:solidFill>
          <a:ln w="19050">
            <a:solidFill>
              <a:srgbClr val="F59E0B"/>
            </a:solidFill>
            <a:prstDash val="solid"/>
          </a:ln>
        </p:spPr>
      </p:sp>
      <p:sp>
        <p:nvSpPr>
          <p:cNvPr id="31" name="Shape 29"/>
          <p:cNvSpPr/>
          <p:nvPr/>
        </p:nvSpPr>
        <p:spPr>
          <a:xfrm>
            <a:off x="6318504" y="1874520"/>
            <a:ext cx="2331720" cy="868680"/>
          </a:xfrm>
          <a:prstGeom prst="roundRect">
            <a:avLst>
              <a:gd name="adj" fmla="val 10526"/>
            </a:avLst>
          </a:prstGeom>
          <a:solidFill>
            <a:srgbClr val="451A03"/>
          </a:solidFill>
          <a:ln w="12700">
            <a:solidFill>
              <a:srgbClr val="F59E0B"/>
            </a:solidFill>
            <a:prstDash val="solid"/>
          </a:ln>
        </p:spPr>
      </p:sp>
      <p:sp>
        <p:nvSpPr>
          <p:cNvPr id="32" name="Text 30"/>
          <p:cNvSpPr/>
          <p:nvPr/>
        </p:nvSpPr>
        <p:spPr>
          <a:xfrm>
            <a:off x="6409944" y="1938528"/>
            <a:ext cx="214884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Accounts Payable Controller</a:t>
            </a:r>
            <a:endParaRPr lang="en-US" sz="1200" dirty="0"/>
          </a:p>
        </p:txBody>
      </p:sp>
      <p:sp>
        <p:nvSpPr>
          <p:cNvPr id="33" name="Text 31"/>
          <p:cNvSpPr/>
          <p:nvPr/>
        </p:nvSpPr>
        <p:spPr>
          <a:xfrm>
            <a:off x="6409944" y="2395728"/>
            <a:ext cx="2148840" cy="274320"/>
          </a:xfrm>
          <a:prstGeom prst="rect">
            <a:avLst/>
          </a:prstGeom>
          <a:noFill/>
          <a:ln/>
        </p:spPr>
        <p:txBody>
          <a:bodyPr wrap="square" rtlCol="0" anchor="ctr"/>
          <a:lstStyle/>
          <a:p>
            <a:pPr indent="0" marL="0">
              <a:buNone/>
            </a:pPr>
            <a:r>
              <a:rPr lang="en-US" sz="950" dirty="0">
                <a:solidFill>
                  <a:srgbClr val="F59E0B"/>
                </a:solidFill>
                <a:latin typeface="Calibri" pitchFamily="34" charset="0"/>
                <a:ea typeface="Calibri" pitchFamily="34" charset="-122"/>
                <a:cs typeface="Calibri" pitchFamily="34" charset="-120"/>
              </a:rPr>
              <a:t>Disbursements &amp; Invoice Matching</a:t>
            </a:r>
            <a:endParaRPr lang="en-US" sz="950" dirty="0"/>
          </a:p>
        </p:txBody>
      </p:sp>
      <p:sp>
        <p:nvSpPr>
          <p:cNvPr id="34" name="Text 32"/>
          <p:cNvSpPr/>
          <p:nvPr/>
        </p:nvSpPr>
        <p:spPr>
          <a:xfrm>
            <a:off x="6364224" y="2880360"/>
            <a:ext cx="2240280" cy="228600"/>
          </a:xfrm>
          <a:prstGeom prst="rect">
            <a:avLst/>
          </a:prstGeom>
          <a:noFill/>
          <a:ln/>
        </p:spPr>
        <p:txBody>
          <a:bodyPr wrap="square" rtlCol="0" anchor="ctr"/>
          <a:lstStyle/>
          <a:p>
            <a:pPr indent="0" marL="0">
              <a:buNone/>
            </a:pPr>
            <a:r>
              <a:rPr lang="en-US" sz="900" b="1" dirty="0">
                <a:solidFill>
                  <a:srgbClr val="F43F5E"/>
                </a:solidFill>
                <a:latin typeface="Calibri" pitchFamily="34" charset="0"/>
                <a:ea typeface="Calibri" pitchFamily="34" charset="-122"/>
                <a:cs typeface="Calibri" pitchFamily="34" charset="-120"/>
              </a:rPr>
              <a:t>PRIMARY PAIN POINT:</a:t>
            </a:r>
            <a:endParaRPr lang="en-US" sz="900" dirty="0"/>
          </a:p>
        </p:txBody>
      </p:sp>
      <p:sp>
        <p:nvSpPr>
          <p:cNvPr id="35" name="Text 33"/>
          <p:cNvSpPr/>
          <p:nvPr/>
        </p:nvSpPr>
        <p:spPr>
          <a:xfrm>
            <a:off x="6364224" y="3108960"/>
            <a:ext cx="2240280" cy="5486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Manual Matching Backlogs &amp; Vendor Invoice Friction</a:t>
            </a:r>
            <a:endParaRPr lang="en-US" sz="1050" dirty="0"/>
          </a:p>
        </p:txBody>
      </p:sp>
      <p:sp>
        <p:nvSpPr>
          <p:cNvPr id="36" name="Text 34"/>
          <p:cNvSpPr/>
          <p:nvPr/>
        </p:nvSpPr>
        <p:spPr>
          <a:xfrm>
            <a:off x="6364224" y="3794760"/>
            <a:ext cx="2240280" cy="22860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TRACEBACK AI VALUE:</a:t>
            </a:r>
            <a:endParaRPr lang="en-US" sz="900" dirty="0"/>
          </a:p>
        </p:txBody>
      </p:sp>
      <p:sp>
        <p:nvSpPr>
          <p:cNvPr id="37" name="Text 35"/>
          <p:cNvSpPr/>
          <p:nvPr/>
        </p:nvSpPr>
        <p:spPr>
          <a:xfrm>
            <a:off x="6364224" y="4023360"/>
            <a:ext cx="2240280" cy="1188720"/>
          </a:xfrm>
          <a:prstGeom prst="rect">
            <a:avLst/>
          </a:prstGeom>
          <a:noFill/>
          <a:ln/>
        </p:spPr>
        <p:txBody>
          <a:bodyPr wrap="square" rtlCol="0" anchor="ctr"/>
          <a:lstStyle/>
          <a:p>
            <a:pPr indent="0" marL="0">
              <a:buNone/>
            </a:pPr>
            <a:r>
              <a:rPr lang="en-US" sz="1050" dirty="0">
                <a:solidFill>
                  <a:srgbClr val="F8FAFC"/>
                </a:solidFill>
                <a:latin typeface="Calibri" pitchFamily="34" charset="0"/>
                <a:ea typeface="Calibri" pitchFamily="34" charset="-122"/>
                <a:cs typeface="Calibri" pitchFamily="34" charset="-120"/>
              </a:rPr>
              <a:t>Pre-payment overcharge alerts in under 200ms; pre-drafted supplier dispute letters citing delivery notes.</a:t>
            </a:r>
            <a:endParaRPr lang="en-US" sz="1050" dirty="0"/>
          </a:p>
        </p:txBody>
      </p:sp>
      <p:sp>
        <p:nvSpPr>
          <p:cNvPr id="38" name="Shape 36"/>
          <p:cNvSpPr/>
          <p:nvPr/>
        </p:nvSpPr>
        <p:spPr>
          <a:xfrm>
            <a:off x="6364224" y="5349240"/>
            <a:ext cx="2240280" cy="502920"/>
          </a:xfrm>
          <a:prstGeom prst="roundRect">
            <a:avLst>
              <a:gd name="adj" fmla="val 18182"/>
            </a:avLst>
          </a:prstGeom>
          <a:solidFill>
            <a:srgbClr val="0F172A"/>
          </a:solidFill>
          <a:ln w="12700">
            <a:solidFill>
              <a:srgbClr val="F59E0B"/>
            </a:solidFill>
            <a:prstDash val="solid"/>
          </a:ln>
        </p:spPr>
      </p:sp>
      <p:sp>
        <p:nvSpPr>
          <p:cNvPr id="39" name="Text 37"/>
          <p:cNvSpPr/>
          <p:nvPr/>
        </p:nvSpPr>
        <p:spPr>
          <a:xfrm>
            <a:off x="6364224" y="5349240"/>
            <a:ext cx="2240280" cy="502920"/>
          </a:xfrm>
          <a:prstGeom prst="rect">
            <a:avLst/>
          </a:prstGeom>
          <a:noFill/>
          <a:ln/>
        </p:spPr>
        <p:txBody>
          <a:bodyPr wrap="square"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80% Manual Effort Eliminated</a:t>
            </a:r>
            <a:endParaRPr lang="en-US" sz="1100" dirty="0"/>
          </a:p>
        </p:txBody>
      </p:sp>
      <p:sp>
        <p:nvSpPr>
          <p:cNvPr id="40" name="Shape 38"/>
          <p:cNvSpPr/>
          <p:nvPr/>
        </p:nvSpPr>
        <p:spPr>
          <a:xfrm>
            <a:off x="8906256" y="1737360"/>
            <a:ext cx="2606040" cy="4389120"/>
          </a:xfrm>
          <a:prstGeom prst="roundRect">
            <a:avLst>
              <a:gd name="adj" fmla="val 5263"/>
            </a:avLst>
          </a:prstGeom>
          <a:solidFill>
            <a:srgbClr val="0B1120"/>
          </a:solidFill>
          <a:ln w="19050">
            <a:solidFill>
              <a:srgbClr val="A855F7"/>
            </a:solidFill>
            <a:prstDash val="solid"/>
          </a:ln>
        </p:spPr>
      </p:sp>
      <p:sp>
        <p:nvSpPr>
          <p:cNvPr id="41" name="Shape 39"/>
          <p:cNvSpPr/>
          <p:nvPr/>
        </p:nvSpPr>
        <p:spPr>
          <a:xfrm>
            <a:off x="9043416" y="1874520"/>
            <a:ext cx="2331720" cy="868680"/>
          </a:xfrm>
          <a:prstGeom prst="roundRect">
            <a:avLst>
              <a:gd name="adj" fmla="val 10526"/>
            </a:avLst>
          </a:prstGeom>
          <a:solidFill>
            <a:srgbClr val="2E1065"/>
          </a:solidFill>
          <a:ln w="12700">
            <a:solidFill>
              <a:srgbClr val="A855F7"/>
            </a:solidFill>
            <a:prstDash val="solid"/>
          </a:ln>
        </p:spPr>
      </p:sp>
      <p:sp>
        <p:nvSpPr>
          <p:cNvPr id="42" name="Text 40"/>
          <p:cNvSpPr/>
          <p:nvPr/>
        </p:nvSpPr>
        <p:spPr>
          <a:xfrm>
            <a:off x="9134856" y="1938528"/>
            <a:ext cx="214884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Supply Chain Operations VP</a:t>
            </a:r>
            <a:endParaRPr lang="en-US" sz="1200" dirty="0"/>
          </a:p>
        </p:txBody>
      </p:sp>
      <p:sp>
        <p:nvSpPr>
          <p:cNvPr id="43" name="Text 41"/>
          <p:cNvSpPr/>
          <p:nvPr/>
        </p:nvSpPr>
        <p:spPr>
          <a:xfrm>
            <a:off x="9134856" y="2395728"/>
            <a:ext cx="2148840" cy="274320"/>
          </a:xfrm>
          <a:prstGeom prst="rect">
            <a:avLst/>
          </a:prstGeom>
          <a:noFill/>
          <a:ln/>
        </p:spPr>
        <p:txBody>
          <a:bodyPr wrap="square" rtlCol="0" anchor="ctr"/>
          <a:lstStyle/>
          <a:p>
            <a:pPr indent="0" marL="0">
              <a:buNone/>
            </a:pPr>
            <a:r>
              <a:rPr lang="en-US" sz="950" dirty="0">
                <a:solidFill>
                  <a:srgbClr val="A855F7"/>
                </a:solidFill>
                <a:latin typeface="Calibri" pitchFamily="34" charset="0"/>
                <a:ea typeface="Calibri" pitchFamily="34" charset="-122"/>
                <a:cs typeface="Calibri" pitchFamily="34" charset="-120"/>
              </a:rPr>
              <a:t>Logistics, Dock Receiving &amp; Inventory Control</a:t>
            </a:r>
            <a:endParaRPr lang="en-US" sz="950" dirty="0"/>
          </a:p>
        </p:txBody>
      </p:sp>
      <p:sp>
        <p:nvSpPr>
          <p:cNvPr id="44" name="Text 42"/>
          <p:cNvSpPr/>
          <p:nvPr/>
        </p:nvSpPr>
        <p:spPr>
          <a:xfrm>
            <a:off x="9089136" y="2880360"/>
            <a:ext cx="2240280" cy="228600"/>
          </a:xfrm>
          <a:prstGeom prst="rect">
            <a:avLst/>
          </a:prstGeom>
          <a:noFill/>
          <a:ln/>
        </p:spPr>
        <p:txBody>
          <a:bodyPr wrap="square" rtlCol="0" anchor="ctr"/>
          <a:lstStyle/>
          <a:p>
            <a:pPr indent="0" marL="0">
              <a:buNone/>
            </a:pPr>
            <a:r>
              <a:rPr lang="en-US" sz="900" b="1" dirty="0">
                <a:solidFill>
                  <a:srgbClr val="F43F5E"/>
                </a:solidFill>
                <a:latin typeface="Calibri" pitchFamily="34" charset="0"/>
                <a:ea typeface="Calibri" pitchFamily="34" charset="-122"/>
                <a:cs typeface="Calibri" pitchFamily="34" charset="-120"/>
              </a:rPr>
              <a:t>PRIMARY PAIN POINT:</a:t>
            </a:r>
            <a:endParaRPr lang="en-US" sz="900" dirty="0"/>
          </a:p>
        </p:txBody>
      </p:sp>
      <p:sp>
        <p:nvSpPr>
          <p:cNvPr id="45" name="Text 43"/>
          <p:cNvSpPr/>
          <p:nvPr/>
        </p:nvSpPr>
        <p:spPr>
          <a:xfrm>
            <a:off x="9089136" y="3108960"/>
            <a:ext cx="2240280" cy="5486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Dock Receipt Mismatches &amp; Damaged Goods Billing</a:t>
            </a:r>
            <a:endParaRPr lang="en-US" sz="1050" dirty="0"/>
          </a:p>
        </p:txBody>
      </p:sp>
      <p:sp>
        <p:nvSpPr>
          <p:cNvPr id="46" name="Text 44"/>
          <p:cNvSpPr/>
          <p:nvPr/>
        </p:nvSpPr>
        <p:spPr>
          <a:xfrm>
            <a:off x="9089136" y="3794760"/>
            <a:ext cx="2240280" cy="228600"/>
          </a:xfrm>
          <a:prstGeom prst="rect">
            <a:avLst/>
          </a:prstGeom>
          <a:noFill/>
          <a:ln/>
        </p:spPr>
        <p:txBody>
          <a:bodyPr wrap="square" rtlCol="0" anchor="ctr"/>
          <a:lstStyle/>
          <a:p>
            <a:pPr indent="0" marL="0">
              <a:buNone/>
            </a:pPr>
            <a:r>
              <a:rPr lang="en-US" sz="900" b="1" dirty="0">
                <a:solidFill>
                  <a:srgbClr val="10B981"/>
                </a:solidFill>
                <a:latin typeface="Calibri" pitchFamily="34" charset="0"/>
                <a:ea typeface="Calibri" pitchFamily="34" charset="-122"/>
                <a:cs typeface="Calibri" pitchFamily="34" charset="-120"/>
              </a:rPr>
              <a:t>TRACEBACK AI VALUE:</a:t>
            </a:r>
            <a:endParaRPr lang="en-US" sz="900" dirty="0"/>
          </a:p>
        </p:txBody>
      </p:sp>
      <p:sp>
        <p:nvSpPr>
          <p:cNvPr id="47" name="Text 45"/>
          <p:cNvSpPr/>
          <p:nvPr/>
        </p:nvSpPr>
        <p:spPr>
          <a:xfrm>
            <a:off x="9089136" y="4023360"/>
            <a:ext cx="2240280" cy="1188720"/>
          </a:xfrm>
          <a:prstGeom prst="rect">
            <a:avLst/>
          </a:prstGeom>
          <a:noFill/>
          <a:ln/>
        </p:spPr>
        <p:txBody>
          <a:bodyPr wrap="square" rtlCol="0" anchor="ctr"/>
          <a:lstStyle/>
          <a:p>
            <a:pPr indent="0" marL="0">
              <a:buNone/>
            </a:pPr>
            <a:r>
              <a:rPr lang="en-US" sz="1050" dirty="0">
                <a:solidFill>
                  <a:srgbClr val="F8FAFC"/>
                </a:solidFill>
                <a:latin typeface="Calibri" pitchFamily="34" charset="0"/>
                <a:ea typeface="Calibri" pitchFamily="34" charset="-122"/>
                <a:cs typeface="Calibri" pitchFamily="34" charset="-120"/>
              </a:rPr>
              <a:t>Instant cross-dock reconciliation proving warehouse note DN-045 logged only 100 units accepted.</a:t>
            </a:r>
            <a:endParaRPr lang="en-US" sz="1050" dirty="0"/>
          </a:p>
        </p:txBody>
      </p:sp>
      <p:sp>
        <p:nvSpPr>
          <p:cNvPr id="48" name="Shape 46"/>
          <p:cNvSpPr/>
          <p:nvPr/>
        </p:nvSpPr>
        <p:spPr>
          <a:xfrm>
            <a:off x="9089136" y="5349240"/>
            <a:ext cx="2240280" cy="502920"/>
          </a:xfrm>
          <a:prstGeom prst="roundRect">
            <a:avLst>
              <a:gd name="adj" fmla="val 18182"/>
            </a:avLst>
          </a:prstGeom>
          <a:solidFill>
            <a:srgbClr val="0F172A"/>
          </a:solidFill>
          <a:ln w="12700">
            <a:solidFill>
              <a:srgbClr val="A855F7"/>
            </a:solidFill>
            <a:prstDash val="solid"/>
          </a:ln>
        </p:spPr>
      </p:sp>
      <p:sp>
        <p:nvSpPr>
          <p:cNvPr id="49" name="Text 47"/>
          <p:cNvSpPr/>
          <p:nvPr/>
        </p:nvSpPr>
        <p:spPr>
          <a:xfrm>
            <a:off x="9089136" y="5349240"/>
            <a:ext cx="2240280" cy="502920"/>
          </a:xfrm>
          <a:prstGeom prst="rect">
            <a:avLst/>
          </a:prstGeom>
          <a:noFill/>
          <a:ln/>
        </p:spPr>
        <p:txBody>
          <a:bodyPr wrap="square" rtlCol="0" anchor="ctr"/>
          <a:lstStyle/>
          <a:p>
            <a:pPr algn="ctr" indent="0" marL="0">
              <a:buNone/>
            </a:pPr>
            <a:r>
              <a:rPr lang="en-US" sz="1100" b="1" dirty="0">
                <a:solidFill>
                  <a:srgbClr val="A855F7"/>
                </a:solidFill>
                <a:latin typeface="Calibri" pitchFamily="34" charset="0"/>
                <a:ea typeface="Calibri" pitchFamily="34" charset="-122"/>
                <a:cs typeface="Calibri" pitchFamily="34" charset="-120"/>
              </a:rPr>
              <a:t>Zero Unreceived Billing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CORE SOLUTION</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Autonomous 4-Way Reconciliation with Cell-Level Evidence</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TraceBack AI correlates all 4 sources in 184ms, uncovering overcharges with 96.5% confidence.</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6583680" cy="4389120"/>
          </a:xfrm>
          <a:prstGeom prst="roundRect">
            <a:avLst>
              <a:gd name="adj" fmla="val 3125"/>
            </a:avLst>
          </a:prstGeom>
          <a:solidFill>
            <a:srgbClr val="0B1120"/>
          </a:solidFill>
          <a:ln w="19050">
            <a:solidFill>
              <a:srgbClr val="10B981"/>
            </a:solidFill>
            <a:prstDash val="solid"/>
          </a:ln>
        </p:spPr>
      </p:sp>
      <p:sp>
        <p:nvSpPr>
          <p:cNvPr id="11" name="Text 9"/>
          <p:cNvSpPr/>
          <p:nvPr/>
        </p:nvSpPr>
        <p:spPr>
          <a:xfrm>
            <a:off x="1005840" y="1920240"/>
            <a:ext cx="6035040" cy="274320"/>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LIVE RECONCILIATION BENCHMARK: PO-1001 (SUPPLIER SUP-42)</a:t>
            </a:r>
            <a:endParaRPr lang="en-US" sz="1100" dirty="0"/>
          </a:p>
        </p:txBody>
      </p:sp>
      <p:sp>
        <p:nvSpPr>
          <p:cNvPr id="12" name="Text 10"/>
          <p:cNvSpPr/>
          <p:nvPr/>
        </p:nvSpPr>
        <p:spPr>
          <a:xfrm>
            <a:off x="1005840" y="2194560"/>
            <a:ext cx="6035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Total Overcharge Flagged: $1,200.00 USD   (Confidence: 96.5% | 184ms)</a:t>
            </a:r>
            <a:endParaRPr lang="en-US" sz="1500" dirty="0"/>
          </a:p>
        </p:txBody>
      </p:sp>
      <p:sp>
        <p:nvSpPr>
          <p:cNvPr id="13" name="Shape 11"/>
          <p:cNvSpPr/>
          <p:nvPr/>
        </p:nvSpPr>
        <p:spPr>
          <a:xfrm>
            <a:off x="1005840" y="2651760"/>
            <a:ext cx="6035040" cy="1417320"/>
          </a:xfrm>
          <a:prstGeom prst="roundRect">
            <a:avLst>
              <a:gd name="adj" fmla="val 6452"/>
            </a:avLst>
          </a:prstGeom>
          <a:solidFill>
            <a:srgbClr val="1C1917"/>
          </a:solidFill>
          <a:ln w="19050">
            <a:solidFill>
              <a:srgbClr val="F43F5E"/>
            </a:solidFill>
            <a:prstDash val="solid"/>
          </a:ln>
        </p:spPr>
      </p:sp>
      <p:sp>
        <p:nvSpPr>
          <p:cNvPr id="14" name="Text 12"/>
          <p:cNvSpPr/>
          <p:nvPr/>
        </p:nvSpPr>
        <p:spPr>
          <a:xfrm>
            <a:off x="1188720" y="2743200"/>
            <a:ext cx="5669280" cy="228600"/>
          </a:xfrm>
          <a:prstGeom prst="rect">
            <a:avLst/>
          </a:prstGeom>
          <a:noFill/>
          <a:ln/>
        </p:spPr>
        <p:txBody>
          <a:bodyPr wrap="square" rtlCol="0" anchor="ctr"/>
          <a:lstStyle/>
          <a:p>
            <a:pPr indent="0" marL="0">
              <a:buNone/>
            </a:pPr>
            <a:r>
              <a:rPr lang="en-US" sz="1100" b="1" dirty="0">
                <a:solidFill>
                  <a:srgbClr val="F43F5E"/>
                </a:solidFill>
                <a:latin typeface="Calibri" pitchFamily="34" charset="0"/>
                <a:ea typeface="Calibri" pitchFamily="34" charset="-122"/>
                <a:cs typeface="Calibri" pitchFamily="34" charset="-120"/>
              </a:rPr>
              <a:t>DISCREPANCY 1: QUANTITY OVERBILLING (+$1,000.00 USD)</a:t>
            </a:r>
            <a:endParaRPr lang="en-US" sz="1100" dirty="0"/>
          </a:p>
        </p:txBody>
      </p:sp>
      <p:sp>
        <p:nvSpPr>
          <p:cNvPr id="15" name="Text 13"/>
          <p:cNvSpPr/>
          <p:nvPr/>
        </p:nvSpPr>
        <p:spPr>
          <a:xfrm>
            <a:off x="1188720" y="3017520"/>
            <a:ext cx="5669280" cy="9601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Invoiced for 120 units on INV-9001; warehouse receiving note DN-045 logged only 100 units physically delivered.</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 Exact calculation: (120 billed - 100 received) = 20 unreceived units x $50.00 unit price = $1,000.00 overcharge.</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 Evidence coordinates: invoices.csv [Row 2, col 3] vs deliveries.csv [Row 2, col 3]</a:t>
            </a:r>
            <a:endParaRPr lang="en-US" sz="1000" dirty="0"/>
          </a:p>
        </p:txBody>
      </p:sp>
      <p:sp>
        <p:nvSpPr>
          <p:cNvPr id="16" name="Shape 14"/>
          <p:cNvSpPr/>
          <p:nvPr/>
        </p:nvSpPr>
        <p:spPr>
          <a:xfrm>
            <a:off x="1005840" y="4206240"/>
            <a:ext cx="6035040" cy="1417320"/>
          </a:xfrm>
          <a:prstGeom prst="roundRect">
            <a:avLst>
              <a:gd name="adj" fmla="val 6452"/>
            </a:avLst>
          </a:prstGeom>
          <a:solidFill>
            <a:srgbClr val="1C1917"/>
          </a:solidFill>
          <a:ln w="19050">
            <a:solidFill>
              <a:srgbClr val="F59E0B"/>
            </a:solidFill>
            <a:prstDash val="solid"/>
          </a:ln>
        </p:spPr>
      </p:sp>
      <p:sp>
        <p:nvSpPr>
          <p:cNvPr id="17" name="Text 15"/>
          <p:cNvSpPr/>
          <p:nvPr/>
        </p:nvSpPr>
        <p:spPr>
          <a:xfrm>
            <a:off x="1188720" y="4297680"/>
            <a:ext cx="5669280" cy="228600"/>
          </a:xfrm>
          <a:prstGeom prst="rect">
            <a:avLst/>
          </a:prstGeom>
          <a:noFill/>
          <a:ln/>
        </p:spPr>
        <p:txBody>
          <a:bodyPr wrap="square"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DISCREPANCY 2: CONTRACT RATE ESCALATION (+$200.00 USD)</a:t>
            </a:r>
            <a:endParaRPr lang="en-US" sz="1100" dirty="0"/>
          </a:p>
        </p:txBody>
      </p:sp>
      <p:sp>
        <p:nvSpPr>
          <p:cNvPr id="18" name="Text 16"/>
          <p:cNvSpPr/>
          <p:nvPr/>
        </p:nvSpPr>
        <p:spPr>
          <a:xfrm>
            <a:off x="1188720" y="4572000"/>
            <a:ext cx="5669280" cy="96012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 Supplier billed $50.00/unit on invoice, breaching Master Contract schedule ceiling price of $48.00/unit.</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 Exact calculation: 100 valid delivered units x ($50.00 billed - $48.00 contract) = $200.00 rate escalation.</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 Evidence coordinates: invoices.csv [Row 2, col 4] vs contract_prices.csv [Row 2, col 2]</a:t>
            </a:r>
            <a:endParaRPr lang="en-US" sz="1000" dirty="0"/>
          </a:p>
        </p:txBody>
      </p:sp>
      <p:sp>
        <p:nvSpPr>
          <p:cNvPr id="19" name="Shape 17"/>
          <p:cNvSpPr/>
          <p:nvPr/>
        </p:nvSpPr>
        <p:spPr>
          <a:xfrm>
            <a:off x="7589520" y="1737360"/>
            <a:ext cx="3840480" cy="2103120"/>
          </a:xfrm>
          <a:prstGeom prst="roundRect">
            <a:avLst>
              <a:gd name="adj" fmla="val 5217"/>
            </a:avLst>
          </a:prstGeom>
          <a:solidFill>
            <a:srgbClr val="0B1120"/>
          </a:solidFill>
          <a:ln w="19050">
            <a:solidFill>
              <a:srgbClr val="6366F1"/>
            </a:solidFill>
            <a:prstDash val="solid"/>
          </a:ln>
        </p:spPr>
      </p:sp>
      <p:sp>
        <p:nvSpPr>
          <p:cNvPr id="20" name="Text 18"/>
          <p:cNvSpPr/>
          <p:nvPr/>
        </p:nvSpPr>
        <p:spPr>
          <a:xfrm>
            <a:off x="7772400" y="1874520"/>
            <a:ext cx="3474720" cy="228600"/>
          </a:xfrm>
          <a:prstGeom prst="rect">
            <a:avLst/>
          </a:prstGeom>
          <a:noFill/>
          <a:ln/>
        </p:spPr>
        <p:txBody>
          <a:bodyPr wrap="square" rtlCol="0" anchor="ctr"/>
          <a:lstStyle/>
          <a:p>
            <a:pPr indent="0" marL="0">
              <a:buNone/>
            </a:pPr>
            <a:r>
              <a:rPr lang="en-US" sz="1050" b="1" dirty="0">
                <a:solidFill>
                  <a:srgbClr val="6366F1"/>
                </a:solidFill>
                <a:latin typeface="Calibri" pitchFamily="34" charset="0"/>
                <a:ea typeface="Calibri" pitchFamily="34" charset="-122"/>
                <a:cs typeface="Calibri" pitchFamily="34" charset="-120"/>
              </a:rPr>
              <a:t>CLEAN ORDER BENCHMARK (PO-1002)</a:t>
            </a:r>
            <a:endParaRPr lang="en-US" sz="1050" dirty="0"/>
          </a:p>
        </p:txBody>
      </p:sp>
      <p:sp>
        <p:nvSpPr>
          <p:cNvPr id="21" name="Text 19"/>
          <p:cNvSpPr/>
          <p:nvPr/>
        </p:nvSpPr>
        <p:spPr>
          <a:xfrm>
            <a:off x="7772400" y="2103120"/>
            <a:ext cx="347472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Zero False Positive Verification</a:t>
            </a:r>
            <a:endParaRPr lang="en-US" sz="1400" dirty="0"/>
          </a:p>
        </p:txBody>
      </p:sp>
      <p:sp>
        <p:nvSpPr>
          <p:cNvPr id="22" name="Text 20"/>
          <p:cNvSpPr/>
          <p:nvPr/>
        </p:nvSpPr>
        <p:spPr>
          <a:xfrm>
            <a:off x="7772400" y="2468880"/>
            <a:ext cx="347472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50 units ordered in SAP ERP</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50 units physically received in Warehouse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50 units billed at exact $20.00 contract rate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Result: $0.00 Overcharge (100% Concordance)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Confirms agents do NOT flag false alarms</a:t>
            </a:r>
            <a:endParaRPr lang="en-US" sz="1050" dirty="0"/>
          </a:p>
        </p:txBody>
      </p:sp>
      <p:sp>
        <p:nvSpPr>
          <p:cNvPr id="23" name="Shape 21"/>
          <p:cNvSpPr/>
          <p:nvPr/>
        </p:nvSpPr>
        <p:spPr>
          <a:xfrm>
            <a:off x="7589520" y="4023360"/>
            <a:ext cx="3840480" cy="2103120"/>
          </a:xfrm>
          <a:prstGeom prst="roundRect">
            <a:avLst>
              <a:gd name="adj" fmla="val 5217"/>
            </a:avLst>
          </a:prstGeom>
          <a:solidFill>
            <a:srgbClr val="0B1120"/>
          </a:solidFill>
          <a:ln w="19050">
            <a:solidFill>
              <a:srgbClr val="A855F7"/>
            </a:solidFill>
            <a:prstDash val="solid"/>
          </a:ln>
        </p:spPr>
      </p:sp>
      <p:sp>
        <p:nvSpPr>
          <p:cNvPr id="24" name="Text 22"/>
          <p:cNvSpPr/>
          <p:nvPr/>
        </p:nvSpPr>
        <p:spPr>
          <a:xfrm>
            <a:off x="7772400" y="4160520"/>
            <a:ext cx="3474720" cy="228600"/>
          </a:xfrm>
          <a:prstGeom prst="rect">
            <a:avLst/>
          </a:prstGeom>
          <a:noFill/>
          <a:ln/>
        </p:spPr>
        <p:txBody>
          <a:bodyPr wrap="square" rtlCol="0" anchor="ctr"/>
          <a:lstStyle/>
          <a:p>
            <a:pPr indent="0" marL="0">
              <a:buNone/>
            </a:pPr>
            <a:r>
              <a:rPr lang="en-US" sz="1050" b="1" dirty="0">
                <a:solidFill>
                  <a:srgbClr val="A855F7"/>
                </a:solidFill>
                <a:latin typeface="Calibri" pitchFamily="34" charset="0"/>
                <a:ea typeface="Calibri" pitchFamily="34" charset="-122"/>
                <a:cs typeface="Calibri" pitchFamily="34" charset="-120"/>
              </a:rPr>
              <a:t>HUMAN-IN-THE-LOOP GOVERNANCE</a:t>
            </a:r>
            <a:endParaRPr lang="en-US" sz="1050" dirty="0"/>
          </a:p>
        </p:txBody>
      </p:sp>
      <p:sp>
        <p:nvSpPr>
          <p:cNvPr id="25" name="Text 23"/>
          <p:cNvSpPr/>
          <p:nvPr/>
        </p:nvSpPr>
        <p:spPr>
          <a:xfrm>
            <a:off x="7772400" y="4389120"/>
            <a:ext cx="347472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Auditor Approval &amp; Dispute Dispatch</a:t>
            </a:r>
            <a:endParaRPr lang="en-US" sz="1400" dirty="0"/>
          </a:p>
        </p:txBody>
      </p:sp>
      <p:sp>
        <p:nvSpPr>
          <p:cNvPr id="26" name="Text 24"/>
          <p:cNvSpPr/>
          <p:nvPr/>
        </p:nvSpPr>
        <p:spPr>
          <a:xfrm>
            <a:off x="7772400" y="4754880"/>
            <a:ext cx="3474720" cy="12344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Lead Auditor retains final 1-click claim authority</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Generates formal supplier dispute notice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Attaches exact delivery note &amp; contract clauses</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Formats claim packet with itemized $1,200 total</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Ready for instant email dispatch to SUP-42</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SYSTEM ARCHITECTURE</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High-Throughput Layered Multi-Agent Architecture</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Deterministic data virtualization combined with asynchronous multi-stage agent orchestration.</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10725912" cy="1024128"/>
          </a:xfrm>
          <a:prstGeom prst="roundRect">
            <a:avLst>
              <a:gd name="adj" fmla="val 8929"/>
            </a:avLst>
          </a:prstGeom>
          <a:solidFill>
            <a:srgbClr val="0B1120"/>
          </a:solidFill>
          <a:ln w="19050">
            <a:solidFill>
              <a:srgbClr val="38BDF8"/>
            </a:solidFill>
            <a:prstDash val="solid"/>
          </a:ln>
        </p:spPr>
      </p:sp>
      <p:sp>
        <p:nvSpPr>
          <p:cNvPr id="11" name="Shape 9"/>
          <p:cNvSpPr/>
          <p:nvPr/>
        </p:nvSpPr>
        <p:spPr>
          <a:xfrm>
            <a:off x="914400" y="1874520"/>
            <a:ext cx="1371600" cy="320040"/>
          </a:xfrm>
          <a:prstGeom prst="roundRect">
            <a:avLst>
              <a:gd name="adj" fmla="val 22857"/>
            </a:avLst>
          </a:prstGeom>
          <a:solidFill>
            <a:srgbClr val="082F49"/>
          </a:solidFill>
          <a:ln w="12700">
            <a:solidFill>
              <a:srgbClr val="38BDF8"/>
            </a:solidFill>
            <a:prstDash val="solid"/>
          </a:ln>
        </p:spPr>
      </p:sp>
      <p:sp>
        <p:nvSpPr>
          <p:cNvPr id="12" name="Text 10"/>
          <p:cNvSpPr/>
          <p:nvPr/>
        </p:nvSpPr>
        <p:spPr>
          <a:xfrm>
            <a:off x="914400" y="1874520"/>
            <a:ext cx="1371600" cy="320040"/>
          </a:xfrm>
          <a:prstGeom prst="rect">
            <a:avLst/>
          </a:prstGeom>
          <a:noFill/>
          <a:ln/>
        </p:spPr>
        <p:txBody>
          <a:bodyPr wrap="square" rtlCol="0" anchor="ctr"/>
          <a:lstStyle/>
          <a:p>
            <a:pPr algn="ctr" indent="0" marL="0">
              <a:buNone/>
            </a:pPr>
            <a:r>
              <a:rPr lang="en-US" sz="1000" b="1" dirty="0">
                <a:solidFill>
                  <a:srgbClr val="38BDF8"/>
                </a:solidFill>
                <a:latin typeface="Calibri" pitchFamily="34" charset="0"/>
                <a:ea typeface="Calibri" pitchFamily="34" charset="-122"/>
                <a:cs typeface="Calibri" pitchFamily="34" charset="-120"/>
              </a:rPr>
              <a:t>LAYER 1</a:t>
            </a:r>
            <a:endParaRPr lang="en-US" sz="1000" dirty="0"/>
          </a:p>
        </p:txBody>
      </p:sp>
      <p:sp>
        <p:nvSpPr>
          <p:cNvPr id="13" name="Text 11"/>
          <p:cNvSpPr/>
          <p:nvPr/>
        </p:nvSpPr>
        <p:spPr>
          <a:xfrm>
            <a:off x="2468880" y="1847088"/>
            <a:ext cx="5029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Virtualization Layer (Zetaris Engine)</a:t>
            </a:r>
            <a:endParaRPr lang="en-US" sz="1300" dirty="0"/>
          </a:p>
        </p:txBody>
      </p:sp>
      <p:sp>
        <p:nvSpPr>
          <p:cNvPr id="14" name="Text 12"/>
          <p:cNvSpPr/>
          <p:nvPr/>
        </p:nvSpPr>
        <p:spPr>
          <a:xfrm>
            <a:off x="7589520" y="1847088"/>
            <a:ext cx="3657600" cy="320040"/>
          </a:xfrm>
          <a:prstGeom prst="rect">
            <a:avLst/>
          </a:prstGeom>
          <a:noFill/>
          <a:ln/>
        </p:spPr>
        <p:txBody>
          <a:bodyPr wrap="square" rtlCol="0" anchor="ctr"/>
          <a:lstStyle/>
          <a:p>
            <a:pPr algn="r" indent="0" marL="0">
              <a:buNone/>
            </a:pPr>
            <a:r>
              <a:rPr lang="en-US" sz="950" b="1" dirty="0">
                <a:solidFill>
                  <a:srgbClr val="38BDF8"/>
                </a:solidFill>
                <a:latin typeface="Calibri" pitchFamily="34" charset="0"/>
                <a:ea typeface="Calibri" pitchFamily="34" charset="-122"/>
                <a:cs typeface="Calibri" pitchFamily="34" charset="-120"/>
              </a:rPr>
              <a:t>Zetaris Federated SQL • Zero ETL • SQLite Cross-Source Mock</a:t>
            </a:r>
            <a:endParaRPr lang="en-US" sz="950" dirty="0"/>
          </a:p>
        </p:txBody>
      </p:sp>
      <p:sp>
        <p:nvSpPr>
          <p:cNvPr id="15" name="Text 13"/>
          <p:cNvSpPr/>
          <p:nvPr/>
        </p:nvSpPr>
        <p:spPr>
          <a:xfrm>
            <a:off x="2468880" y="2148840"/>
            <a:ext cx="8778240"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Connects directly to SAP ERP (purchase_orders), WMS Logistics (deliveries), AP Invoices (invoices), and Legal Contracts (contract_prices). Executes federated cross-source joins on the fly without duplicating data or creating fragile ETL pipelines.</a:t>
            </a:r>
            <a:endParaRPr lang="en-US" sz="950" dirty="0"/>
          </a:p>
        </p:txBody>
      </p:sp>
      <p:sp>
        <p:nvSpPr>
          <p:cNvPr id="16" name="Shape 14"/>
          <p:cNvSpPr/>
          <p:nvPr/>
        </p:nvSpPr>
        <p:spPr>
          <a:xfrm>
            <a:off x="731520" y="2852928"/>
            <a:ext cx="10725912" cy="1024128"/>
          </a:xfrm>
          <a:prstGeom prst="roundRect">
            <a:avLst>
              <a:gd name="adj" fmla="val 8929"/>
            </a:avLst>
          </a:prstGeom>
          <a:solidFill>
            <a:srgbClr val="0B1120"/>
          </a:solidFill>
          <a:ln w="19050">
            <a:solidFill>
              <a:srgbClr val="10B981"/>
            </a:solidFill>
            <a:prstDash val="solid"/>
          </a:ln>
        </p:spPr>
      </p:sp>
      <p:sp>
        <p:nvSpPr>
          <p:cNvPr id="17" name="Shape 15"/>
          <p:cNvSpPr/>
          <p:nvPr/>
        </p:nvSpPr>
        <p:spPr>
          <a:xfrm>
            <a:off x="914400" y="2990088"/>
            <a:ext cx="1371600" cy="320040"/>
          </a:xfrm>
          <a:prstGeom prst="roundRect">
            <a:avLst>
              <a:gd name="adj" fmla="val 22857"/>
            </a:avLst>
          </a:prstGeom>
          <a:solidFill>
            <a:srgbClr val="064E3B"/>
          </a:solidFill>
          <a:ln w="12700">
            <a:solidFill>
              <a:srgbClr val="10B981"/>
            </a:solidFill>
            <a:prstDash val="solid"/>
          </a:ln>
        </p:spPr>
      </p:sp>
      <p:sp>
        <p:nvSpPr>
          <p:cNvPr id="18" name="Text 16"/>
          <p:cNvSpPr/>
          <p:nvPr/>
        </p:nvSpPr>
        <p:spPr>
          <a:xfrm>
            <a:off x="914400" y="2990088"/>
            <a:ext cx="1371600" cy="320040"/>
          </a:xfrm>
          <a:prstGeom prst="rect">
            <a:avLst/>
          </a:prstGeom>
          <a:noFill/>
          <a:ln/>
        </p:spPr>
        <p:txBody>
          <a:bodyPr wrap="square"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LAYER 2</a:t>
            </a:r>
            <a:endParaRPr lang="en-US" sz="1000" dirty="0"/>
          </a:p>
        </p:txBody>
      </p:sp>
      <p:sp>
        <p:nvSpPr>
          <p:cNvPr id="19" name="Text 17"/>
          <p:cNvSpPr/>
          <p:nvPr/>
        </p:nvSpPr>
        <p:spPr>
          <a:xfrm>
            <a:off x="2468880" y="2962656"/>
            <a:ext cx="5029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Agent Orchestration Pipeline (Meterless Architecture)</a:t>
            </a:r>
            <a:endParaRPr lang="en-US" sz="1300" dirty="0"/>
          </a:p>
        </p:txBody>
      </p:sp>
      <p:sp>
        <p:nvSpPr>
          <p:cNvPr id="20" name="Text 18"/>
          <p:cNvSpPr/>
          <p:nvPr/>
        </p:nvSpPr>
        <p:spPr>
          <a:xfrm>
            <a:off x="7589520" y="2962656"/>
            <a:ext cx="3657600" cy="320040"/>
          </a:xfrm>
          <a:prstGeom prst="rect">
            <a:avLst/>
          </a:prstGeom>
          <a:noFill/>
          <a:ln/>
        </p:spPr>
        <p:txBody>
          <a:bodyPr wrap="square" rtlCol="0" anchor="ctr"/>
          <a:lstStyle/>
          <a:p>
            <a:pPr algn="r" indent="0" marL="0">
              <a:buNone/>
            </a:pPr>
            <a:r>
              <a:rPr lang="en-US" sz="950" b="1" dirty="0">
                <a:solidFill>
                  <a:srgbClr val="10B981"/>
                </a:solidFill>
                <a:latin typeface="Calibri" pitchFamily="34" charset="0"/>
                <a:ea typeface="Calibri" pitchFamily="34" charset="-122"/>
                <a:cs typeface="Calibri" pitchFamily="34" charset="-120"/>
              </a:rPr>
              <a:t>Meterless Scout • Relay Engine • Nightshift AI Provider • Gaia H-MEM</a:t>
            </a:r>
            <a:endParaRPr lang="en-US" sz="950" dirty="0"/>
          </a:p>
        </p:txBody>
      </p:sp>
      <p:sp>
        <p:nvSpPr>
          <p:cNvPr id="21" name="Text 19"/>
          <p:cNvSpPr/>
          <p:nvPr/>
        </p:nvSpPr>
        <p:spPr>
          <a:xfrm>
            <a:off x="2468880" y="3264408"/>
            <a:ext cx="8778240"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5-Stage Mission Execution:</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1. Scout Intent (12ms): Configures tolerances ($0 threshold) &amp; audit parameters.</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2. Relay Zetaris (18ms): Queries federated tables across all 4 enterprise systems.</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3. Reconciliation (8ms): Deterministic mathematical 4-way matching engine.</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4. Confidence Scoring (14ms): Multi-point corroboration yielding 96.5% confidence.</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5. Meterless Nightshift (42ms): 4-stage local AI reasoning (Race &gt; Judge &gt; Verify &gt; Generate).</a:t>
            </a:r>
            <a:endParaRPr lang="en-US" sz="950" dirty="0"/>
          </a:p>
        </p:txBody>
      </p:sp>
      <p:sp>
        <p:nvSpPr>
          <p:cNvPr id="22" name="Shape 20"/>
          <p:cNvSpPr/>
          <p:nvPr/>
        </p:nvSpPr>
        <p:spPr>
          <a:xfrm>
            <a:off x="731520" y="3968496"/>
            <a:ext cx="10725912" cy="1024128"/>
          </a:xfrm>
          <a:prstGeom prst="roundRect">
            <a:avLst>
              <a:gd name="adj" fmla="val 8929"/>
            </a:avLst>
          </a:prstGeom>
          <a:solidFill>
            <a:srgbClr val="0B1120"/>
          </a:solidFill>
          <a:ln w="19050">
            <a:solidFill>
              <a:srgbClr val="F59E0B"/>
            </a:solidFill>
            <a:prstDash val="solid"/>
          </a:ln>
        </p:spPr>
      </p:sp>
      <p:sp>
        <p:nvSpPr>
          <p:cNvPr id="23" name="Shape 21"/>
          <p:cNvSpPr/>
          <p:nvPr/>
        </p:nvSpPr>
        <p:spPr>
          <a:xfrm>
            <a:off x="914400" y="4105656"/>
            <a:ext cx="1371600" cy="320040"/>
          </a:xfrm>
          <a:prstGeom prst="roundRect">
            <a:avLst>
              <a:gd name="adj" fmla="val 22857"/>
            </a:avLst>
          </a:prstGeom>
          <a:solidFill>
            <a:srgbClr val="451A03"/>
          </a:solidFill>
          <a:ln w="12700">
            <a:solidFill>
              <a:srgbClr val="F59E0B"/>
            </a:solidFill>
            <a:prstDash val="solid"/>
          </a:ln>
        </p:spPr>
      </p:sp>
      <p:sp>
        <p:nvSpPr>
          <p:cNvPr id="24" name="Text 22"/>
          <p:cNvSpPr/>
          <p:nvPr/>
        </p:nvSpPr>
        <p:spPr>
          <a:xfrm>
            <a:off x="914400" y="4105656"/>
            <a:ext cx="1371600" cy="320040"/>
          </a:xfrm>
          <a:prstGeom prst="rect">
            <a:avLst/>
          </a:prstGeom>
          <a:noFill/>
          <a:ln/>
        </p:spPr>
        <p:txBody>
          <a:bodyPr wrap="square"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LAYER 3</a:t>
            </a:r>
            <a:endParaRPr lang="en-US" sz="1000" dirty="0"/>
          </a:p>
        </p:txBody>
      </p:sp>
      <p:sp>
        <p:nvSpPr>
          <p:cNvPr id="25" name="Text 23"/>
          <p:cNvSpPr/>
          <p:nvPr/>
        </p:nvSpPr>
        <p:spPr>
          <a:xfrm>
            <a:off x="2468880" y="4078224"/>
            <a:ext cx="5029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Evidence Index &amp; Dispute Synthesis</a:t>
            </a:r>
            <a:endParaRPr lang="en-US" sz="1300" dirty="0"/>
          </a:p>
        </p:txBody>
      </p:sp>
      <p:sp>
        <p:nvSpPr>
          <p:cNvPr id="26" name="Text 24"/>
          <p:cNvSpPr/>
          <p:nvPr/>
        </p:nvSpPr>
        <p:spPr>
          <a:xfrm>
            <a:off x="7589520" y="4078224"/>
            <a:ext cx="3657600" cy="320040"/>
          </a:xfrm>
          <a:prstGeom prst="rect">
            <a:avLst/>
          </a:prstGeom>
          <a:noFill/>
          <a:ln/>
        </p:spPr>
        <p:txBody>
          <a:bodyPr wrap="square" rtlCol="0" anchor="ctr"/>
          <a:lstStyle/>
          <a:p>
            <a:pPr algn="r" indent="0" marL="0">
              <a:buNone/>
            </a:pPr>
            <a:r>
              <a:rPr lang="en-US" sz="950" b="1" dirty="0">
                <a:solidFill>
                  <a:srgbClr val="F59E0B"/>
                </a:solidFill>
                <a:latin typeface="Calibri" pitchFamily="34" charset="0"/>
                <a:ea typeface="Calibri" pitchFamily="34" charset="-122"/>
                <a:cs typeface="Calibri" pitchFamily="34" charset="-120"/>
              </a:rPr>
              <a:t>Immutable Cell Provenance • Cell Citation Index • Claim Formatter</a:t>
            </a:r>
            <a:endParaRPr lang="en-US" sz="950" dirty="0"/>
          </a:p>
        </p:txBody>
      </p:sp>
      <p:sp>
        <p:nvSpPr>
          <p:cNvPr id="27" name="Text 25"/>
          <p:cNvSpPr/>
          <p:nvPr/>
        </p:nvSpPr>
        <p:spPr>
          <a:xfrm>
            <a:off x="2468880" y="4379976"/>
            <a:ext cx="8778240"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Every financial discrepancy maps to {file, row, column, value}. Generates formal supplier dispute claim packets with itemized proof, contract clause citations, and delivery note cross-references ready for executive signing.</a:t>
            </a:r>
            <a:endParaRPr lang="en-US" sz="950" dirty="0"/>
          </a:p>
        </p:txBody>
      </p:sp>
      <p:sp>
        <p:nvSpPr>
          <p:cNvPr id="28" name="Shape 26"/>
          <p:cNvSpPr/>
          <p:nvPr/>
        </p:nvSpPr>
        <p:spPr>
          <a:xfrm>
            <a:off x="731520" y="5084064"/>
            <a:ext cx="10725912" cy="1024128"/>
          </a:xfrm>
          <a:prstGeom prst="roundRect">
            <a:avLst>
              <a:gd name="adj" fmla="val 8929"/>
            </a:avLst>
          </a:prstGeom>
          <a:solidFill>
            <a:srgbClr val="0B1120"/>
          </a:solidFill>
          <a:ln w="19050">
            <a:solidFill>
              <a:srgbClr val="A855F7"/>
            </a:solidFill>
            <a:prstDash val="solid"/>
          </a:ln>
        </p:spPr>
      </p:sp>
      <p:sp>
        <p:nvSpPr>
          <p:cNvPr id="29" name="Shape 27"/>
          <p:cNvSpPr/>
          <p:nvPr/>
        </p:nvSpPr>
        <p:spPr>
          <a:xfrm>
            <a:off x="914400" y="5221224"/>
            <a:ext cx="1371600" cy="320040"/>
          </a:xfrm>
          <a:prstGeom prst="roundRect">
            <a:avLst>
              <a:gd name="adj" fmla="val 22857"/>
            </a:avLst>
          </a:prstGeom>
          <a:solidFill>
            <a:srgbClr val="2E1065"/>
          </a:solidFill>
          <a:ln w="12700">
            <a:solidFill>
              <a:srgbClr val="A855F7"/>
            </a:solidFill>
            <a:prstDash val="solid"/>
          </a:ln>
        </p:spPr>
      </p:sp>
      <p:sp>
        <p:nvSpPr>
          <p:cNvPr id="30" name="Text 28"/>
          <p:cNvSpPr/>
          <p:nvPr/>
        </p:nvSpPr>
        <p:spPr>
          <a:xfrm>
            <a:off x="914400" y="5221224"/>
            <a:ext cx="1371600" cy="320040"/>
          </a:xfrm>
          <a:prstGeom prst="rect">
            <a:avLst/>
          </a:prstGeom>
          <a:noFill/>
          <a:ln/>
        </p:spPr>
        <p:txBody>
          <a:bodyPr wrap="square" rtlCol="0" anchor="ctr"/>
          <a:lstStyle/>
          <a:p>
            <a:pPr algn="ctr" indent="0" marL="0">
              <a:buNone/>
            </a:pPr>
            <a:r>
              <a:rPr lang="en-US" sz="1000" b="1" dirty="0">
                <a:solidFill>
                  <a:srgbClr val="A855F7"/>
                </a:solidFill>
                <a:latin typeface="Calibri" pitchFamily="34" charset="0"/>
                <a:ea typeface="Calibri" pitchFamily="34" charset="-122"/>
                <a:cs typeface="Calibri" pitchFamily="34" charset="-120"/>
              </a:rPr>
              <a:t>LAYER 4</a:t>
            </a:r>
            <a:endParaRPr lang="en-US" sz="1000" dirty="0"/>
          </a:p>
        </p:txBody>
      </p:sp>
      <p:sp>
        <p:nvSpPr>
          <p:cNvPr id="31" name="Text 29"/>
          <p:cNvSpPr/>
          <p:nvPr/>
        </p:nvSpPr>
        <p:spPr>
          <a:xfrm>
            <a:off x="2468880" y="5193792"/>
            <a:ext cx="5029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Human-in-the-Loop Audit UI &amp; Dashboard</a:t>
            </a:r>
            <a:endParaRPr lang="en-US" sz="1300" dirty="0"/>
          </a:p>
        </p:txBody>
      </p:sp>
      <p:sp>
        <p:nvSpPr>
          <p:cNvPr id="32" name="Text 30"/>
          <p:cNvSpPr/>
          <p:nvPr/>
        </p:nvSpPr>
        <p:spPr>
          <a:xfrm>
            <a:off x="7589520" y="5193792"/>
            <a:ext cx="3657600" cy="320040"/>
          </a:xfrm>
          <a:prstGeom prst="rect">
            <a:avLst/>
          </a:prstGeom>
          <a:noFill/>
          <a:ln/>
        </p:spPr>
        <p:txBody>
          <a:bodyPr wrap="square" rtlCol="0" anchor="ctr"/>
          <a:lstStyle/>
          <a:p>
            <a:pPr algn="r" indent="0" marL="0">
              <a:buNone/>
            </a:pPr>
            <a:r>
              <a:rPr lang="en-US" sz="950" b="1" dirty="0">
                <a:solidFill>
                  <a:srgbClr val="A855F7"/>
                </a:solidFill>
                <a:latin typeface="Calibri" pitchFamily="34" charset="0"/>
                <a:ea typeface="Calibri" pitchFamily="34" charset="-122"/>
                <a:cs typeface="Calibri" pitchFamily="34" charset="-120"/>
              </a:rPr>
              <a:t>React 18 • TypeScript • Tailwind CSS • Vite • Lucide Icons</a:t>
            </a:r>
            <a:endParaRPr lang="en-US" sz="950" dirty="0"/>
          </a:p>
        </p:txBody>
      </p:sp>
      <p:sp>
        <p:nvSpPr>
          <p:cNvPr id="33" name="Text 31"/>
          <p:cNvSpPr/>
          <p:nvPr/>
        </p:nvSpPr>
        <p:spPr>
          <a:xfrm>
            <a:off x="2468880" y="5495544"/>
            <a:ext cx="8778240" cy="566928"/>
          </a:xfrm>
          <a:prstGeom prst="rect">
            <a:avLst/>
          </a:prstGeom>
          <a:noFill/>
          <a:ln/>
        </p:spPr>
        <p:txBody>
          <a:bodyPr wrap="square" rtlCol="0" anchor="ctr"/>
          <a:lstStyle/>
          <a:p>
            <a:pPr indent="0" marL="0">
              <a:buNone/>
            </a:pPr>
            <a:r>
              <a:rPr lang="en-US" sz="950" dirty="0">
                <a:solidFill>
                  <a:srgbClr val="CBD5E1"/>
                </a:solidFill>
                <a:latin typeface="Calibri" pitchFamily="34" charset="0"/>
                <a:ea typeface="Calibri" pitchFamily="34" charset="-122"/>
                <a:cs typeface="Calibri" pitchFamily="34" charset="-120"/>
              </a:rPr>
              <a:t>Auditor workspace with real-time spend analytics, 4-way evidence inspector, interactive 2-min demo video player, 1-click claim approval modal, and full CSV/JSON export capabilities.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SPONSOR TECHNOLOGY</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Deep Sponsor Integration: Zetaris &amp; Meterless</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First-class implementation of Zetaris Data Virtualization and the Meterless Agent Engine.</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5212080" cy="4389120"/>
          </a:xfrm>
          <a:prstGeom prst="roundRect">
            <a:avLst>
              <a:gd name="adj" fmla="val 3125"/>
            </a:avLst>
          </a:prstGeom>
          <a:solidFill>
            <a:srgbClr val="0B1120"/>
          </a:solidFill>
          <a:ln w="25400">
            <a:solidFill>
              <a:srgbClr val="38BDF8"/>
            </a:solidFill>
            <a:prstDash val="solid"/>
          </a:ln>
        </p:spPr>
      </p:sp>
      <p:sp>
        <p:nvSpPr>
          <p:cNvPr id="11" name="Shape 9"/>
          <p:cNvSpPr/>
          <p:nvPr/>
        </p:nvSpPr>
        <p:spPr>
          <a:xfrm>
            <a:off x="960120" y="1920240"/>
            <a:ext cx="4754880" cy="594360"/>
          </a:xfrm>
          <a:prstGeom prst="roundRect">
            <a:avLst>
              <a:gd name="adj" fmla="val 15385"/>
            </a:avLst>
          </a:prstGeom>
          <a:solidFill>
            <a:srgbClr val="082F49"/>
          </a:solidFill>
          <a:ln w="12700">
            <a:solidFill>
              <a:srgbClr val="38BDF8"/>
            </a:solidFill>
            <a:prstDash val="solid"/>
          </a:ln>
        </p:spPr>
      </p:sp>
      <p:sp>
        <p:nvSpPr>
          <p:cNvPr id="12" name="Text 10"/>
          <p:cNvSpPr/>
          <p:nvPr/>
        </p:nvSpPr>
        <p:spPr>
          <a:xfrm>
            <a:off x="1097280" y="1965960"/>
            <a:ext cx="448056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ZETARIS DATA VIRTUALIZATION</a:t>
            </a:r>
            <a:endParaRPr lang="en-US" sz="1300" dirty="0"/>
          </a:p>
        </p:txBody>
      </p:sp>
      <p:sp>
        <p:nvSpPr>
          <p:cNvPr id="13" name="Text 11"/>
          <p:cNvSpPr/>
          <p:nvPr/>
        </p:nvSpPr>
        <p:spPr>
          <a:xfrm>
            <a:off x="1097280" y="2240280"/>
            <a:ext cx="4480560" cy="228600"/>
          </a:xfrm>
          <a:prstGeom prst="rect">
            <a:avLst/>
          </a:prstGeom>
          <a:noFill/>
          <a:ln/>
        </p:spPr>
        <p:txBody>
          <a:bodyPr wrap="square" rtlCol="0" anchor="ctr"/>
          <a:lstStyle/>
          <a:p>
            <a:pPr indent="0" marL="0">
              <a:buNone/>
            </a:pPr>
            <a:r>
              <a:rPr lang="en-US" sz="950" dirty="0">
                <a:solidFill>
                  <a:srgbClr val="38BDF8"/>
                </a:solidFill>
                <a:latin typeface="Calibri" pitchFamily="34" charset="0"/>
                <a:ea typeface="Calibri" pitchFamily="34" charset="-122"/>
                <a:cs typeface="Calibri" pitchFamily="34" charset="-120"/>
              </a:rPr>
              <a:t>Live Federated Querying &amp; Cross-Source Data Virtualization</a:t>
            </a:r>
            <a:endParaRPr lang="en-US" sz="950" dirty="0"/>
          </a:p>
        </p:txBody>
      </p:sp>
      <p:sp>
        <p:nvSpPr>
          <p:cNvPr id="14" name="Text 12"/>
          <p:cNvSpPr/>
          <p:nvPr/>
        </p:nvSpPr>
        <p:spPr>
          <a:xfrm>
            <a:off x="960120" y="2651760"/>
            <a:ext cx="4754880" cy="32918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1. Zero-ETL Virtual Join:</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Executes single federated SQL join across 4 disparate databases on the fly:</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SELECT po.*, del.*, inv.*, cp.* FROM sap_erp.purchase_orders</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LEFT JOIN wms.deliveries ... LEFT JOIN ap.invoices ...</a:t>
            </a:r>
            <a:endParaRPr lang="en-US" sz="1050" dirty="0"/>
          </a:p>
          <a:p>
            <a:pPr indent="0" marL="0">
              <a:buNone/>
            </a:pP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2. Dual Mode (Live Network &amp; Cross-Source Mock):</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 Live Mode: Queries Zetaris Network API via POST /query with token auth.</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 Cross-Source Mock: In-memory SQLite federator mirroring exact Zetaris SQL schema for 100% offline hackathon testability.</a:t>
            </a:r>
            <a:endParaRPr lang="en-US" sz="1050" dirty="0"/>
          </a:p>
          <a:p>
            <a:pPr indent="0" marL="0">
              <a:buNone/>
            </a:pP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3. Immutable Evidence Provenance: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Data remains at source; findings link directly to exact cell coordinates {file, row, col}.</a:t>
            </a:r>
            <a:endParaRPr lang="en-US" sz="1050" dirty="0"/>
          </a:p>
        </p:txBody>
      </p:sp>
      <p:sp>
        <p:nvSpPr>
          <p:cNvPr id="15" name="Shape 13"/>
          <p:cNvSpPr/>
          <p:nvPr/>
        </p:nvSpPr>
        <p:spPr>
          <a:xfrm>
            <a:off x="6217920" y="1737360"/>
            <a:ext cx="5212080" cy="4389120"/>
          </a:xfrm>
          <a:prstGeom prst="roundRect">
            <a:avLst>
              <a:gd name="adj" fmla="val 3125"/>
            </a:avLst>
          </a:prstGeom>
          <a:solidFill>
            <a:srgbClr val="0B1120"/>
          </a:solidFill>
          <a:ln w="25400">
            <a:solidFill>
              <a:srgbClr val="10B981"/>
            </a:solidFill>
            <a:prstDash val="solid"/>
          </a:ln>
        </p:spPr>
      </p:sp>
      <p:sp>
        <p:nvSpPr>
          <p:cNvPr id="16" name="Shape 14"/>
          <p:cNvSpPr/>
          <p:nvPr/>
        </p:nvSpPr>
        <p:spPr>
          <a:xfrm>
            <a:off x="6446520" y="1920240"/>
            <a:ext cx="4754880" cy="594360"/>
          </a:xfrm>
          <a:prstGeom prst="roundRect">
            <a:avLst>
              <a:gd name="adj" fmla="val 15385"/>
            </a:avLst>
          </a:prstGeom>
          <a:solidFill>
            <a:srgbClr val="064E3B"/>
          </a:solidFill>
          <a:ln w="12700">
            <a:solidFill>
              <a:srgbClr val="10B981"/>
            </a:solidFill>
            <a:prstDash val="solid"/>
          </a:ln>
        </p:spPr>
      </p:sp>
      <p:sp>
        <p:nvSpPr>
          <p:cNvPr id="17" name="Text 15"/>
          <p:cNvSpPr/>
          <p:nvPr/>
        </p:nvSpPr>
        <p:spPr>
          <a:xfrm>
            <a:off x="6583680" y="1965960"/>
            <a:ext cx="4480560" cy="2743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METERLESS ENGINE &amp; NIGHTSHIFT AI</a:t>
            </a:r>
            <a:endParaRPr lang="en-US" sz="1300" dirty="0"/>
          </a:p>
        </p:txBody>
      </p:sp>
      <p:sp>
        <p:nvSpPr>
          <p:cNvPr id="18" name="Text 16"/>
          <p:cNvSpPr/>
          <p:nvPr/>
        </p:nvSpPr>
        <p:spPr>
          <a:xfrm>
            <a:off x="6583680" y="2240280"/>
            <a:ext cx="4480560" cy="228600"/>
          </a:xfrm>
          <a:prstGeom prst="rect">
            <a:avLst/>
          </a:prstGeom>
          <a:noFill/>
          <a:ln/>
        </p:spPr>
        <p:txBody>
          <a:bodyPr wrap="square" rtlCol="0" anchor="ctr"/>
          <a:lstStyle/>
          <a:p>
            <a:pPr indent="0" marL="0">
              <a:buNone/>
            </a:pPr>
            <a:r>
              <a:rPr lang="en-US" sz="950" dirty="0">
                <a:solidFill>
                  <a:srgbClr val="10B981"/>
                </a:solidFill>
                <a:latin typeface="Calibri" pitchFamily="34" charset="0"/>
                <a:ea typeface="Calibri" pitchFamily="34" charset="-122"/>
                <a:cs typeface="Calibri" pitchFamily="34" charset="-120"/>
              </a:rPr>
              <a:t>Multi-Agent Orchestration &amp; $0.00 Token Compute Provider</a:t>
            </a:r>
            <a:endParaRPr lang="en-US" sz="950" dirty="0"/>
          </a:p>
        </p:txBody>
      </p:sp>
      <p:sp>
        <p:nvSpPr>
          <p:cNvPr id="19" name="Text 17"/>
          <p:cNvSpPr/>
          <p:nvPr/>
        </p:nvSpPr>
        <p:spPr>
          <a:xfrm>
            <a:off x="6446520" y="2651760"/>
            <a:ext cx="4754880" cy="3291840"/>
          </a:xfrm>
          <a:prstGeom prst="rect">
            <a:avLst/>
          </a:prstGeom>
          <a:noFill/>
          <a:ln/>
        </p:spPr>
        <p:txBody>
          <a:bodyPr wrap="square" rtlCol="0" anchor="ctr"/>
          <a:lstStyle/>
          <a:p>
            <a:pPr indent="0" marL="0">
              <a:buNone/>
            </a:pPr>
            <a:r>
              <a:rPr lang="en-US" sz="1050" dirty="0">
                <a:solidFill>
                  <a:srgbClr val="CBD5E1"/>
                </a:solidFill>
                <a:latin typeface="Calibri" pitchFamily="34" charset="0"/>
                <a:ea typeface="Calibri" pitchFamily="34" charset="-122"/>
                <a:cs typeface="Calibri" pitchFamily="34" charset="-120"/>
              </a:rPr>
              <a:t>1. Meterless Scout Engine: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Audit intent extraction, tolerance configuration ($0 threshold), and risk profile mapping in 12ms.</a:t>
            </a:r>
            <a:endParaRPr lang="en-US" sz="1050" dirty="0"/>
          </a:p>
          <a:p>
            <a:pPr indent="0" marL="0">
              <a:buNone/>
            </a:pP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2. Meterless Relay Engine: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Asynchronous coordination of Zetaris federated queries and deterministic reconciliation tool execution.</a:t>
            </a:r>
            <a:endParaRPr lang="en-US" sz="1050" dirty="0"/>
          </a:p>
          <a:p>
            <a:pPr indent="0" marL="0">
              <a:buNone/>
            </a:pP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3. Meterless Nightshift AI Provider ($0 Cloud Compute):</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Autonomous 4-stage local AI reasoning cycle: Race &gt; Judge &gt; Verify &gt; Generate. Produces immutable audit receipt (ns-rcpt-8f3a9e) at $0.00 cloud token cost.</a:t>
            </a:r>
            <a:endParaRPr lang="en-US" sz="1050" dirty="0"/>
          </a:p>
          <a:p>
            <a:pPr indent="0" marL="0">
              <a:buNone/>
            </a:pP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4. Meterless Gaia H-MEM:</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   Hierarchical working memory committing mission checkpoints and dispute correspondence for persistent multi-turn context.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0617"/>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50000"/>
            </a:avLst>
          </a:prstGeom>
          <a:solidFill>
            <a:srgbClr val="1E1B4B"/>
          </a:solidFill>
          <a:ln w="12700">
            <a:solidFill>
              <a:srgbClr val="4338CA"/>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A5B4FC"/>
                </a:solidFill>
                <a:latin typeface="Calibri" pitchFamily="34" charset="0"/>
                <a:ea typeface="Calibri" pitchFamily="34" charset="-122"/>
                <a:cs typeface="Calibri" pitchFamily="34" charset="-120"/>
              </a:rPr>
              <a:t>BUSINESS IMPACT</a:t>
            </a:r>
            <a:endParaRPr lang="en-US" sz="1000" dirty="0"/>
          </a:p>
        </p:txBody>
      </p:sp>
      <p:sp>
        <p:nvSpPr>
          <p:cNvPr id="4" name="Text 2"/>
          <p:cNvSpPr/>
          <p:nvPr/>
        </p:nvSpPr>
        <p:spPr>
          <a:xfrm>
            <a:off x="731520" y="777240"/>
            <a:ext cx="10698480" cy="548640"/>
          </a:xfrm>
          <a:prstGeom prst="rect">
            <a:avLst/>
          </a:prstGeom>
          <a:noFill/>
          <a:ln/>
        </p:spPr>
        <p:txBody>
          <a:bodyPr wrap="square"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Measurable ROI, Defensible Audits, and Live Verification</a:t>
            </a:r>
            <a:endParaRPr lang="en-US" sz="2200" dirty="0"/>
          </a:p>
        </p:txBody>
      </p:sp>
      <p:sp>
        <p:nvSpPr>
          <p:cNvPr id="5" name="Text 3"/>
          <p:cNvSpPr/>
          <p:nvPr/>
        </p:nvSpPr>
        <p:spPr>
          <a:xfrm>
            <a:off x="731520" y="1280160"/>
            <a:ext cx="10698480" cy="320040"/>
          </a:xfrm>
          <a:prstGeom prst="rect">
            <a:avLst/>
          </a:prstGeom>
          <a:noFill/>
          <a:ln/>
        </p:spPr>
        <p:txBody>
          <a:bodyPr wrap="square" rtlCol="0" anchor="t"/>
          <a:lstStyle/>
          <a:p>
            <a:pPr indent="0" marL="0">
              <a:buNone/>
            </a:pPr>
            <a:r>
              <a:rPr lang="en-US" sz="1300" dirty="0">
                <a:solidFill>
                  <a:srgbClr val="94A3B8"/>
                </a:solidFill>
                <a:latin typeface="Calibri" pitchFamily="34" charset="0"/>
                <a:ea typeface="Calibri" pitchFamily="34" charset="-122"/>
                <a:cs typeface="Calibri" pitchFamily="34" charset="-120"/>
              </a:rPr>
              <a:t>TraceBack AI turns enterprise procurement leakage into measurable cash recovery.</a:t>
            </a:r>
            <a:endParaRPr lang="en-US" sz="1300" dirty="0"/>
          </a:p>
        </p:txBody>
      </p:sp>
      <p:sp>
        <p:nvSpPr>
          <p:cNvPr id="6" name="Shape 4"/>
          <p:cNvSpPr/>
          <p:nvPr/>
        </p:nvSpPr>
        <p:spPr>
          <a:xfrm>
            <a:off x="8138160" y="411480"/>
            <a:ext cx="1645920" cy="292608"/>
          </a:xfrm>
          <a:prstGeom prst="roundRect">
            <a:avLst>
              <a:gd name="adj" fmla="val 50000"/>
            </a:avLst>
          </a:prstGeom>
          <a:solidFill>
            <a:srgbClr val="082F49"/>
          </a:solidFill>
          <a:ln w="12700">
            <a:solidFill>
              <a:srgbClr val="0284C7"/>
            </a:solidFill>
            <a:prstDash val="solid"/>
          </a:ln>
        </p:spPr>
      </p:sp>
      <p:sp>
        <p:nvSpPr>
          <p:cNvPr id="7" name="Text 5"/>
          <p:cNvSpPr/>
          <p:nvPr/>
        </p:nvSpPr>
        <p:spPr>
          <a:xfrm>
            <a:off x="8138160" y="411480"/>
            <a:ext cx="1645920" cy="292608"/>
          </a:xfrm>
          <a:prstGeom prst="rect">
            <a:avLst/>
          </a:prstGeom>
          <a:noFill/>
          <a:ln/>
        </p:spPr>
        <p:txBody>
          <a:bodyPr wrap="square" rtlCol="0" anchor="ctr"/>
          <a:lstStyle/>
          <a:p>
            <a:pPr algn="ctr" indent="0" marL="0">
              <a:buNone/>
            </a:pPr>
            <a:r>
              <a:rPr lang="en-US" sz="850" b="1" dirty="0">
                <a:solidFill>
                  <a:srgbClr val="7DD3FC"/>
                </a:solidFill>
                <a:latin typeface="Calibri" pitchFamily="34" charset="0"/>
                <a:ea typeface="Calibri" pitchFamily="34" charset="-122"/>
                <a:cs typeface="Calibri" pitchFamily="34" charset="-120"/>
              </a:rPr>
              <a:t>ZETARIS FEDERATED</a:t>
            </a:r>
            <a:endParaRPr lang="en-US" sz="850" dirty="0"/>
          </a:p>
        </p:txBody>
      </p:sp>
      <p:sp>
        <p:nvSpPr>
          <p:cNvPr id="8" name="Shape 6"/>
          <p:cNvSpPr/>
          <p:nvPr/>
        </p:nvSpPr>
        <p:spPr>
          <a:xfrm>
            <a:off x="9875520" y="411480"/>
            <a:ext cx="1554480" cy="292608"/>
          </a:xfrm>
          <a:prstGeom prst="roundRect">
            <a:avLst>
              <a:gd name="adj" fmla="val 50000"/>
            </a:avLst>
          </a:prstGeom>
          <a:solidFill>
            <a:srgbClr val="064E3B"/>
          </a:solidFill>
          <a:ln w="12700">
            <a:solidFill>
              <a:srgbClr val="059669"/>
            </a:solidFill>
            <a:prstDash val="solid"/>
          </a:ln>
        </p:spPr>
      </p:sp>
      <p:sp>
        <p:nvSpPr>
          <p:cNvPr id="9" name="Text 7"/>
          <p:cNvSpPr/>
          <p:nvPr/>
        </p:nvSpPr>
        <p:spPr>
          <a:xfrm>
            <a:off x="9875520" y="411480"/>
            <a:ext cx="1554480" cy="292608"/>
          </a:xfrm>
          <a:prstGeom prst="rect">
            <a:avLst/>
          </a:prstGeom>
          <a:noFill/>
          <a:ln/>
        </p:spPr>
        <p:txBody>
          <a:bodyPr wrap="square" rtlCol="0" anchor="ctr"/>
          <a:lstStyle/>
          <a:p>
            <a:pPr algn="ctr" indent="0" marL="0">
              <a:buNone/>
            </a:pPr>
            <a:r>
              <a:rPr lang="en-US" sz="850" b="1" dirty="0">
                <a:solidFill>
                  <a:srgbClr val="6EE7B7"/>
                </a:solidFill>
                <a:latin typeface="Calibri" pitchFamily="34" charset="0"/>
                <a:ea typeface="Calibri" pitchFamily="34" charset="-122"/>
                <a:cs typeface="Calibri" pitchFamily="34" charset="-120"/>
              </a:rPr>
              <a:t>METERLESS NIGHTSHIFT</a:t>
            </a:r>
            <a:endParaRPr lang="en-US" sz="850" dirty="0"/>
          </a:p>
        </p:txBody>
      </p:sp>
      <p:sp>
        <p:nvSpPr>
          <p:cNvPr id="10" name="Shape 8"/>
          <p:cNvSpPr/>
          <p:nvPr/>
        </p:nvSpPr>
        <p:spPr>
          <a:xfrm>
            <a:off x="731520" y="1737360"/>
            <a:ext cx="2606040" cy="1737360"/>
          </a:xfrm>
          <a:prstGeom prst="roundRect">
            <a:avLst>
              <a:gd name="adj" fmla="val 7895"/>
            </a:avLst>
          </a:prstGeom>
          <a:solidFill>
            <a:srgbClr val="0B1120"/>
          </a:solidFill>
          <a:ln w="19050">
            <a:solidFill>
              <a:srgbClr val="38BDF8"/>
            </a:solidFill>
            <a:prstDash val="solid"/>
          </a:ln>
        </p:spPr>
      </p:sp>
      <p:sp>
        <p:nvSpPr>
          <p:cNvPr id="11" name="Text 9"/>
          <p:cNvSpPr/>
          <p:nvPr/>
        </p:nvSpPr>
        <p:spPr>
          <a:xfrm>
            <a:off x="868680" y="1874520"/>
            <a:ext cx="2331720" cy="640080"/>
          </a:xfrm>
          <a:prstGeom prst="rect">
            <a:avLst/>
          </a:prstGeom>
          <a:noFill/>
          <a:ln/>
        </p:spPr>
        <p:txBody>
          <a:bodyPr wrap="square" rtlCol="0" anchor="ctr"/>
          <a:lstStyle/>
          <a:p>
            <a:pPr algn="ctr" indent="0" marL="0">
              <a:buNone/>
            </a:pPr>
            <a:r>
              <a:rPr lang="en-US" sz="3200" b="1" dirty="0">
                <a:solidFill>
                  <a:srgbClr val="38BDF8"/>
                </a:solidFill>
                <a:latin typeface="Calibri" pitchFamily="34" charset="0"/>
                <a:ea typeface="Calibri" pitchFamily="34" charset="-122"/>
                <a:cs typeface="Calibri" pitchFamily="34" charset="-120"/>
              </a:rPr>
              <a:t>184ms</a:t>
            </a:r>
            <a:endParaRPr lang="en-US" sz="3200" dirty="0"/>
          </a:p>
        </p:txBody>
      </p:sp>
      <p:sp>
        <p:nvSpPr>
          <p:cNvPr id="12" name="Text 10"/>
          <p:cNvSpPr/>
          <p:nvPr/>
        </p:nvSpPr>
        <p:spPr>
          <a:xfrm>
            <a:off x="868680" y="2560320"/>
            <a:ext cx="23317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Audit Latency</a:t>
            </a:r>
            <a:endParaRPr lang="en-US" sz="1300" dirty="0"/>
          </a:p>
        </p:txBody>
      </p:sp>
      <p:sp>
        <p:nvSpPr>
          <p:cNvPr id="13" name="Text 11"/>
          <p:cNvSpPr/>
          <p:nvPr/>
        </p:nvSpPr>
        <p:spPr>
          <a:xfrm>
            <a:off x="868680" y="2852928"/>
            <a:ext cx="2331720" cy="4572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Sub-second reconciliation per purchase order</a:t>
            </a:r>
            <a:endParaRPr lang="en-US" sz="1000" dirty="0"/>
          </a:p>
        </p:txBody>
      </p:sp>
      <p:sp>
        <p:nvSpPr>
          <p:cNvPr id="14" name="Shape 12"/>
          <p:cNvSpPr/>
          <p:nvPr/>
        </p:nvSpPr>
        <p:spPr>
          <a:xfrm>
            <a:off x="3456432" y="1737360"/>
            <a:ext cx="2606040" cy="1737360"/>
          </a:xfrm>
          <a:prstGeom prst="roundRect">
            <a:avLst>
              <a:gd name="adj" fmla="val 7895"/>
            </a:avLst>
          </a:prstGeom>
          <a:solidFill>
            <a:srgbClr val="0B1120"/>
          </a:solidFill>
          <a:ln w="19050">
            <a:solidFill>
              <a:srgbClr val="10B981"/>
            </a:solidFill>
            <a:prstDash val="solid"/>
          </a:ln>
        </p:spPr>
      </p:sp>
      <p:sp>
        <p:nvSpPr>
          <p:cNvPr id="15" name="Text 13"/>
          <p:cNvSpPr/>
          <p:nvPr/>
        </p:nvSpPr>
        <p:spPr>
          <a:xfrm>
            <a:off x="3593592" y="1874520"/>
            <a:ext cx="2331720" cy="640080"/>
          </a:xfrm>
          <a:prstGeom prst="rect">
            <a:avLst/>
          </a:prstGeom>
          <a:noFill/>
          <a:ln/>
        </p:spPr>
        <p:txBody>
          <a:bodyPr wrap="square" rtlCol="0" anchor="ctr"/>
          <a:lstStyle/>
          <a:p>
            <a:pPr algn="ctr" indent="0" marL="0">
              <a:buNone/>
            </a:pPr>
            <a:r>
              <a:rPr lang="en-US" sz="3200" b="1" dirty="0">
                <a:solidFill>
                  <a:srgbClr val="10B981"/>
                </a:solidFill>
                <a:latin typeface="Calibri" pitchFamily="34" charset="0"/>
                <a:ea typeface="Calibri" pitchFamily="34" charset="-122"/>
                <a:cs typeface="Calibri" pitchFamily="34" charset="-120"/>
              </a:rPr>
              <a:t>$1,200</a:t>
            </a:r>
            <a:endParaRPr lang="en-US" sz="3200" dirty="0"/>
          </a:p>
        </p:txBody>
      </p:sp>
      <p:sp>
        <p:nvSpPr>
          <p:cNvPr id="16" name="Text 14"/>
          <p:cNvSpPr/>
          <p:nvPr/>
        </p:nvSpPr>
        <p:spPr>
          <a:xfrm>
            <a:off x="3593592" y="2560320"/>
            <a:ext cx="23317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Recovered / PO</a:t>
            </a:r>
            <a:endParaRPr lang="en-US" sz="1300" dirty="0"/>
          </a:p>
        </p:txBody>
      </p:sp>
      <p:sp>
        <p:nvSpPr>
          <p:cNvPr id="17" name="Text 15"/>
          <p:cNvSpPr/>
          <p:nvPr/>
        </p:nvSpPr>
        <p:spPr>
          <a:xfrm>
            <a:off x="3593592" y="2852928"/>
            <a:ext cx="2331720" cy="4572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Direct cash recovery flagged on PO-1001</a:t>
            </a:r>
            <a:endParaRPr lang="en-US" sz="1000" dirty="0"/>
          </a:p>
        </p:txBody>
      </p:sp>
      <p:sp>
        <p:nvSpPr>
          <p:cNvPr id="18" name="Shape 16"/>
          <p:cNvSpPr/>
          <p:nvPr/>
        </p:nvSpPr>
        <p:spPr>
          <a:xfrm>
            <a:off x="6181344" y="1737360"/>
            <a:ext cx="2606040" cy="1737360"/>
          </a:xfrm>
          <a:prstGeom prst="roundRect">
            <a:avLst>
              <a:gd name="adj" fmla="val 7895"/>
            </a:avLst>
          </a:prstGeom>
          <a:solidFill>
            <a:srgbClr val="0B1120"/>
          </a:solidFill>
          <a:ln w="19050">
            <a:solidFill>
              <a:srgbClr val="F59E0B"/>
            </a:solidFill>
            <a:prstDash val="solid"/>
          </a:ln>
        </p:spPr>
      </p:sp>
      <p:sp>
        <p:nvSpPr>
          <p:cNvPr id="19" name="Text 17"/>
          <p:cNvSpPr/>
          <p:nvPr/>
        </p:nvSpPr>
        <p:spPr>
          <a:xfrm>
            <a:off x="6318504" y="1874520"/>
            <a:ext cx="2331720" cy="640080"/>
          </a:xfrm>
          <a:prstGeom prst="rect">
            <a:avLst/>
          </a:prstGeom>
          <a:noFill/>
          <a:ln/>
        </p:spPr>
        <p:txBody>
          <a:bodyPr wrap="square" rtlCol="0" anchor="ctr"/>
          <a:lstStyle/>
          <a:p>
            <a:pPr algn="ctr" indent="0" marL="0">
              <a:buNone/>
            </a:pPr>
            <a:r>
              <a:rPr lang="en-US" sz="3200" b="1" dirty="0">
                <a:solidFill>
                  <a:srgbClr val="F59E0B"/>
                </a:solidFill>
                <a:latin typeface="Calibri" pitchFamily="34" charset="0"/>
                <a:ea typeface="Calibri" pitchFamily="34" charset="-122"/>
                <a:cs typeface="Calibri" pitchFamily="34" charset="-120"/>
              </a:rPr>
              <a:t>96.5%</a:t>
            </a:r>
            <a:endParaRPr lang="en-US" sz="3200" dirty="0"/>
          </a:p>
        </p:txBody>
      </p:sp>
      <p:sp>
        <p:nvSpPr>
          <p:cNvPr id="20" name="Text 18"/>
          <p:cNvSpPr/>
          <p:nvPr/>
        </p:nvSpPr>
        <p:spPr>
          <a:xfrm>
            <a:off x="6318504" y="2560320"/>
            <a:ext cx="23317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Audit Confidence</a:t>
            </a:r>
            <a:endParaRPr lang="en-US" sz="1300" dirty="0"/>
          </a:p>
        </p:txBody>
      </p:sp>
      <p:sp>
        <p:nvSpPr>
          <p:cNvPr id="21" name="Text 19"/>
          <p:cNvSpPr/>
          <p:nvPr/>
        </p:nvSpPr>
        <p:spPr>
          <a:xfrm>
            <a:off x="6318504" y="2852928"/>
            <a:ext cx="2331720" cy="4572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Multi-point cross-source corroboration</a:t>
            </a:r>
            <a:endParaRPr lang="en-US" sz="1000" dirty="0"/>
          </a:p>
        </p:txBody>
      </p:sp>
      <p:sp>
        <p:nvSpPr>
          <p:cNvPr id="22" name="Shape 20"/>
          <p:cNvSpPr/>
          <p:nvPr/>
        </p:nvSpPr>
        <p:spPr>
          <a:xfrm>
            <a:off x="8906256" y="1737360"/>
            <a:ext cx="2606040" cy="1737360"/>
          </a:xfrm>
          <a:prstGeom prst="roundRect">
            <a:avLst>
              <a:gd name="adj" fmla="val 7895"/>
            </a:avLst>
          </a:prstGeom>
          <a:solidFill>
            <a:srgbClr val="0B1120"/>
          </a:solidFill>
          <a:ln w="19050">
            <a:solidFill>
              <a:srgbClr val="A855F7"/>
            </a:solidFill>
            <a:prstDash val="solid"/>
          </a:ln>
        </p:spPr>
      </p:sp>
      <p:sp>
        <p:nvSpPr>
          <p:cNvPr id="23" name="Text 21"/>
          <p:cNvSpPr/>
          <p:nvPr/>
        </p:nvSpPr>
        <p:spPr>
          <a:xfrm>
            <a:off x="9043416" y="1874520"/>
            <a:ext cx="2331720" cy="640080"/>
          </a:xfrm>
          <a:prstGeom prst="rect">
            <a:avLst/>
          </a:prstGeom>
          <a:noFill/>
          <a:ln/>
        </p:spPr>
        <p:txBody>
          <a:bodyPr wrap="square" rtlCol="0" anchor="ctr"/>
          <a:lstStyle/>
          <a:p>
            <a:pPr algn="ctr" indent="0" marL="0">
              <a:buNone/>
            </a:pPr>
            <a:r>
              <a:rPr lang="en-US" sz="3200" b="1" dirty="0">
                <a:solidFill>
                  <a:srgbClr val="A855F7"/>
                </a:solidFill>
                <a:latin typeface="Calibri" pitchFamily="34" charset="0"/>
                <a:ea typeface="Calibri" pitchFamily="34" charset="-122"/>
                <a:cs typeface="Calibri" pitchFamily="34" charset="-120"/>
              </a:rPr>
              <a:t>0.00%</a:t>
            </a:r>
            <a:endParaRPr lang="en-US" sz="3200" dirty="0"/>
          </a:p>
        </p:txBody>
      </p:sp>
      <p:sp>
        <p:nvSpPr>
          <p:cNvPr id="24" name="Text 22"/>
          <p:cNvSpPr/>
          <p:nvPr/>
        </p:nvSpPr>
        <p:spPr>
          <a:xfrm>
            <a:off x="9043416" y="2560320"/>
            <a:ext cx="2331720" cy="2743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False Positives</a:t>
            </a:r>
            <a:endParaRPr lang="en-US" sz="1300" dirty="0"/>
          </a:p>
        </p:txBody>
      </p:sp>
      <p:sp>
        <p:nvSpPr>
          <p:cNvPr id="25" name="Text 23"/>
          <p:cNvSpPr/>
          <p:nvPr/>
        </p:nvSpPr>
        <p:spPr>
          <a:xfrm>
            <a:off x="9043416" y="2852928"/>
            <a:ext cx="2331720" cy="457200"/>
          </a:xfrm>
          <a:prstGeom prst="rect">
            <a:avLst/>
          </a:prstGeom>
          <a:noFill/>
          <a:ln/>
        </p:spPr>
        <p:txBody>
          <a:bodyPr wrap="square"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Verified clean on PO-1002 benchmark ($0)</a:t>
            </a:r>
            <a:endParaRPr lang="en-US" sz="1000" dirty="0"/>
          </a:p>
        </p:txBody>
      </p:sp>
      <p:sp>
        <p:nvSpPr>
          <p:cNvPr id="26" name="Shape 24"/>
          <p:cNvSpPr/>
          <p:nvPr/>
        </p:nvSpPr>
        <p:spPr>
          <a:xfrm>
            <a:off x="731520" y="3703320"/>
            <a:ext cx="10725912" cy="2423160"/>
          </a:xfrm>
          <a:prstGeom prst="roundRect">
            <a:avLst>
              <a:gd name="adj" fmla="val 5660"/>
            </a:avLst>
          </a:prstGeom>
          <a:solidFill>
            <a:srgbClr val="0F172A"/>
          </a:solidFill>
          <a:ln w="25400">
            <a:solidFill>
              <a:srgbClr val="312E81"/>
            </a:solidFill>
            <a:prstDash val="solid"/>
          </a:ln>
        </p:spPr>
      </p:sp>
      <p:sp>
        <p:nvSpPr>
          <p:cNvPr id="27" name="Text 25"/>
          <p:cNvSpPr/>
          <p:nvPr/>
        </p:nvSpPr>
        <p:spPr>
          <a:xfrm>
            <a:off x="1005840" y="3886200"/>
            <a:ext cx="10149840" cy="27432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PRODUCTION DEPLOYMENT &amp; VERIFICATION LINKS</a:t>
            </a:r>
            <a:endParaRPr lang="en-US" sz="1100" dirty="0"/>
          </a:p>
        </p:txBody>
      </p:sp>
      <p:sp>
        <p:nvSpPr>
          <p:cNvPr id="28" name="Text 26"/>
          <p:cNvSpPr/>
          <p:nvPr/>
        </p:nvSpPr>
        <p:spPr>
          <a:xfrm>
            <a:off x="1005840" y="4251960"/>
            <a:ext cx="3200400"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Live Web App (GitHub Pages):</a:t>
            </a:r>
            <a:endParaRPr lang="en-US" sz="1100" dirty="0"/>
          </a:p>
        </p:txBody>
      </p:sp>
      <p:sp>
        <p:nvSpPr>
          <p:cNvPr id="29" name="Text 27"/>
          <p:cNvSpPr/>
          <p:nvPr/>
        </p:nvSpPr>
        <p:spPr>
          <a:xfrm>
            <a:off x="4206240" y="4251960"/>
            <a:ext cx="6949440" cy="292608"/>
          </a:xfrm>
          <a:prstGeom prst="rect">
            <a:avLst/>
          </a:prstGeom>
          <a:noFill/>
          <a:ln/>
        </p:spPr>
        <p:txBody>
          <a:bodyPr wrap="square" rtlCol="0" anchor="ctr"/>
          <a:lstStyle/>
          <a:p>
            <a:pPr indent="0" marL="0">
              <a:buNone/>
            </a:pPr>
            <a:r>
              <a:rPr lang="en-US" sz="1100" dirty="0">
                <a:solidFill>
                  <a:srgbClr val="38BDF8"/>
                </a:solidFill>
                <a:latin typeface="Calibri" pitchFamily="34" charset="0"/>
                <a:ea typeface="Calibri" pitchFamily="34" charset="-122"/>
                <a:cs typeface="Calibri" pitchFamily="34" charset="-120"/>
              </a:rPr>
              <a:t>https://zaintahir2025.github.io/traceback-ai/</a:t>
            </a:r>
            <a:endParaRPr lang="en-US" sz="1100" dirty="0"/>
          </a:p>
        </p:txBody>
      </p:sp>
      <p:sp>
        <p:nvSpPr>
          <p:cNvPr id="30" name="Text 28"/>
          <p:cNvSpPr/>
          <p:nvPr/>
        </p:nvSpPr>
        <p:spPr>
          <a:xfrm>
            <a:off x="1005840" y="4581144"/>
            <a:ext cx="3200400"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Interactive Slide Deck:</a:t>
            </a:r>
            <a:endParaRPr lang="en-US" sz="1100" dirty="0"/>
          </a:p>
        </p:txBody>
      </p:sp>
      <p:sp>
        <p:nvSpPr>
          <p:cNvPr id="31" name="Text 29"/>
          <p:cNvSpPr/>
          <p:nvPr/>
        </p:nvSpPr>
        <p:spPr>
          <a:xfrm>
            <a:off x="4206240" y="4581144"/>
            <a:ext cx="6949440" cy="292608"/>
          </a:xfrm>
          <a:prstGeom prst="rect">
            <a:avLst/>
          </a:prstGeom>
          <a:noFill/>
          <a:ln/>
        </p:spPr>
        <p:txBody>
          <a:bodyPr wrap="square" rtlCol="0" anchor="ctr"/>
          <a:lstStyle/>
          <a:p>
            <a:pPr indent="0" marL="0">
              <a:buNone/>
            </a:pPr>
            <a:r>
              <a:rPr lang="en-US" sz="1100" dirty="0">
                <a:solidFill>
                  <a:srgbClr val="38BDF8"/>
                </a:solidFill>
                <a:latin typeface="Calibri" pitchFamily="34" charset="0"/>
                <a:ea typeface="Calibri" pitchFamily="34" charset="-122"/>
                <a:cs typeface="Calibri" pitchFamily="34" charset="-120"/>
              </a:rPr>
              <a:t>https://zaintahir2025.github.io/traceback-ai/presentation.html</a:t>
            </a:r>
            <a:endParaRPr lang="en-US" sz="1100" dirty="0"/>
          </a:p>
        </p:txBody>
      </p:sp>
      <p:sp>
        <p:nvSpPr>
          <p:cNvPr id="32" name="Text 30"/>
          <p:cNvSpPr/>
          <p:nvPr/>
        </p:nvSpPr>
        <p:spPr>
          <a:xfrm>
            <a:off x="1005840" y="4910328"/>
            <a:ext cx="3200400"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2-Minute Demo Video Walkthrough:</a:t>
            </a:r>
            <a:endParaRPr lang="en-US" sz="1100" dirty="0"/>
          </a:p>
        </p:txBody>
      </p:sp>
      <p:sp>
        <p:nvSpPr>
          <p:cNvPr id="33" name="Text 31"/>
          <p:cNvSpPr/>
          <p:nvPr/>
        </p:nvSpPr>
        <p:spPr>
          <a:xfrm>
            <a:off x="4206240" y="4910328"/>
            <a:ext cx="6949440" cy="292608"/>
          </a:xfrm>
          <a:prstGeom prst="rect">
            <a:avLst/>
          </a:prstGeom>
          <a:noFill/>
          <a:ln/>
        </p:spPr>
        <p:txBody>
          <a:bodyPr wrap="square" rtlCol="0" anchor="ctr"/>
          <a:lstStyle/>
          <a:p>
            <a:pPr indent="0" marL="0">
              <a:buNone/>
            </a:pPr>
            <a:r>
              <a:rPr lang="en-US" sz="1100" dirty="0">
                <a:solidFill>
                  <a:srgbClr val="38BDF8"/>
                </a:solidFill>
                <a:latin typeface="Calibri" pitchFamily="34" charset="0"/>
                <a:ea typeface="Calibri" pitchFamily="34" charset="-122"/>
                <a:cs typeface="Calibri" pitchFamily="34" charset="-120"/>
              </a:rPr>
              <a:t>https://zaintahir2025.github.io/traceback-ai/demo-video.html</a:t>
            </a:r>
            <a:endParaRPr lang="en-US" sz="1100" dirty="0"/>
          </a:p>
        </p:txBody>
      </p:sp>
      <p:sp>
        <p:nvSpPr>
          <p:cNvPr id="34" name="Text 32"/>
          <p:cNvSpPr/>
          <p:nvPr/>
        </p:nvSpPr>
        <p:spPr>
          <a:xfrm>
            <a:off x="1005840" y="5239512"/>
            <a:ext cx="3200400"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Full Video MP4 Direct Download:</a:t>
            </a:r>
            <a:endParaRPr lang="en-US" sz="1100" dirty="0"/>
          </a:p>
        </p:txBody>
      </p:sp>
      <p:sp>
        <p:nvSpPr>
          <p:cNvPr id="35" name="Text 33"/>
          <p:cNvSpPr/>
          <p:nvPr/>
        </p:nvSpPr>
        <p:spPr>
          <a:xfrm>
            <a:off x="4206240" y="5239512"/>
            <a:ext cx="6949440" cy="292608"/>
          </a:xfrm>
          <a:prstGeom prst="rect">
            <a:avLst/>
          </a:prstGeom>
          <a:noFill/>
          <a:ln/>
        </p:spPr>
        <p:txBody>
          <a:bodyPr wrap="square" rtlCol="0" anchor="ctr"/>
          <a:lstStyle/>
          <a:p>
            <a:pPr indent="0" marL="0">
              <a:buNone/>
            </a:pPr>
            <a:r>
              <a:rPr lang="en-US" sz="1100" dirty="0">
                <a:solidFill>
                  <a:srgbClr val="38BDF8"/>
                </a:solidFill>
                <a:latin typeface="Calibri" pitchFamily="34" charset="0"/>
                <a:ea typeface="Calibri" pitchFamily="34" charset="-122"/>
                <a:cs typeface="Calibri" pitchFamily="34" charset="-120"/>
              </a:rPr>
              <a:t>https://zaintahir2025.github.io/traceback-ai/traceback-ai-demo.mp4</a:t>
            </a:r>
            <a:endParaRPr lang="en-US" sz="1100" dirty="0"/>
          </a:p>
        </p:txBody>
      </p:sp>
      <p:sp>
        <p:nvSpPr>
          <p:cNvPr id="36" name="Text 34"/>
          <p:cNvSpPr/>
          <p:nvPr/>
        </p:nvSpPr>
        <p:spPr>
          <a:xfrm>
            <a:off x="1005840" y="5568696"/>
            <a:ext cx="3200400" cy="292608"/>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GitHub Source Repository:</a:t>
            </a:r>
            <a:endParaRPr lang="en-US" sz="1100" dirty="0"/>
          </a:p>
        </p:txBody>
      </p:sp>
      <p:sp>
        <p:nvSpPr>
          <p:cNvPr id="37" name="Text 35"/>
          <p:cNvSpPr/>
          <p:nvPr/>
        </p:nvSpPr>
        <p:spPr>
          <a:xfrm>
            <a:off x="4206240" y="5568696"/>
            <a:ext cx="6949440" cy="292608"/>
          </a:xfrm>
          <a:prstGeom prst="rect">
            <a:avLst/>
          </a:prstGeom>
          <a:noFill/>
          <a:ln/>
        </p:spPr>
        <p:txBody>
          <a:bodyPr wrap="square" rtlCol="0" anchor="ctr"/>
          <a:lstStyle/>
          <a:p>
            <a:pPr indent="0" marL="0">
              <a:buNone/>
            </a:pPr>
            <a:r>
              <a:rPr lang="en-US" sz="1100" dirty="0">
                <a:solidFill>
                  <a:srgbClr val="38BDF8"/>
                </a:solidFill>
                <a:latin typeface="Calibri" pitchFamily="34" charset="0"/>
                <a:ea typeface="Calibri" pitchFamily="34" charset="-122"/>
                <a:cs typeface="Calibri" pitchFamily="34" charset="-120"/>
              </a:rPr>
              <a:t>https://github.com/zaintahir2025/traceback-ai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TraceBack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TraceBack AI — Executive Presentation Deck</dc:title>
  <dc:subject>Autonomous 4-Way Cross-Source Data Virtualization &amp; Spend Recovery Agent</dc:subject>
  <dc:creator>Zain Tahir</dc:creator>
  <cp:lastModifiedBy>Zain Tahir</cp:lastModifiedBy>
  <cp:revision>1</cp:revision>
  <dcterms:created xsi:type="dcterms:W3CDTF">2026-10-26T15:51:34Z</dcterms:created>
  <dcterms:modified xsi:type="dcterms:W3CDTF">2026-10-26T15:51:34Z</dcterms:modified>
</cp:coreProperties>
</file>