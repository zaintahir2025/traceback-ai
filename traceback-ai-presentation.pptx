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are presenting TraceBack AI, an autonomous multi-agent platform designed to eliminate enterprise procurement spend leakage. By combining Zetaris Zero-ETL Data Virtualization, Meterless Relay Orchestration, and Meterless Nightshift local intelligence, TraceBack AI reconciles purchase orders, delivery notes, supplier invoices, and legal contracts in under 200 milliseconds with an immutable, cell-level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mission is simple: transform procurement auditing from a slow, sample-based, manual retrospective into a real-time, 100% census spend defense system. Traditional systems fail because data is siloed across ERP, warehouse, accounts payable, and legal contracts. TraceBack AI connects these systems virtually, analyzes discrepancies deterministically, and prepares ready-to-send dispute claims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master roadmap for our presentation. We will walk through five clear sections: first, the enterprise procurement problem; second, the four key personas who benefit; third, our autonomous reconciliation solution with live benchmark data; fourth, our four-tier architecture and governance model; and fifth, deep integration with our sponsor technologies: Zetaris, Meterless Engine, and Meterless Nightshift.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focuses on the Problem. We examine why modern enterprise finance departments fail to catch invoice overpayments. With fourteen trillion dollars in annual business-to-business commerce, the sheer volume overwhelms accounts payable teams. Data lives in disconnected silos, and legacy matching tools leave gaping blind spots.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this in perspective: Global B2B spend exceeds fourteen trillion dollars. Leading industry research from Gartner and APQC shows that enterprises lose up to four percent of addressable spend to uncaptured discrepancies. For a company spending five hundred million dollars annually, that represents twenty million dollars in pure cash leakage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exactly does this money leak? Our taxonomy identifies four distinct vectors: Forty-five percent is quantity overbilling, where vendors bill the purchase order quantity rather than the dock receipt quantity. Thirty percent is contract rate escalation, where prices quietly drift above contract caps. Fifteen percent is phantom fees. And ten percent is duplicate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spend leak so reliably? Because enterprise data is trapped in four distinct architectural silos. Silo A: SAP ERP holds purchase orders. Silo B: Warehouse WMS holds receiving logs. Silo C: Accounts Payable holds incoming vendor invoices. Silo D: Legal holds master contract rate schedules. None of these four systems communicate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ERP matching is fundamentally broken. Two-way matching checks only the PO and invoice, paying for phantom goods that never arrived. Three-way matching adds the dock receipt, but completely ignores contract price schedules! If the vendor bills fifty dollars instead of the contracted forty-eight, standard three-way matching approves the invoice. Only TraceBack AI executes true four-way cross-source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our Users and Stakeholders. TraceBack AI serves four key personas across the enterprise: the Chief Procurement Officer who negotiates contracts, the Lead Financial Auditor who guarantees governance, the Accounts Payable Controller who disburses cash, and the Warehouse Dock Manager who physically receives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TraceBack AI serves the complete enterprise financial hierarchy. The CPO gains contract compliance. The Financial Auditor gains a bulletproof audit trail. The AP Controller eliminates manual verification backlogs. And the Supply Chain VP ensures that warehouse receiving dock records govern financial disbursements.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Chief Procurement Officer, TraceBack AI ensures that every negotiated dollar actually reaches the bottom line. It stops supplier price creep and provides factual vendor scorecards based on real reconciliation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Financial Auditors and Controllers, TraceBack AI provides the gold standard of audit defensibility: zero hallucination. Every claim cites the exact file, row, and column. It replaces random sampling with a 100% census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Accounts Payable, TraceBack AI eliminates the manual grind of tracking down delivery tickets. For Warehouse managers, it ensures that when they log damaged or short goods on the receiving dock, finance actually protects company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presents the Solution. TraceBack AI introduces an autonomous reconciliation agent powered by Zero-ETL data virtualization and local AI reasoning. Let us walk through the architecture and a live audit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capability stack of TraceBack AI. It unifies four critical innovations: Zero-ETL data virtualization via Zetaris, deterministic four-way matching algorithms, cell-level evidence indexing, and human-in-the-loop dispute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examine benchmark Purchase Order PO-1001. The supplier invoiced six thousand dollars. But when TraceBack AI executes four-way cross-source reconciliation in one hundred eighty-four milliseconds, it exposes two distinct overcharges totaling twelve hundred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exact mathematical breakdown of PO-1001. Discrepancy One is quantity overbilling: the vendor billed for twenty units that warehouse note DN-045 confirms were never received. Discrepancy Two is contract rate creep: the vendor charged fifty dollars instead of the contracted forty-eight dollar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is everything in financial systems. If an AI agent flags false alarms, auditors will turn it off. On benchmark order PO-1002, where the order, delivery, invoice, and contract all match perfectly, TraceBack AI returns exactly zero overcharge with one hundred percent concordance.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details our System Architecture. We examine the four-tier architectural pipeline, our five-stage Meterless mission workflow, cell-level coordinate indexing, and human-in-the-loop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architecture is structured in four high-performance tiers. Tier 1 is Data Virtualization powered by Zetaris. Tier 2 is Multi-Agent Orchestration powered by Meterless. Tier 3 is the Evidence Index that locks down immutable coordinates. And Tier 4 is our interactive React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audit executes as a five-stage Meterless mission pipeline. Stage 1 is Scout Intent parsing. Stage 2 is Relay Zetaris querying. Stage 3 is algorithmic reconciliation. Stage 4 is confidence scoring. And Stage 5 is Meterless Nightshift local reasoning. The entire cycle finishes in 184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 defensibility is what separates TraceBack AI from toy LLM wrappers. When an enterprise auditor challenges a vendor, they cannot quote an AI summary. They need the exact row, column, and file coordinates. Our Evidence Provenance Index guarantees 100% citation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Crucially, TraceBack AI keeps a human in the loop. The AI discovers and documents the leakages, but the human auditor endorses the claim. With one click, the system synthesizes a professional supplier dispute notice citing every dock note and contract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details our deep integration with Sponsor Technologies. We demonstrate how Zetaris Data Virtualization, Meterless Engine orchestration, and Meterless Nightshift AI make this platform lightning fast, private, and cost-effective.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is the foundation of our data tier. Instead of copying sensitive financial data across ETL pipelines, Zetaris queries data where it lives. Federated joins execute across four disparate datasets in just twelve milliseconds with zero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agent orchestration, we leverage the Meterless Engine. Scout extracts audit intent. Relay coordinates tool execution and data queries. And Gaia H-MEM provides hierarchical memory so multi-turn audit investigations maintain state seamlessly.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AI provider is Meterless Nightshift. Nightshift executes a four-stage local reasoning cycle: Race, Judge, Verify, and Generate. Because it runs locally, it incurs zero cloud token costs, avoids vendor API rate limits, and produces cryptographically verifiable audit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TraceBack AI demonstrates that autonomous agents, when grounded in Zero-ETL Data Virtualization and local intelligence, solve real multi-million dollar enterprise problems. Everything shown today is live, verifiable, and open-source. Thank you very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312E81"/>
            </a:solidFill>
            <a:prstDash val="solid"/>
          </a:ln>
        </p:spPr>
      </p:sp>
      <p:sp>
        <p:nvSpPr>
          <p:cNvPr id="3" name="Shape 1"/>
          <p:cNvSpPr/>
          <p:nvPr/>
        </p:nvSpPr>
        <p:spPr>
          <a:xfrm>
            <a:off x="1188720" y="1188720"/>
            <a:ext cx="3200400" cy="329184"/>
          </a:xfrm>
          <a:prstGeom prst="roundRect">
            <a:avLst>
              <a:gd name="adj" fmla="val 50000"/>
            </a:avLst>
          </a:prstGeom>
          <a:solidFill>
            <a:srgbClr val="1E1B4B"/>
          </a:solidFill>
          <a:ln w="19050">
            <a:solidFill>
              <a:srgbClr val="6366F1"/>
            </a:solidFill>
            <a:prstDash val="solid"/>
          </a:ln>
        </p:spPr>
      </p:sp>
      <p:sp>
        <p:nvSpPr>
          <p:cNvPr id="4" name="Text 2"/>
          <p:cNvSpPr/>
          <p:nvPr/>
        </p:nvSpPr>
        <p:spPr>
          <a:xfrm>
            <a:off x="1188720" y="1188720"/>
            <a:ext cx="3200400" cy="329184"/>
          </a:xfrm>
          <a:prstGeom prst="rect">
            <a:avLst/>
          </a:prstGeom>
          <a:noFill/>
          <a:ln/>
        </p:spPr>
        <p:txBody>
          <a:bodyPr wrap="square" rtlCol="0" anchor="ctr"/>
          <a:lstStyle/>
          <a:p>
            <a:pPr algn="ctr" indent="0" marL="0">
              <a:buNone/>
            </a:pPr>
            <a:r>
              <a:rPr lang="en-US" sz="1100" b="1" dirty="0">
                <a:solidFill>
                  <a:srgbClr val="C7D2FE"/>
                </a:solidFill>
                <a:latin typeface="Calibri" pitchFamily="34" charset="0"/>
                <a:ea typeface="Calibri" pitchFamily="34" charset="-122"/>
                <a:cs typeface="Calibri" pitchFamily="34" charset="-120"/>
              </a:rPr>
              <a:t>GLOBAL AI HACKATHON 2026</a:t>
            </a:r>
            <a:endParaRPr lang="en-US" sz="1100" dirty="0"/>
          </a:p>
        </p:txBody>
      </p:sp>
      <p:sp>
        <p:nvSpPr>
          <p:cNvPr id="5" name="Text 3"/>
          <p:cNvSpPr/>
          <p:nvPr/>
        </p:nvSpPr>
        <p:spPr>
          <a:xfrm>
            <a:off x="1188720" y="1691640"/>
            <a:ext cx="9601200" cy="868680"/>
          </a:xfrm>
          <a:prstGeom prst="rect">
            <a:avLst/>
          </a:prstGeom>
          <a:noFill/>
          <a:ln/>
        </p:spPr>
        <p:txBody>
          <a:bodyPr wrap="square"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TraceBack AI</a:t>
            </a:r>
            <a:endParaRPr lang="en-US" sz="4600" dirty="0"/>
          </a:p>
        </p:txBody>
      </p:sp>
      <p:sp>
        <p:nvSpPr>
          <p:cNvPr id="6" name="Text 4"/>
          <p:cNvSpPr/>
          <p:nvPr/>
        </p:nvSpPr>
        <p:spPr>
          <a:xfrm>
            <a:off x="1188720" y="2560320"/>
            <a:ext cx="9601200" cy="411480"/>
          </a:xfrm>
          <a:prstGeom prst="rect">
            <a:avLst/>
          </a:prstGeom>
          <a:noFill/>
          <a:ln/>
        </p:spPr>
        <p:txBody>
          <a:bodyPr wrap="square" rtlCol="0" anchor="t"/>
          <a:lstStyle/>
          <a:p>
            <a:pPr indent="0" marL="0">
              <a:buNone/>
            </a:pPr>
            <a:r>
              <a:rPr lang="en-US" sz="1700" b="1" dirty="0">
                <a:solidFill>
                  <a:srgbClr val="38BDF8"/>
                </a:solidFill>
                <a:latin typeface="Calibri" pitchFamily="34" charset="0"/>
                <a:ea typeface="Calibri" pitchFamily="34" charset="-122"/>
                <a:cs typeface="Calibri" pitchFamily="34" charset="-120"/>
              </a:rPr>
              <a:t>Autonomous 4-Way Cross-Source Data Virtualization &amp; Spend Recovery Agent</a:t>
            </a:r>
            <a:endParaRPr lang="en-US" sz="1700" dirty="0"/>
          </a:p>
        </p:txBody>
      </p:sp>
      <p:sp>
        <p:nvSpPr>
          <p:cNvPr id="7" name="Text 5"/>
          <p:cNvSpPr/>
          <p:nvPr/>
        </p:nvSpPr>
        <p:spPr>
          <a:xfrm>
            <a:off x="1188720" y="3017520"/>
            <a:ext cx="9601200" cy="594360"/>
          </a:xfrm>
          <a:prstGeom prst="rect">
            <a:avLst/>
          </a:prstGeom>
          <a:noFill/>
          <a:ln/>
        </p:spPr>
        <p:txBody>
          <a:bodyPr wrap="square" rtlCol="0" anchor="t"/>
          <a:lstStyle/>
          <a:p>
            <a:pPr indent="0" marL="0">
              <a:buNone/>
            </a:pPr>
            <a:r>
              <a:rPr lang="en-US" sz="1350" dirty="0">
                <a:solidFill>
                  <a:srgbClr val="CBD5E1"/>
                </a:solidFill>
                <a:latin typeface="Calibri" pitchFamily="34" charset="0"/>
                <a:ea typeface="Calibri" pitchFamily="34" charset="-122"/>
                <a:cs typeface="Calibri" pitchFamily="34" charset="-120"/>
              </a:rPr>
              <a:t>Unifying ERP purchase orders, warehouse delivery notes, AP invoices, and master contracts with Zero-ETL virtualization, cell-level audit defensibility, and $0.00 local AI execution.</a:t>
            </a:r>
            <a:endParaRPr lang="en-US" sz="1350" dirty="0"/>
          </a:p>
        </p:txBody>
      </p:sp>
      <p:sp>
        <p:nvSpPr>
          <p:cNvPr id="8" name="Shape 6"/>
          <p:cNvSpPr/>
          <p:nvPr/>
        </p:nvSpPr>
        <p:spPr>
          <a:xfrm>
            <a:off x="1188720" y="3886200"/>
            <a:ext cx="3108960" cy="1234440"/>
          </a:xfrm>
          <a:prstGeom prst="roundRect">
            <a:avLst>
              <a:gd name="adj" fmla="val 11111"/>
            </a:avLst>
          </a:prstGeom>
          <a:solidFill>
            <a:srgbClr val="082F49"/>
          </a:solidFill>
          <a:ln w="19050">
            <a:solidFill>
              <a:srgbClr val="38BDF8"/>
            </a:solidFill>
            <a:prstDash val="solid"/>
          </a:ln>
        </p:spPr>
      </p:sp>
      <p:sp>
        <p:nvSpPr>
          <p:cNvPr id="9" name="Text 7"/>
          <p:cNvSpPr/>
          <p:nvPr/>
        </p:nvSpPr>
        <p:spPr>
          <a:xfrm>
            <a:off x="1325880" y="4023360"/>
            <a:ext cx="2834640" cy="274320"/>
          </a:xfrm>
          <a:prstGeom prst="rect">
            <a:avLst/>
          </a:prstGeom>
          <a:noFill/>
          <a:ln/>
        </p:spPr>
        <p:txBody>
          <a:bodyPr wrap="square" rtlCol="0" anchor="t"/>
          <a:lstStyle/>
          <a:p>
            <a:pPr indent="0" marL="0">
              <a:buNone/>
            </a:pPr>
            <a:r>
              <a:rPr lang="en-US" sz="1050" b="1" dirty="0">
                <a:solidFill>
                  <a:srgbClr val="38BDF8"/>
                </a:solidFill>
                <a:latin typeface="Calibri" pitchFamily="34" charset="0"/>
                <a:ea typeface="Calibri" pitchFamily="34" charset="-122"/>
                <a:cs typeface="Calibri" pitchFamily="34" charset="-120"/>
              </a:rPr>
              <a:t>ZETARIS VIRTUALIZATION</a:t>
            </a:r>
            <a:endParaRPr lang="en-US" sz="1050" dirty="0"/>
          </a:p>
        </p:txBody>
      </p:sp>
      <p:sp>
        <p:nvSpPr>
          <p:cNvPr id="10" name="Text 8"/>
          <p:cNvSpPr/>
          <p:nvPr/>
        </p:nvSpPr>
        <p:spPr>
          <a:xfrm>
            <a:off x="1325880" y="4343400"/>
            <a:ext cx="283464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Zero-ETL federated queries across 4 enterprise datasets in 12ms</a:t>
            </a:r>
            <a:endParaRPr lang="en-US" sz="1050" dirty="0"/>
          </a:p>
        </p:txBody>
      </p:sp>
      <p:sp>
        <p:nvSpPr>
          <p:cNvPr id="11" name="Shape 9"/>
          <p:cNvSpPr/>
          <p:nvPr/>
        </p:nvSpPr>
        <p:spPr>
          <a:xfrm>
            <a:off x="4526280" y="3886200"/>
            <a:ext cx="3108960" cy="1234440"/>
          </a:xfrm>
          <a:prstGeom prst="roundRect">
            <a:avLst>
              <a:gd name="adj" fmla="val 11111"/>
            </a:avLst>
          </a:prstGeom>
          <a:solidFill>
            <a:srgbClr val="064E3B"/>
          </a:solidFill>
          <a:ln w="19050">
            <a:solidFill>
              <a:srgbClr val="10B981"/>
            </a:solidFill>
            <a:prstDash val="solid"/>
          </a:ln>
        </p:spPr>
      </p:sp>
      <p:sp>
        <p:nvSpPr>
          <p:cNvPr id="12" name="Text 10"/>
          <p:cNvSpPr/>
          <p:nvPr/>
        </p:nvSpPr>
        <p:spPr>
          <a:xfrm>
            <a:off x="4663440" y="4023360"/>
            <a:ext cx="2834640" cy="274320"/>
          </a:xfrm>
          <a:prstGeom prst="rect">
            <a:avLst/>
          </a:prstGeom>
          <a:noFill/>
          <a:ln/>
        </p:spPr>
        <p:txBody>
          <a:bodyPr wrap="square" rtlCol="0" anchor="t"/>
          <a:lstStyle/>
          <a:p>
            <a:pPr indent="0" marL="0">
              <a:buNone/>
            </a:pPr>
            <a:r>
              <a:rPr lang="en-US" sz="1050" b="1" dirty="0">
                <a:solidFill>
                  <a:srgbClr val="10B981"/>
                </a:solidFill>
                <a:latin typeface="Calibri" pitchFamily="34" charset="0"/>
                <a:ea typeface="Calibri" pitchFamily="34" charset="-122"/>
                <a:cs typeface="Calibri" pitchFamily="34" charset="-120"/>
              </a:rPr>
              <a:t>METERLESS RELAY &amp; H-MEM</a:t>
            </a:r>
            <a:endParaRPr lang="en-US" sz="1050" dirty="0"/>
          </a:p>
        </p:txBody>
      </p:sp>
      <p:sp>
        <p:nvSpPr>
          <p:cNvPr id="13" name="Text 11"/>
          <p:cNvSpPr/>
          <p:nvPr/>
        </p:nvSpPr>
        <p:spPr>
          <a:xfrm>
            <a:off x="4663440" y="4343400"/>
            <a:ext cx="283464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Scout intent, relay coordination, and persistent Gaia working memory</a:t>
            </a:r>
            <a:endParaRPr lang="en-US" sz="1050" dirty="0"/>
          </a:p>
        </p:txBody>
      </p:sp>
      <p:sp>
        <p:nvSpPr>
          <p:cNvPr id="14" name="Shape 12"/>
          <p:cNvSpPr/>
          <p:nvPr/>
        </p:nvSpPr>
        <p:spPr>
          <a:xfrm>
            <a:off x="7863840" y="3886200"/>
            <a:ext cx="3108960" cy="1234440"/>
          </a:xfrm>
          <a:prstGeom prst="roundRect">
            <a:avLst>
              <a:gd name="adj" fmla="val 11111"/>
            </a:avLst>
          </a:prstGeom>
          <a:solidFill>
            <a:srgbClr val="2E1065"/>
          </a:solidFill>
          <a:ln w="19050">
            <a:solidFill>
              <a:srgbClr val="A855F7"/>
            </a:solidFill>
            <a:prstDash val="solid"/>
          </a:ln>
        </p:spPr>
      </p:sp>
      <p:sp>
        <p:nvSpPr>
          <p:cNvPr id="15" name="Text 13"/>
          <p:cNvSpPr/>
          <p:nvPr/>
        </p:nvSpPr>
        <p:spPr>
          <a:xfrm>
            <a:off x="8001000" y="4023360"/>
            <a:ext cx="2834640" cy="274320"/>
          </a:xfrm>
          <a:prstGeom prst="rect">
            <a:avLst/>
          </a:prstGeom>
          <a:noFill/>
          <a:ln/>
        </p:spPr>
        <p:txBody>
          <a:bodyPr wrap="square" rtlCol="0" anchor="t"/>
          <a:lstStyle/>
          <a:p>
            <a:pPr indent="0" marL="0">
              <a:buNone/>
            </a:pPr>
            <a:r>
              <a:rPr lang="en-US" sz="1050" b="1" dirty="0">
                <a:solidFill>
                  <a:srgbClr val="A855F7"/>
                </a:solidFill>
                <a:latin typeface="Calibri" pitchFamily="34" charset="0"/>
                <a:ea typeface="Calibri" pitchFamily="34" charset="-122"/>
                <a:cs typeface="Calibri" pitchFamily="34" charset="-120"/>
              </a:rPr>
              <a:t>NIGHTSHIFT AI PROVIDER</a:t>
            </a:r>
            <a:endParaRPr lang="en-US" sz="1050" dirty="0"/>
          </a:p>
        </p:txBody>
      </p:sp>
      <p:sp>
        <p:nvSpPr>
          <p:cNvPr id="16" name="Text 14"/>
          <p:cNvSpPr/>
          <p:nvPr/>
        </p:nvSpPr>
        <p:spPr>
          <a:xfrm>
            <a:off x="8001000" y="4343400"/>
            <a:ext cx="283464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4-stage Race/Judge/Verify/Generate cycle at $0 cloud token cost</a:t>
            </a:r>
            <a:endParaRPr lang="en-US" sz="1050" dirty="0"/>
          </a:p>
        </p:txBody>
      </p:sp>
      <p:sp>
        <p:nvSpPr>
          <p:cNvPr id="17" name="Text 15"/>
          <p:cNvSpPr/>
          <p:nvPr/>
        </p:nvSpPr>
        <p:spPr>
          <a:xfrm>
            <a:off x="1188720" y="5486400"/>
            <a:ext cx="9601200" cy="274320"/>
          </a:xfrm>
          <a:prstGeom prst="rect">
            <a:avLst/>
          </a:prstGeom>
          <a:noFill/>
          <a:ln/>
        </p:spPr>
        <p:txBody>
          <a:bodyPr wrap="square" rtlCol="0" anchor="t"/>
          <a:lstStyle/>
          <a:p>
            <a:pPr indent="0" marL="0">
              <a:buNone/>
            </a:pPr>
            <a:r>
              <a:rPr lang="en-US" sz="1000" dirty="0">
                <a:solidFill>
                  <a:srgbClr val="94A3B8"/>
                </a:solidFill>
                <a:latin typeface="Calibri" pitchFamily="34" charset="0"/>
                <a:ea typeface="Calibri" pitchFamily="34" charset="-122"/>
                <a:cs typeface="Calibri" pitchFamily="34" charset="-120"/>
              </a:rPr>
              <a:t>Live Deployment: https://zaintahir2025.github.io/traceback-ai/   |   Lead Developer: Zain Tahir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EXECUTIVE BRIEF</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Mission &amp; Core Value Proposition</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Eliminating enterprise procurement leakage through autonomous cross-source data virtualization.</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19050">
            <a:solidFill>
              <a:srgbClr val="1E293B"/>
            </a:solidFill>
            <a:prstDash val="solid"/>
          </a:ln>
        </p:spPr>
      </p:sp>
      <p:sp>
        <p:nvSpPr>
          <p:cNvPr id="13" name="Shape 11"/>
          <p:cNvSpPr/>
          <p:nvPr/>
        </p:nvSpPr>
        <p:spPr>
          <a:xfrm>
            <a:off x="1005840" y="1920240"/>
            <a:ext cx="4937760" cy="1874520"/>
          </a:xfrm>
          <a:prstGeom prst="roundRect">
            <a:avLst>
              <a:gd name="adj" fmla="val 4878"/>
            </a:avLst>
          </a:prstGeom>
          <a:solidFill>
            <a:srgbClr val="0F172A"/>
          </a:solidFill>
          <a:ln w="12700">
            <a:solidFill>
              <a:srgbClr val="F43F5E"/>
            </a:solidFill>
            <a:prstDash val="solid"/>
          </a:ln>
        </p:spPr>
      </p:sp>
      <p:sp>
        <p:nvSpPr>
          <p:cNvPr id="14" name="Text 12"/>
          <p:cNvSpPr/>
          <p:nvPr/>
        </p:nvSpPr>
        <p:spPr>
          <a:xfrm>
            <a:off x="1188720" y="2057400"/>
            <a:ext cx="731520" cy="320040"/>
          </a:xfrm>
          <a:prstGeom prst="rect">
            <a:avLst/>
          </a:prstGeom>
          <a:noFill/>
          <a:ln/>
        </p:spPr>
        <p:txBody>
          <a:bodyPr wrap="square" rtlCol="0" anchor="t"/>
          <a:lstStyle/>
          <a:p>
            <a:pPr indent="0" marL="0">
              <a:buNone/>
            </a:pPr>
            <a:r>
              <a:rPr lang="en-US" sz="1600" b="1" dirty="0">
                <a:solidFill>
                  <a:srgbClr val="F43F5E"/>
                </a:solidFill>
                <a:latin typeface="Calibri" pitchFamily="34" charset="0"/>
                <a:ea typeface="Calibri" pitchFamily="34" charset="-122"/>
                <a:cs typeface="Calibri" pitchFamily="34" charset="-120"/>
              </a:rPr>
              <a:t>01</a:t>
            </a:r>
            <a:endParaRPr lang="en-US" sz="1600" dirty="0"/>
          </a:p>
        </p:txBody>
      </p:sp>
      <p:sp>
        <p:nvSpPr>
          <p:cNvPr id="15" name="Text 13"/>
          <p:cNvSpPr/>
          <p:nvPr/>
        </p:nvSpPr>
        <p:spPr>
          <a:xfrm>
            <a:off x="1920240" y="2057400"/>
            <a:ext cx="38404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The Industry Imperative</a:t>
            </a:r>
            <a:endParaRPr lang="en-US" sz="1400" dirty="0"/>
          </a:p>
        </p:txBody>
      </p:sp>
      <p:sp>
        <p:nvSpPr>
          <p:cNvPr id="16" name="Text 14"/>
          <p:cNvSpPr/>
          <p:nvPr/>
        </p:nvSpPr>
        <p:spPr>
          <a:xfrm>
            <a:off x="1188720" y="2423160"/>
            <a:ext cx="4572000" cy="123444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Fortune 500 enterprises lose 1.5% to 4.0% of their total procurement spend to uncaptured invoice discrepancies, quantity mismatches, and contract rate creep.</a:t>
            </a:r>
            <a:endParaRPr lang="en-US" sz="1100" dirty="0"/>
          </a:p>
        </p:txBody>
      </p:sp>
      <p:sp>
        <p:nvSpPr>
          <p:cNvPr id="17" name="Shape 15"/>
          <p:cNvSpPr/>
          <p:nvPr/>
        </p:nvSpPr>
        <p:spPr>
          <a:xfrm>
            <a:off x="6172200" y="1920240"/>
            <a:ext cx="4937760" cy="1874520"/>
          </a:xfrm>
          <a:prstGeom prst="roundRect">
            <a:avLst>
              <a:gd name="adj" fmla="val 4878"/>
            </a:avLst>
          </a:prstGeom>
          <a:solidFill>
            <a:srgbClr val="0F172A"/>
          </a:solidFill>
          <a:ln w="12700">
            <a:solidFill>
              <a:srgbClr val="38BDF8"/>
            </a:solidFill>
            <a:prstDash val="solid"/>
          </a:ln>
        </p:spPr>
      </p:sp>
      <p:sp>
        <p:nvSpPr>
          <p:cNvPr id="18" name="Text 16"/>
          <p:cNvSpPr/>
          <p:nvPr/>
        </p:nvSpPr>
        <p:spPr>
          <a:xfrm>
            <a:off x="6355080" y="2057400"/>
            <a:ext cx="731520" cy="320040"/>
          </a:xfrm>
          <a:prstGeom prst="rect">
            <a:avLst/>
          </a:prstGeom>
          <a:noFill/>
          <a:ln/>
        </p:spPr>
        <p:txBody>
          <a:bodyPr wrap="square" rtlCol="0" anchor="t"/>
          <a:lstStyle/>
          <a:p>
            <a:pPr indent="0" marL="0">
              <a:buNone/>
            </a:pPr>
            <a:r>
              <a:rPr lang="en-US" sz="1600" b="1" dirty="0">
                <a:solidFill>
                  <a:srgbClr val="38BDF8"/>
                </a:solidFill>
                <a:latin typeface="Calibri" pitchFamily="34" charset="0"/>
                <a:ea typeface="Calibri" pitchFamily="34" charset="-122"/>
                <a:cs typeface="Calibri" pitchFamily="34" charset="-120"/>
              </a:rPr>
              <a:t>02</a:t>
            </a:r>
            <a:endParaRPr lang="en-US" sz="1600" dirty="0"/>
          </a:p>
        </p:txBody>
      </p:sp>
      <p:sp>
        <p:nvSpPr>
          <p:cNvPr id="19" name="Text 17"/>
          <p:cNvSpPr/>
          <p:nvPr/>
        </p:nvSpPr>
        <p:spPr>
          <a:xfrm>
            <a:off x="7086600" y="2057400"/>
            <a:ext cx="38404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The Architectural Breakthrough</a:t>
            </a:r>
            <a:endParaRPr lang="en-US" sz="1400" dirty="0"/>
          </a:p>
        </p:txBody>
      </p:sp>
      <p:sp>
        <p:nvSpPr>
          <p:cNvPr id="20" name="Text 18"/>
          <p:cNvSpPr/>
          <p:nvPr/>
        </p:nvSpPr>
        <p:spPr>
          <a:xfrm>
            <a:off x="6355080" y="2423160"/>
            <a:ext cx="4572000" cy="123444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Instead of building expensive, slow ETL data pipelines, TraceBack AI employs Zetaris Data Virtualization to query live enterprise datasets in place with zero data movement.</a:t>
            </a:r>
            <a:endParaRPr lang="en-US" sz="1100" dirty="0"/>
          </a:p>
        </p:txBody>
      </p:sp>
      <p:sp>
        <p:nvSpPr>
          <p:cNvPr id="21" name="Shape 19"/>
          <p:cNvSpPr/>
          <p:nvPr/>
        </p:nvSpPr>
        <p:spPr>
          <a:xfrm>
            <a:off x="1005840" y="3977640"/>
            <a:ext cx="4937760" cy="1874520"/>
          </a:xfrm>
          <a:prstGeom prst="roundRect">
            <a:avLst>
              <a:gd name="adj" fmla="val 4878"/>
            </a:avLst>
          </a:prstGeom>
          <a:solidFill>
            <a:srgbClr val="0F172A"/>
          </a:solidFill>
          <a:ln w="12700">
            <a:solidFill>
              <a:srgbClr val="10B981"/>
            </a:solidFill>
            <a:prstDash val="solid"/>
          </a:ln>
        </p:spPr>
      </p:sp>
      <p:sp>
        <p:nvSpPr>
          <p:cNvPr id="22" name="Text 20"/>
          <p:cNvSpPr/>
          <p:nvPr/>
        </p:nvSpPr>
        <p:spPr>
          <a:xfrm>
            <a:off x="1188720" y="4114800"/>
            <a:ext cx="731520" cy="320040"/>
          </a:xfrm>
          <a:prstGeom prst="rect">
            <a:avLst/>
          </a:prstGeom>
          <a:noFill/>
          <a:ln/>
        </p:spPr>
        <p:txBody>
          <a:bodyPr wrap="square"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03</a:t>
            </a:r>
            <a:endParaRPr lang="en-US" sz="1600" dirty="0"/>
          </a:p>
        </p:txBody>
      </p:sp>
      <p:sp>
        <p:nvSpPr>
          <p:cNvPr id="23" name="Text 21"/>
          <p:cNvSpPr/>
          <p:nvPr/>
        </p:nvSpPr>
        <p:spPr>
          <a:xfrm>
            <a:off x="1920240" y="4114800"/>
            <a:ext cx="38404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Autonomous Multi-Agent Audit</a:t>
            </a:r>
            <a:endParaRPr lang="en-US" sz="1400" dirty="0"/>
          </a:p>
        </p:txBody>
      </p:sp>
      <p:sp>
        <p:nvSpPr>
          <p:cNvPr id="24" name="Text 22"/>
          <p:cNvSpPr/>
          <p:nvPr/>
        </p:nvSpPr>
        <p:spPr>
          <a:xfrm>
            <a:off x="1188720" y="4480560"/>
            <a:ext cx="4572000" cy="123444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Meterless Engine orchestrates Scout Intent and Relay tools, while Meterless Nightshift provides local reasoning at $0.00 cloud token cost with cryptographic receipts.</a:t>
            </a:r>
            <a:endParaRPr lang="en-US" sz="1100" dirty="0"/>
          </a:p>
        </p:txBody>
      </p:sp>
      <p:sp>
        <p:nvSpPr>
          <p:cNvPr id="25" name="Shape 23"/>
          <p:cNvSpPr/>
          <p:nvPr/>
        </p:nvSpPr>
        <p:spPr>
          <a:xfrm>
            <a:off x="6172200" y="3977640"/>
            <a:ext cx="4937760" cy="1874520"/>
          </a:xfrm>
          <a:prstGeom prst="roundRect">
            <a:avLst>
              <a:gd name="adj" fmla="val 4878"/>
            </a:avLst>
          </a:prstGeom>
          <a:solidFill>
            <a:srgbClr val="0F172A"/>
          </a:solidFill>
          <a:ln w="12700">
            <a:solidFill>
              <a:srgbClr val="A855F7"/>
            </a:solidFill>
            <a:prstDash val="solid"/>
          </a:ln>
        </p:spPr>
      </p:sp>
      <p:sp>
        <p:nvSpPr>
          <p:cNvPr id="26" name="Text 24"/>
          <p:cNvSpPr/>
          <p:nvPr/>
        </p:nvSpPr>
        <p:spPr>
          <a:xfrm>
            <a:off x="6355080" y="4114800"/>
            <a:ext cx="731520" cy="320040"/>
          </a:xfrm>
          <a:prstGeom prst="rect">
            <a:avLst/>
          </a:prstGeom>
          <a:noFill/>
          <a:ln/>
        </p:spPr>
        <p:txBody>
          <a:bodyPr wrap="square" rtlCol="0" anchor="t"/>
          <a:lstStyle/>
          <a:p>
            <a:pPr indent="0" marL="0">
              <a:buNone/>
            </a:pPr>
            <a:r>
              <a:rPr lang="en-US" sz="1600" b="1" dirty="0">
                <a:solidFill>
                  <a:srgbClr val="A855F7"/>
                </a:solidFill>
                <a:latin typeface="Calibri" pitchFamily="34" charset="0"/>
                <a:ea typeface="Calibri" pitchFamily="34" charset="-122"/>
                <a:cs typeface="Calibri" pitchFamily="34" charset="-120"/>
              </a:rPr>
              <a:t>04</a:t>
            </a:r>
            <a:endParaRPr lang="en-US" sz="1600" dirty="0"/>
          </a:p>
        </p:txBody>
      </p:sp>
      <p:sp>
        <p:nvSpPr>
          <p:cNvPr id="27" name="Text 25"/>
          <p:cNvSpPr/>
          <p:nvPr/>
        </p:nvSpPr>
        <p:spPr>
          <a:xfrm>
            <a:off x="7086600" y="4114800"/>
            <a:ext cx="38404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Human Governance &amp; Action</a:t>
            </a:r>
            <a:endParaRPr lang="en-US" sz="1400" dirty="0"/>
          </a:p>
        </p:txBody>
      </p:sp>
      <p:sp>
        <p:nvSpPr>
          <p:cNvPr id="28" name="Text 26"/>
          <p:cNvSpPr/>
          <p:nvPr/>
        </p:nvSpPr>
        <p:spPr>
          <a:xfrm>
            <a:off x="6355080" y="4480560"/>
            <a:ext cx="4572000" cy="123444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Lead auditors retain 1-click claim approval authority, generating automated supplier dispute notices citing exact contract clauses and delivery notes.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DECK STRUCTURE</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Presentation Agenda: 5 Strategic Dimensions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Comprehensive roadmap covering problem, users, solution, architecture, and sponsor tech.</a:t>
            </a:r>
            <a:endParaRPr lang="en-US" sz="1250" dirty="0"/>
          </a:p>
        </p:txBody>
      </p:sp>
      <p:sp>
        <p:nvSpPr>
          <p:cNvPr id="12" name="Shape 10"/>
          <p:cNvSpPr/>
          <p:nvPr/>
        </p:nvSpPr>
        <p:spPr>
          <a:xfrm>
            <a:off x="731520" y="1691640"/>
            <a:ext cx="10725912" cy="804672"/>
          </a:xfrm>
          <a:prstGeom prst="roundRect">
            <a:avLst>
              <a:gd name="adj" fmla="val 11364"/>
            </a:avLst>
          </a:prstGeom>
          <a:solidFill>
            <a:srgbClr val="0B1120"/>
          </a:solidFill>
          <a:ln w="19050">
            <a:solidFill>
              <a:srgbClr val="F43F5E"/>
            </a:solidFill>
            <a:prstDash val="solid"/>
          </a:ln>
        </p:spPr>
      </p:sp>
      <p:sp>
        <p:nvSpPr>
          <p:cNvPr id="13" name="Text 11"/>
          <p:cNvSpPr/>
          <p:nvPr/>
        </p:nvSpPr>
        <p:spPr>
          <a:xfrm>
            <a:off x="1005840" y="1828800"/>
            <a:ext cx="822960" cy="411480"/>
          </a:xfrm>
          <a:prstGeom prst="rect">
            <a:avLst/>
          </a:prstGeom>
          <a:noFill/>
          <a:ln/>
        </p:spPr>
        <p:txBody>
          <a:bodyPr wrap="square" rtlCol="0" anchor="t"/>
          <a:lstStyle/>
          <a:p>
            <a:pPr indent="0" marL="0">
              <a:buNone/>
            </a:pPr>
            <a:r>
              <a:rPr lang="en-US" sz="1800" b="1" dirty="0">
                <a:solidFill>
                  <a:srgbClr val="F43F5E"/>
                </a:solidFill>
                <a:latin typeface="Calibri" pitchFamily="34" charset="0"/>
                <a:ea typeface="Calibri" pitchFamily="34" charset="-122"/>
                <a:cs typeface="Calibri" pitchFamily="34" charset="-120"/>
              </a:rPr>
              <a:t>01</a:t>
            </a:r>
            <a:endParaRPr lang="en-US" sz="1800" dirty="0"/>
          </a:p>
        </p:txBody>
      </p:sp>
      <p:sp>
        <p:nvSpPr>
          <p:cNvPr id="14" name="Text 12"/>
          <p:cNvSpPr/>
          <p:nvPr/>
        </p:nvSpPr>
        <p:spPr>
          <a:xfrm>
            <a:off x="1920240" y="1828800"/>
            <a:ext cx="29260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The Problem</a:t>
            </a:r>
            <a:endParaRPr lang="en-US" sz="1400" dirty="0"/>
          </a:p>
        </p:txBody>
      </p:sp>
      <p:sp>
        <p:nvSpPr>
          <p:cNvPr id="15" name="Text 13"/>
          <p:cNvSpPr/>
          <p:nvPr/>
        </p:nvSpPr>
        <p:spPr>
          <a:xfrm>
            <a:off x="1920240" y="2148840"/>
            <a:ext cx="2926080" cy="228600"/>
          </a:xfrm>
          <a:prstGeom prst="rect">
            <a:avLst/>
          </a:prstGeom>
          <a:noFill/>
          <a:ln/>
        </p:spPr>
        <p:txBody>
          <a:bodyPr wrap="square" rtlCol="0" anchor="t"/>
          <a:lstStyle/>
          <a:p>
            <a:pPr indent="0" marL="0">
              <a:buNone/>
            </a:pPr>
            <a:r>
              <a:rPr lang="en-US" sz="950" b="1" dirty="0">
                <a:solidFill>
                  <a:srgbClr val="F43F5E"/>
                </a:solidFill>
                <a:latin typeface="Calibri" pitchFamily="34" charset="0"/>
                <a:ea typeface="Calibri" pitchFamily="34" charset="-122"/>
                <a:cs typeface="Calibri" pitchFamily="34" charset="-120"/>
              </a:rPr>
              <a:t>SLIDES 4-8</a:t>
            </a:r>
            <a:endParaRPr lang="en-US" sz="950" dirty="0"/>
          </a:p>
        </p:txBody>
      </p:sp>
      <p:sp>
        <p:nvSpPr>
          <p:cNvPr id="16" name="Text 14"/>
          <p:cNvSpPr/>
          <p:nvPr/>
        </p:nvSpPr>
        <p:spPr>
          <a:xfrm>
            <a:off x="5029200" y="1856232"/>
            <a:ext cx="6217920" cy="50292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$14T B2B spend volume, 4 disconnected silos, structural failure of 2-way/3-way matching, and why brittle ETL pipelines fail.</a:t>
            </a:r>
            <a:endParaRPr lang="en-US" sz="1050" dirty="0"/>
          </a:p>
        </p:txBody>
      </p:sp>
      <p:sp>
        <p:nvSpPr>
          <p:cNvPr id="17" name="Shape 15"/>
          <p:cNvSpPr/>
          <p:nvPr/>
        </p:nvSpPr>
        <p:spPr>
          <a:xfrm>
            <a:off x="731520" y="2587752"/>
            <a:ext cx="10725912" cy="804672"/>
          </a:xfrm>
          <a:prstGeom prst="roundRect">
            <a:avLst>
              <a:gd name="adj" fmla="val 11364"/>
            </a:avLst>
          </a:prstGeom>
          <a:solidFill>
            <a:srgbClr val="0B1120"/>
          </a:solidFill>
          <a:ln w="19050">
            <a:solidFill>
              <a:srgbClr val="38BDF8"/>
            </a:solidFill>
            <a:prstDash val="solid"/>
          </a:ln>
        </p:spPr>
      </p:sp>
      <p:sp>
        <p:nvSpPr>
          <p:cNvPr id="18" name="Text 16"/>
          <p:cNvSpPr/>
          <p:nvPr/>
        </p:nvSpPr>
        <p:spPr>
          <a:xfrm>
            <a:off x="1005840" y="2724912"/>
            <a:ext cx="822960" cy="411480"/>
          </a:xfrm>
          <a:prstGeom prst="rect">
            <a:avLst/>
          </a:prstGeom>
          <a:noFill/>
          <a:ln/>
        </p:spPr>
        <p:txBody>
          <a:bodyPr wrap="square" rtlCol="0" anchor="t"/>
          <a:lstStyle/>
          <a:p>
            <a:pPr indent="0" marL="0">
              <a:buNone/>
            </a:pPr>
            <a:r>
              <a:rPr lang="en-US" sz="1800" b="1" dirty="0">
                <a:solidFill>
                  <a:srgbClr val="38BDF8"/>
                </a:solidFill>
                <a:latin typeface="Calibri" pitchFamily="34" charset="0"/>
                <a:ea typeface="Calibri" pitchFamily="34" charset="-122"/>
                <a:cs typeface="Calibri" pitchFamily="34" charset="-120"/>
              </a:rPr>
              <a:t>02</a:t>
            </a:r>
            <a:endParaRPr lang="en-US" sz="1800" dirty="0"/>
          </a:p>
        </p:txBody>
      </p:sp>
      <p:sp>
        <p:nvSpPr>
          <p:cNvPr id="19" name="Text 17"/>
          <p:cNvSpPr/>
          <p:nvPr/>
        </p:nvSpPr>
        <p:spPr>
          <a:xfrm>
            <a:off x="1920240" y="2724912"/>
            <a:ext cx="29260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Target Users</a:t>
            </a:r>
            <a:endParaRPr lang="en-US" sz="1400" dirty="0"/>
          </a:p>
        </p:txBody>
      </p:sp>
      <p:sp>
        <p:nvSpPr>
          <p:cNvPr id="20" name="Text 18"/>
          <p:cNvSpPr/>
          <p:nvPr/>
        </p:nvSpPr>
        <p:spPr>
          <a:xfrm>
            <a:off x="1920240" y="3044952"/>
            <a:ext cx="2926080" cy="228600"/>
          </a:xfrm>
          <a:prstGeom prst="rect">
            <a:avLst/>
          </a:prstGeom>
          <a:noFill/>
          <a:ln/>
        </p:spPr>
        <p:txBody>
          <a:bodyPr wrap="square" rtlCol="0" anchor="t"/>
          <a:lstStyle/>
          <a:p>
            <a:pPr indent="0" marL="0">
              <a:buNone/>
            </a:pPr>
            <a:r>
              <a:rPr lang="en-US" sz="950" b="1" dirty="0">
                <a:solidFill>
                  <a:srgbClr val="38BDF8"/>
                </a:solidFill>
                <a:latin typeface="Calibri" pitchFamily="34" charset="0"/>
                <a:ea typeface="Calibri" pitchFamily="34" charset="-122"/>
                <a:cs typeface="Calibri" pitchFamily="34" charset="-120"/>
              </a:rPr>
              <a:t>SLIDES 9-13</a:t>
            </a:r>
            <a:endParaRPr lang="en-US" sz="950" dirty="0"/>
          </a:p>
        </p:txBody>
      </p:sp>
      <p:sp>
        <p:nvSpPr>
          <p:cNvPr id="21" name="Text 19"/>
          <p:cNvSpPr/>
          <p:nvPr/>
        </p:nvSpPr>
        <p:spPr>
          <a:xfrm>
            <a:off x="5029200" y="2752344"/>
            <a:ext cx="6217920" cy="50292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Chief Procurement Officer, Lead Financial Auditor, Accounts Payable Controller, and Warehouse Receiving Dock Operations.</a:t>
            </a:r>
            <a:endParaRPr lang="en-US" sz="1050" dirty="0"/>
          </a:p>
        </p:txBody>
      </p:sp>
      <p:sp>
        <p:nvSpPr>
          <p:cNvPr id="22" name="Shape 20"/>
          <p:cNvSpPr/>
          <p:nvPr/>
        </p:nvSpPr>
        <p:spPr>
          <a:xfrm>
            <a:off x="731520" y="3483864"/>
            <a:ext cx="10725912" cy="804672"/>
          </a:xfrm>
          <a:prstGeom prst="roundRect">
            <a:avLst>
              <a:gd name="adj" fmla="val 11364"/>
            </a:avLst>
          </a:prstGeom>
          <a:solidFill>
            <a:srgbClr val="0B1120"/>
          </a:solidFill>
          <a:ln w="19050">
            <a:solidFill>
              <a:srgbClr val="10B981"/>
            </a:solidFill>
            <a:prstDash val="solid"/>
          </a:ln>
        </p:spPr>
      </p:sp>
      <p:sp>
        <p:nvSpPr>
          <p:cNvPr id="23" name="Text 21"/>
          <p:cNvSpPr/>
          <p:nvPr/>
        </p:nvSpPr>
        <p:spPr>
          <a:xfrm>
            <a:off x="1005840" y="3621024"/>
            <a:ext cx="822960" cy="411480"/>
          </a:xfrm>
          <a:prstGeom prst="rect">
            <a:avLst/>
          </a:prstGeom>
          <a:noFill/>
          <a:ln/>
        </p:spPr>
        <p:txBody>
          <a:bodyPr wrap="square"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03</a:t>
            </a:r>
            <a:endParaRPr lang="en-US" sz="1800" dirty="0"/>
          </a:p>
        </p:txBody>
      </p:sp>
      <p:sp>
        <p:nvSpPr>
          <p:cNvPr id="24" name="Text 22"/>
          <p:cNvSpPr/>
          <p:nvPr/>
        </p:nvSpPr>
        <p:spPr>
          <a:xfrm>
            <a:off x="1920240" y="3621024"/>
            <a:ext cx="29260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The Solution</a:t>
            </a:r>
            <a:endParaRPr lang="en-US" sz="1400" dirty="0"/>
          </a:p>
        </p:txBody>
      </p:sp>
      <p:sp>
        <p:nvSpPr>
          <p:cNvPr id="25" name="Text 23"/>
          <p:cNvSpPr/>
          <p:nvPr/>
        </p:nvSpPr>
        <p:spPr>
          <a:xfrm>
            <a:off x="1920240" y="3941064"/>
            <a:ext cx="2926080" cy="228600"/>
          </a:xfrm>
          <a:prstGeom prst="rect">
            <a:avLst/>
          </a:prstGeom>
          <a:noFill/>
          <a:ln/>
        </p:spPr>
        <p:txBody>
          <a:bodyPr wrap="square" rtlCol="0" anchor="t"/>
          <a:lstStyle/>
          <a:p>
            <a:pPr indent="0" marL="0">
              <a:buNone/>
            </a:pPr>
            <a:r>
              <a:rPr lang="en-US" sz="950" b="1" dirty="0">
                <a:solidFill>
                  <a:srgbClr val="10B981"/>
                </a:solidFill>
                <a:latin typeface="Calibri" pitchFamily="34" charset="0"/>
                <a:ea typeface="Calibri" pitchFamily="34" charset="-122"/>
                <a:cs typeface="Calibri" pitchFamily="34" charset="-120"/>
              </a:rPr>
              <a:t>SLIDES 14-18</a:t>
            </a:r>
            <a:endParaRPr lang="en-US" sz="950" dirty="0"/>
          </a:p>
        </p:txBody>
      </p:sp>
      <p:sp>
        <p:nvSpPr>
          <p:cNvPr id="26" name="Text 24"/>
          <p:cNvSpPr/>
          <p:nvPr/>
        </p:nvSpPr>
        <p:spPr>
          <a:xfrm>
            <a:off x="5029200" y="3648456"/>
            <a:ext cx="6217920" cy="50292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TraceBack AI 4-way reconciliation, live PO-1001 audit uncovering $1,200 leakage, and clean PO-1002 zero false-positive proof.</a:t>
            </a:r>
            <a:endParaRPr lang="en-US" sz="1050" dirty="0"/>
          </a:p>
        </p:txBody>
      </p:sp>
      <p:sp>
        <p:nvSpPr>
          <p:cNvPr id="27" name="Shape 25"/>
          <p:cNvSpPr/>
          <p:nvPr/>
        </p:nvSpPr>
        <p:spPr>
          <a:xfrm>
            <a:off x="731520" y="4379976"/>
            <a:ext cx="10725912" cy="804672"/>
          </a:xfrm>
          <a:prstGeom prst="roundRect">
            <a:avLst>
              <a:gd name="adj" fmla="val 11364"/>
            </a:avLst>
          </a:prstGeom>
          <a:solidFill>
            <a:srgbClr val="0B1120"/>
          </a:solidFill>
          <a:ln w="19050">
            <a:solidFill>
              <a:srgbClr val="F59E0B"/>
            </a:solidFill>
            <a:prstDash val="solid"/>
          </a:ln>
        </p:spPr>
      </p:sp>
      <p:sp>
        <p:nvSpPr>
          <p:cNvPr id="28" name="Text 26"/>
          <p:cNvSpPr/>
          <p:nvPr/>
        </p:nvSpPr>
        <p:spPr>
          <a:xfrm>
            <a:off x="1005840" y="4517136"/>
            <a:ext cx="822960" cy="411480"/>
          </a:xfrm>
          <a:prstGeom prst="rect">
            <a:avLst/>
          </a:prstGeom>
          <a:noFill/>
          <a:ln/>
        </p:spPr>
        <p:txBody>
          <a:bodyPr wrap="square" rtlCol="0" anchor="t"/>
          <a:lstStyle/>
          <a:p>
            <a:pPr indent="0" marL="0">
              <a:buNone/>
            </a:pPr>
            <a:r>
              <a:rPr lang="en-US" sz="1800" b="1" dirty="0">
                <a:solidFill>
                  <a:srgbClr val="F59E0B"/>
                </a:solidFill>
                <a:latin typeface="Calibri" pitchFamily="34" charset="0"/>
                <a:ea typeface="Calibri" pitchFamily="34" charset="-122"/>
                <a:cs typeface="Calibri" pitchFamily="34" charset="-120"/>
              </a:rPr>
              <a:t>04</a:t>
            </a:r>
            <a:endParaRPr lang="en-US" sz="1800" dirty="0"/>
          </a:p>
        </p:txBody>
      </p:sp>
      <p:sp>
        <p:nvSpPr>
          <p:cNvPr id="29" name="Text 27"/>
          <p:cNvSpPr/>
          <p:nvPr/>
        </p:nvSpPr>
        <p:spPr>
          <a:xfrm>
            <a:off x="1920240" y="4517136"/>
            <a:ext cx="29260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System Architecture</a:t>
            </a:r>
            <a:endParaRPr lang="en-US" sz="1400" dirty="0"/>
          </a:p>
        </p:txBody>
      </p:sp>
      <p:sp>
        <p:nvSpPr>
          <p:cNvPr id="30" name="Text 28"/>
          <p:cNvSpPr/>
          <p:nvPr/>
        </p:nvSpPr>
        <p:spPr>
          <a:xfrm>
            <a:off x="1920240" y="4837176"/>
            <a:ext cx="2926080" cy="228600"/>
          </a:xfrm>
          <a:prstGeom prst="rect">
            <a:avLst/>
          </a:prstGeom>
          <a:noFill/>
          <a:ln/>
        </p:spPr>
        <p:txBody>
          <a:bodyPr wrap="square" rtlCol="0" anchor="t"/>
          <a:lstStyle/>
          <a:p>
            <a:pPr indent="0" marL="0">
              <a:buNone/>
            </a:pPr>
            <a:r>
              <a:rPr lang="en-US" sz="950" b="1" dirty="0">
                <a:solidFill>
                  <a:srgbClr val="F59E0B"/>
                </a:solidFill>
                <a:latin typeface="Calibri" pitchFamily="34" charset="0"/>
                <a:ea typeface="Calibri" pitchFamily="34" charset="-122"/>
                <a:cs typeface="Calibri" pitchFamily="34" charset="-120"/>
              </a:rPr>
              <a:t>SLIDES 19-23</a:t>
            </a:r>
            <a:endParaRPr lang="en-US" sz="950" dirty="0"/>
          </a:p>
        </p:txBody>
      </p:sp>
      <p:sp>
        <p:nvSpPr>
          <p:cNvPr id="31" name="Text 29"/>
          <p:cNvSpPr/>
          <p:nvPr/>
        </p:nvSpPr>
        <p:spPr>
          <a:xfrm>
            <a:off x="5029200" y="4544568"/>
            <a:ext cx="6217920" cy="50292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4-tier enterprise system pipeline, 5-stage Meterless mission workflow, cell-level evidence index, and human-in-the-loop governance.</a:t>
            </a:r>
            <a:endParaRPr lang="en-US" sz="1050" dirty="0"/>
          </a:p>
        </p:txBody>
      </p:sp>
      <p:sp>
        <p:nvSpPr>
          <p:cNvPr id="32" name="Shape 30"/>
          <p:cNvSpPr/>
          <p:nvPr/>
        </p:nvSpPr>
        <p:spPr>
          <a:xfrm>
            <a:off x="731520" y="5276088"/>
            <a:ext cx="10725912" cy="804672"/>
          </a:xfrm>
          <a:prstGeom prst="roundRect">
            <a:avLst>
              <a:gd name="adj" fmla="val 11364"/>
            </a:avLst>
          </a:prstGeom>
          <a:solidFill>
            <a:srgbClr val="0B1120"/>
          </a:solidFill>
          <a:ln w="19050">
            <a:solidFill>
              <a:srgbClr val="A855F7"/>
            </a:solidFill>
            <a:prstDash val="solid"/>
          </a:ln>
        </p:spPr>
      </p:sp>
      <p:sp>
        <p:nvSpPr>
          <p:cNvPr id="33" name="Text 31"/>
          <p:cNvSpPr/>
          <p:nvPr/>
        </p:nvSpPr>
        <p:spPr>
          <a:xfrm>
            <a:off x="1005840" y="5413248"/>
            <a:ext cx="822960" cy="411480"/>
          </a:xfrm>
          <a:prstGeom prst="rect">
            <a:avLst/>
          </a:prstGeom>
          <a:noFill/>
          <a:ln/>
        </p:spPr>
        <p:txBody>
          <a:bodyPr wrap="square" rtlCol="0" anchor="t"/>
          <a:lstStyle/>
          <a:p>
            <a:pPr indent="0" marL="0">
              <a:buNone/>
            </a:pPr>
            <a:r>
              <a:rPr lang="en-US" sz="1800" b="1" dirty="0">
                <a:solidFill>
                  <a:srgbClr val="A855F7"/>
                </a:solidFill>
                <a:latin typeface="Calibri" pitchFamily="34" charset="0"/>
                <a:ea typeface="Calibri" pitchFamily="34" charset="-122"/>
                <a:cs typeface="Calibri" pitchFamily="34" charset="-120"/>
              </a:rPr>
              <a:t>05</a:t>
            </a:r>
            <a:endParaRPr lang="en-US" sz="1800" dirty="0"/>
          </a:p>
        </p:txBody>
      </p:sp>
      <p:sp>
        <p:nvSpPr>
          <p:cNvPr id="34" name="Text 32"/>
          <p:cNvSpPr/>
          <p:nvPr/>
        </p:nvSpPr>
        <p:spPr>
          <a:xfrm>
            <a:off x="1920240" y="5413248"/>
            <a:ext cx="292608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Sponsor Tech</a:t>
            </a:r>
            <a:endParaRPr lang="en-US" sz="1400" dirty="0"/>
          </a:p>
        </p:txBody>
      </p:sp>
      <p:sp>
        <p:nvSpPr>
          <p:cNvPr id="35" name="Text 33"/>
          <p:cNvSpPr/>
          <p:nvPr/>
        </p:nvSpPr>
        <p:spPr>
          <a:xfrm>
            <a:off x="1920240" y="5733288"/>
            <a:ext cx="2926080" cy="228600"/>
          </a:xfrm>
          <a:prstGeom prst="rect">
            <a:avLst/>
          </a:prstGeom>
          <a:noFill/>
          <a:ln/>
        </p:spPr>
        <p:txBody>
          <a:bodyPr wrap="square" rtlCol="0" anchor="t"/>
          <a:lstStyle/>
          <a:p>
            <a:pPr indent="0" marL="0">
              <a:buNone/>
            </a:pPr>
            <a:r>
              <a:rPr lang="en-US" sz="950" b="1" dirty="0">
                <a:solidFill>
                  <a:srgbClr val="A855F7"/>
                </a:solidFill>
                <a:latin typeface="Calibri" pitchFamily="34" charset="0"/>
                <a:ea typeface="Calibri" pitchFamily="34" charset="-122"/>
                <a:cs typeface="Calibri" pitchFamily="34" charset="-120"/>
              </a:rPr>
              <a:t>SLIDES 24-28</a:t>
            </a:r>
            <a:endParaRPr lang="en-US" sz="950" dirty="0"/>
          </a:p>
        </p:txBody>
      </p:sp>
      <p:sp>
        <p:nvSpPr>
          <p:cNvPr id="36" name="Text 34"/>
          <p:cNvSpPr/>
          <p:nvPr/>
        </p:nvSpPr>
        <p:spPr>
          <a:xfrm>
            <a:off x="5029200" y="5440680"/>
            <a:ext cx="6217920" cy="50292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Zetaris Zero-ETL Data Virtualization, Meterless Scout &amp; Relay Router, Meterless Nightshift ($0.00 local AI), and enterprise ROI.</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F43F5E"/>
            </a:solidFill>
            <a:prstDash val="solid"/>
          </a:ln>
        </p:spPr>
      </p:sp>
      <p:sp>
        <p:nvSpPr>
          <p:cNvPr id="3" name="Shape 1"/>
          <p:cNvSpPr/>
          <p:nvPr/>
        </p:nvSpPr>
        <p:spPr>
          <a:xfrm>
            <a:off x="1188720" y="1188720"/>
            <a:ext cx="2926080" cy="347472"/>
          </a:xfrm>
          <a:prstGeom prst="roundRect">
            <a:avLst>
              <a:gd name="adj" fmla="val 50000"/>
            </a:avLst>
          </a:prstGeom>
          <a:solidFill>
            <a:srgbClr val="1E1B4B"/>
          </a:solidFill>
          <a:ln w="19050">
            <a:solidFill>
              <a:srgbClr val="F43F5E"/>
            </a:solidFill>
            <a:prstDash val="solid"/>
          </a:ln>
        </p:spPr>
      </p:sp>
      <p:sp>
        <p:nvSpPr>
          <p:cNvPr id="4" name="Text 2"/>
          <p:cNvSpPr/>
          <p:nvPr/>
        </p:nvSpPr>
        <p:spPr>
          <a:xfrm>
            <a:off x="1188720" y="1188720"/>
            <a:ext cx="2926080" cy="347472"/>
          </a:xfrm>
          <a:prstGeom prst="rect">
            <a:avLst/>
          </a:prstGeom>
          <a:noFill/>
          <a:ln/>
        </p:spPr>
        <p:txBody>
          <a:bodyPr wrap="square" rtlCol="0" anchor="ctr"/>
          <a:lstStyle/>
          <a:p>
            <a:pPr algn="ctr" indent="0" marL="0">
              <a:buNone/>
            </a:pPr>
            <a:r>
              <a:rPr lang="en-US" sz="1100" b="1" dirty="0">
                <a:solidFill>
                  <a:srgbClr val="F43F5E"/>
                </a:solidFill>
                <a:latin typeface="Calibri" pitchFamily="34" charset="0"/>
                <a:ea typeface="Calibri" pitchFamily="34" charset="-122"/>
                <a:cs typeface="Calibri" pitchFamily="34" charset="-120"/>
              </a:rPr>
              <a:t>SECTION 01 / 05</a:t>
            </a:r>
            <a:endParaRPr lang="en-US" sz="1100" dirty="0"/>
          </a:p>
        </p:txBody>
      </p:sp>
      <p:sp>
        <p:nvSpPr>
          <p:cNvPr id="5" name="Text 3"/>
          <p:cNvSpPr/>
          <p:nvPr/>
        </p:nvSpPr>
        <p:spPr>
          <a:xfrm>
            <a:off x="1188720" y="1691640"/>
            <a:ext cx="978408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Enterprise Procurement Problem</a:t>
            </a:r>
            <a:endParaRPr lang="en-US" sz="3600" dirty="0"/>
          </a:p>
        </p:txBody>
      </p:sp>
      <p:sp>
        <p:nvSpPr>
          <p:cNvPr id="6" name="Text 4"/>
          <p:cNvSpPr/>
          <p:nvPr/>
        </p:nvSpPr>
        <p:spPr>
          <a:xfrm>
            <a:off x="1188720" y="2514600"/>
            <a:ext cx="9784080" cy="457200"/>
          </a:xfrm>
          <a:prstGeom prst="rect">
            <a:avLst/>
          </a:prstGeom>
          <a:noFill/>
          <a:ln/>
        </p:spPr>
        <p:txBody>
          <a:bodyPr wrap="square" rtlCol="0" anchor="t"/>
          <a:lstStyle/>
          <a:p>
            <a:pPr indent="0" marL="0">
              <a:buNone/>
            </a:pPr>
            <a:r>
              <a:rPr lang="en-US" sz="1400" dirty="0">
                <a:solidFill>
                  <a:srgbClr val="CBD5E1"/>
                </a:solidFill>
                <a:latin typeface="Calibri" pitchFamily="34" charset="0"/>
                <a:ea typeface="Calibri" pitchFamily="34" charset="-122"/>
                <a:cs typeface="Calibri" pitchFamily="34" charset="-120"/>
              </a:rPr>
              <a:t>Why Fortune 500 enterprises lose billions annually to uncaptured procurement spend leakage.</a:t>
            </a:r>
            <a:endParaRPr lang="en-US" sz="1400" dirty="0"/>
          </a:p>
        </p:txBody>
      </p:sp>
      <p:sp>
        <p:nvSpPr>
          <p:cNvPr id="7" name="Shape 5"/>
          <p:cNvSpPr/>
          <p:nvPr/>
        </p:nvSpPr>
        <p:spPr>
          <a:xfrm>
            <a:off x="1188720" y="3200400"/>
            <a:ext cx="3108960" cy="2560320"/>
          </a:xfrm>
          <a:prstGeom prst="roundRect">
            <a:avLst>
              <a:gd name="adj" fmla="val 4286"/>
            </a:avLst>
          </a:prstGeom>
          <a:solidFill>
            <a:srgbClr val="0F172A"/>
          </a:solidFill>
          <a:ln w="15240">
            <a:solidFill>
              <a:srgbClr val="1E293B"/>
            </a:solidFill>
            <a:prstDash val="solid"/>
          </a:ln>
        </p:spPr>
      </p:sp>
      <p:sp>
        <p:nvSpPr>
          <p:cNvPr id="8" name="Text 6"/>
          <p:cNvSpPr/>
          <p:nvPr/>
        </p:nvSpPr>
        <p:spPr>
          <a:xfrm>
            <a:off x="1417320" y="3429000"/>
            <a:ext cx="2651760" cy="320040"/>
          </a:xfrm>
          <a:prstGeom prst="rect">
            <a:avLst/>
          </a:prstGeom>
          <a:noFill/>
          <a:ln/>
        </p:spPr>
        <p:txBody>
          <a:bodyPr wrap="square" rtlCol="0" anchor="t"/>
          <a:lstStyle/>
          <a:p>
            <a:pPr indent="0" marL="0">
              <a:buNone/>
            </a:pPr>
            <a:r>
              <a:rPr lang="en-US" sz="1600" b="1" dirty="0">
                <a:solidFill>
                  <a:srgbClr val="F43F5E"/>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141732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$14T B2B Spend Volume</a:t>
            </a:r>
            <a:endParaRPr lang="en-US" sz="1400" dirty="0"/>
          </a:p>
        </p:txBody>
      </p:sp>
      <p:sp>
        <p:nvSpPr>
          <p:cNvPr id="10" name="Text 8"/>
          <p:cNvSpPr/>
          <p:nvPr/>
        </p:nvSpPr>
        <p:spPr>
          <a:xfrm>
            <a:off x="141732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Overwhelming annual invoice velocity prevents exhaustive manual auditing across enterprise accounts payable.</a:t>
            </a:r>
            <a:endParaRPr lang="en-US" sz="1100" dirty="0"/>
          </a:p>
        </p:txBody>
      </p:sp>
      <p:sp>
        <p:nvSpPr>
          <p:cNvPr id="11" name="Shape 9"/>
          <p:cNvSpPr/>
          <p:nvPr/>
        </p:nvSpPr>
        <p:spPr>
          <a:xfrm>
            <a:off x="4526280" y="3200400"/>
            <a:ext cx="3108960" cy="2560320"/>
          </a:xfrm>
          <a:prstGeom prst="roundRect">
            <a:avLst>
              <a:gd name="adj" fmla="val 4286"/>
            </a:avLst>
          </a:prstGeom>
          <a:solidFill>
            <a:srgbClr val="0F172A"/>
          </a:solidFill>
          <a:ln w="15240">
            <a:solidFill>
              <a:srgbClr val="1E293B"/>
            </a:solidFill>
            <a:prstDash val="solid"/>
          </a:ln>
        </p:spPr>
      </p:sp>
      <p:sp>
        <p:nvSpPr>
          <p:cNvPr id="12" name="Text 10"/>
          <p:cNvSpPr/>
          <p:nvPr/>
        </p:nvSpPr>
        <p:spPr>
          <a:xfrm>
            <a:off x="4754880" y="3429000"/>
            <a:ext cx="2651760" cy="320040"/>
          </a:xfrm>
          <a:prstGeom prst="rect">
            <a:avLst/>
          </a:prstGeom>
          <a:noFill/>
          <a:ln/>
        </p:spPr>
        <p:txBody>
          <a:bodyPr wrap="square" rtlCol="0" anchor="t"/>
          <a:lstStyle/>
          <a:p>
            <a:pPr indent="0" marL="0">
              <a:buNone/>
            </a:pPr>
            <a:r>
              <a:rPr lang="en-US" sz="1600" b="1" dirty="0">
                <a:solidFill>
                  <a:srgbClr val="F43F5E"/>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475488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4 Fractured Data Silos</a:t>
            </a:r>
            <a:endParaRPr lang="en-US" sz="1400" dirty="0"/>
          </a:p>
        </p:txBody>
      </p:sp>
      <p:sp>
        <p:nvSpPr>
          <p:cNvPr id="14" name="Text 12"/>
          <p:cNvSpPr/>
          <p:nvPr/>
        </p:nvSpPr>
        <p:spPr>
          <a:xfrm>
            <a:off x="475488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ERP purchase orders, warehouse dock notes, AP invoices, and legal contracts do not talk to each other.</a:t>
            </a:r>
            <a:endParaRPr lang="en-US" sz="1100" dirty="0"/>
          </a:p>
        </p:txBody>
      </p:sp>
      <p:sp>
        <p:nvSpPr>
          <p:cNvPr id="15" name="Shape 13"/>
          <p:cNvSpPr/>
          <p:nvPr/>
        </p:nvSpPr>
        <p:spPr>
          <a:xfrm>
            <a:off x="7863840" y="3200400"/>
            <a:ext cx="3108960" cy="2560320"/>
          </a:xfrm>
          <a:prstGeom prst="roundRect">
            <a:avLst>
              <a:gd name="adj" fmla="val 4286"/>
            </a:avLst>
          </a:prstGeom>
          <a:solidFill>
            <a:srgbClr val="0F172A"/>
          </a:solidFill>
          <a:ln w="15240">
            <a:solidFill>
              <a:srgbClr val="1E293B"/>
            </a:solidFill>
            <a:prstDash val="solid"/>
          </a:ln>
        </p:spPr>
      </p:sp>
      <p:sp>
        <p:nvSpPr>
          <p:cNvPr id="16" name="Text 14"/>
          <p:cNvSpPr/>
          <p:nvPr/>
        </p:nvSpPr>
        <p:spPr>
          <a:xfrm>
            <a:off x="8092440" y="3429000"/>
            <a:ext cx="2651760" cy="320040"/>
          </a:xfrm>
          <a:prstGeom prst="rect">
            <a:avLst/>
          </a:prstGeom>
          <a:noFill/>
          <a:ln/>
        </p:spPr>
        <p:txBody>
          <a:bodyPr wrap="square" rtlCol="0" anchor="t"/>
          <a:lstStyle/>
          <a:p>
            <a:pPr indent="0" marL="0">
              <a:buNone/>
            </a:pPr>
            <a:r>
              <a:rPr lang="en-US" sz="1600" b="1" dirty="0">
                <a:solidFill>
                  <a:srgbClr val="F43F5E"/>
                </a:solidFill>
                <a:latin typeface="Calibri" pitchFamily="34" charset="0"/>
                <a:ea typeface="Calibri" pitchFamily="34" charset="-122"/>
                <a:cs typeface="Calibri" pitchFamily="34" charset="-120"/>
              </a:rPr>
              <a:t>03</a:t>
            </a:r>
            <a:endParaRPr lang="en-US" sz="1600" dirty="0"/>
          </a:p>
        </p:txBody>
      </p:sp>
      <p:sp>
        <p:nvSpPr>
          <p:cNvPr id="17" name="Text 15"/>
          <p:cNvSpPr/>
          <p:nvPr/>
        </p:nvSpPr>
        <p:spPr>
          <a:xfrm>
            <a:off x="809244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Legacy Matching Failure</a:t>
            </a:r>
            <a:endParaRPr lang="en-US" sz="1400" dirty="0"/>
          </a:p>
        </p:txBody>
      </p:sp>
      <p:sp>
        <p:nvSpPr>
          <p:cNvPr id="18" name="Text 16"/>
          <p:cNvSpPr/>
          <p:nvPr/>
        </p:nvSpPr>
        <p:spPr>
          <a:xfrm>
            <a:off x="809244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Traditional 2-way and 3-way matching rules leave massive loopholes for uncontracted rate creep and short shipments.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1. PROBLEM</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$14 Trillion Global Procurement Challenge</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Massive transaction velocity overwhelms traditional financial controls.</a:t>
            </a:r>
            <a:endParaRPr lang="en-US" sz="1250" dirty="0"/>
          </a:p>
        </p:txBody>
      </p:sp>
      <p:sp>
        <p:nvSpPr>
          <p:cNvPr id="12" name="Shape 10"/>
          <p:cNvSpPr/>
          <p:nvPr/>
        </p:nvSpPr>
        <p:spPr>
          <a:xfrm>
            <a:off x="731520" y="1691640"/>
            <a:ext cx="2560320" cy="2240280"/>
          </a:xfrm>
          <a:prstGeom prst="roundRect">
            <a:avLst>
              <a:gd name="adj" fmla="val 4898"/>
            </a:avLst>
          </a:prstGeom>
          <a:solidFill>
            <a:srgbClr val="0B1120"/>
          </a:solidFill>
          <a:ln w="19050">
            <a:solidFill>
              <a:srgbClr val="38BDF8"/>
            </a:solidFill>
            <a:prstDash val="solid"/>
          </a:ln>
        </p:spPr>
      </p:sp>
      <p:sp>
        <p:nvSpPr>
          <p:cNvPr id="13" name="Text 11"/>
          <p:cNvSpPr/>
          <p:nvPr/>
        </p:nvSpPr>
        <p:spPr>
          <a:xfrm>
            <a:off x="868680" y="1874520"/>
            <a:ext cx="2286000" cy="594360"/>
          </a:xfrm>
          <a:prstGeom prst="rect">
            <a:avLst/>
          </a:prstGeom>
          <a:noFill/>
          <a:ln/>
        </p:spPr>
        <p:txBody>
          <a:bodyPr wrap="square" rtlCol="0" anchor="t"/>
          <a:lstStyle/>
          <a:p>
            <a:pPr algn="ctr" indent="0" marL="0">
              <a:buNone/>
            </a:pPr>
            <a:r>
              <a:rPr lang="en-US" sz="3200" b="1" dirty="0">
                <a:solidFill>
                  <a:srgbClr val="38BDF8"/>
                </a:solidFill>
                <a:latin typeface="Calibri" pitchFamily="34" charset="0"/>
                <a:ea typeface="Calibri" pitchFamily="34" charset="-122"/>
                <a:cs typeface="Calibri" pitchFamily="34" charset="-120"/>
              </a:rPr>
              <a:t>$14T</a:t>
            </a:r>
            <a:endParaRPr lang="en-US" sz="3200" dirty="0"/>
          </a:p>
        </p:txBody>
      </p:sp>
      <p:sp>
        <p:nvSpPr>
          <p:cNvPr id="14" name="Text 12"/>
          <p:cNvSpPr/>
          <p:nvPr/>
        </p:nvSpPr>
        <p:spPr>
          <a:xfrm>
            <a:off x="868680" y="2514600"/>
            <a:ext cx="2286000" cy="320040"/>
          </a:xfrm>
          <a:prstGeom prst="rect">
            <a:avLst/>
          </a:prstGeom>
          <a:noFill/>
          <a:ln/>
        </p:spPr>
        <p:txBody>
          <a:bodyPr wrap="square"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Global B2B Spend</a:t>
            </a:r>
            <a:endParaRPr lang="en-US" sz="1200" dirty="0"/>
          </a:p>
        </p:txBody>
      </p:sp>
      <p:sp>
        <p:nvSpPr>
          <p:cNvPr id="15" name="Text 13"/>
          <p:cNvSpPr/>
          <p:nvPr/>
        </p:nvSpPr>
        <p:spPr>
          <a:xfrm>
            <a:off x="868680" y="2880360"/>
            <a:ext cx="2286000" cy="914400"/>
          </a:xfrm>
          <a:prstGeom prst="rect">
            <a:avLst/>
          </a:prstGeom>
          <a:noFill/>
          <a:ln/>
        </p:spPr>
        <p:txBody>
          <a:bodyPr wrap="square"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Annual goods and services procured by commercial enterprises worldwide.</a:t>
            </a:r>
            <a:endParaRPr lang="en-US" sz="1000" dirty="0"/>
          </a:p>
        </p:txBody>
      </p:sp>
      <p:sp>
        <p:nvSpPr>
          <p:cNvPr id="16" name="Shape 14"/>
          <p:cNvSpPr/>
          <p:nvPr/>
        </p:nvSpPr>
        <p:spPr>
          <a:xfrm>
            <a:off x="3456432" y="1691640"/>
            <a:ext cx="2560320" cy="2240280"/>
          </a:xfrm>
          <a:prstGeom prst="roundRect">
            <a:avLst>
              <a:gd name="adj" fmla="val 4898"/>
            </a:avLst>
          </a:prstGeom>
          <a:solidFill>
            <a:srgbClr val="0B1120"/>
          </a:solidFill>
          <a:ln w="19050">
            <a:solidFill>
              <a:srgbClr val="F43F5E"/>
            </a:solidFill>
            <a:prstDash val="solid"/>
          </a:ln>
        </p:spPr>
      </p:sp>
      <p:sp>
        <p:nvSpPr>
          <p:cNvPr id="17" name="Text 15"/>
          <p:cNvSpPr/>
          <p:nvPr/>
        </p:nvSpPr>
        <p:spPr>
          <a:xfrm>
            <a:off x="3593592" y="1874520"/>
            <a:ext cx="2286000" cy="594360"/>
          </a:xfrm>
          <a:prstGeom prst="rect">
            <a:avLst/>
          </a:prstGeom>
          <a:noFill/>
          <a:ln/>
        </p:spPr>
        <p:txBody>
          <a:bodyPr wrap="square" rtlCol="0" anchor="t"/>
          <a:lstStyle/>
          <a:p>
            <a:pPr algn="ctr" indent="0" marL="0">
              <a:buNone/>
            </a:pPr>
            <a:r>
              <a:rPr lang="en-US" sz="3200" b="1" dirty="0">
                <a:solidFill>
                  <a:srgbClr val="F43F5E"/>
                </a:solidFill>
                <a:latin typeface="Calibri" pitchFamily="34" charset="0"/>
                <a:ea typeface="Calibri" pitchFamily="34" charset="-122"/>
                <a:cs typeface="Calibri" pitchFamily="34" charset="-120"/>
              </a:rPr>
              <a:t>4.0%</a:t>
            </a:r>
            <a:endParaRPr lang="en-US" sz="3200" dirty="0"/>
          </a:p>
        </p:txBody>
      </p:sp>
      <p:sp>
        <p:nvSpPr>
          <p:cNvPr id="18" name="Text 16"/>
          <p:cNvSpPr/>
          <p:nvPr/>
        </p:nvSpPr>
        <p:spPr>
          <a:xfrm>
            <a:off x="3593592" y="2514600"/>
            <a:ext cx="2286000" cy="320040"/>
          </a:xfrm>
          <a:prstGeom prst="rect">
            <a:avLst/>
          </a:prstGeom>
          <a:noFill/>
          <a:ln/>
        </p:spPr>
        <p:txBody>
          <a:bodyPr wrap="square"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Max Spend Leakage</a:t>
            </a:r>
            <a:endParaRPr lang="en-US" sz="1200" dirty="0"/>
          </a:p>
        </p:txBody>
      </p:sp>
      <p:sp>
        <p:nvSpPr>
          <p:cNvPr id="19" name="Text 17"/>
          <p:cNvSpPr/>
          <p:nvPr/>
        </p:nvSpPr>
        <p:spPr>
          <a:xfrm>
            <a:off x="3593592" y="2880360"/>
            <a:ext cx="2286000" cy="914400"/>
          </a:xfrm>
          <a:prstGeom prst="rect">
            <a:avLst/>
          </a:prstGeom>
          <a:noFill/>
          <a:ln/>
        </p:spPr>
        <p:txBody>
          <a:bodyPr wrap="square"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Observed variance between contracted rates, dock receipts, and paid invoices.</a:t>
            </a:r>
            <a:endParaRPr lang="en-US" sz="1000" dirty="0"/>
          </a:p>
        </p:txBody>
      </p:sp>
      <p:sp>
        <p:nvSpPr>
          <p:cNvPr id="20" name="Shape 18"/>
          <p:cNvSpPr/>
          <p:nvPr/>
        </p:nvSpPr>
        <p:spPr>
          <a:xfrm>
            <a:off x="6181344" y="1691640"/>
            <a:ext cx="2560320" cy="2240280"/>
          </a:xfrm>
          <a:prstGeom prst="roundRect">
            <a:avLst>
              <a:gd name="adj" fmla="val 4898"/>
            </a:avLst>
          </a:prstGeom>
          <a:solidFill>
            <a:srgbClr val="0B1120"/>
          </a:solidFill>
          <a:ln w="19050">
            <a:solidFill>
              <a:srgbClr val="F59E0B"/>
            </a:solidFill>
            <a:prstDash val="solid"/>
          </a:ln>
        </p:spPr>
      </p:sp>
      <p:sp>
        <p:nvSpPr>
          <p:cNvPr id="21" name="Text 19"/>
          <p:cNvSpPr/>
          <p:nvPr/>
        </p:nvSpPr>
        <p:spPr>
          <a:xfrm>
            <a:off x="6318504" y="1874520"/>
            <a:ext cx="2286000" cy="594360"/>
          </a:xfrm>
          <a:prstGeom prst="rect">
            <a:avLst/>
          </a:prstGeom>
          <a:noFill/>
          <a:ln/>
        </p:spPr>
        <p:txBody>
          <a:bodyPr wrap="square" rtlCol="0" anchor="t"/>
          <a:lstStyle/>
          <a:p>
            <a:pPr algn="ctr" indent="0" marL="0">
              <a:buNone/>
            </a:pPr>
            <a:r>
              <a:rPr lang="en-US" sz="3200" b="1" dirty="0">
                <a:solidFill>
                  <a:srgbClr val="F59E0B"/>
                </a:solidFill>
                <a:latin typeface="Calibri" pitchFamily="34" charset="0"/>
                <a:ea typeface="Calibri" pitchFamily="34" charset="-122"/>
                <a:cs typeface="Calibri" pitchFamily="34" charset="-120"/>
              </a:rPr>
              <a:t>100K+</a:t>
            </a:r>
            <a:endParaRPr lang="en-US" sz="3200" dirty="0"/>
          </a:p>
        </p:txBody>
      </p:sp>
      <p:sp>
        <p:nvSpPr>
          <p:cNvPr id="22" name="Text 20"/>
          <p:cNvSpPr/>
          <p:nvPr/>
        </p:nvSpPr>
        <p:spPr>
          <a:xfrm>
            <a:off x="6318504" y="2514600"/>
            <a:ext cx="2286000" cy="320040"/>
          </a:xfrm>
          <a:prstGeom prst="rect">
            <a:avLst/>
          </a:prstGeom>
          <a:noFill/>
          <a:ln/>
        </p:spPr>
        <p:txBody>
          <a:bodyPr wrap="square"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Invoices / Year</a:t>
            </a:r>
            <a:endParaRPr lang="en-US" sz="1200" dirty="0"/>
          </a:p>
        </p:txBody>
      </p:sp>
      <p:sp>
        <p:nvSpPr>
          <p:cNvPr id="23" name="Text 21"/>
          <p:cNvSpPr/>
          <p:nvPr/>
        </p:nvSpPr>
        <p:spPr>
          <a:xfrm>
            <a:off x="6318504" y="2880360"/>
            <a:ext cx="2286000" cy="914400"/>
          </a:xfrm>
          <a:prstGeom prst="rect">
            <a:avLst/>
          </a:prstGeom>
          <a:noFill/>
          <a:ln/>
        </p:spPr>
        <p:txBody>
          <a:bodyPr wrap="square"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Average enterprise transaction volume processed by Accounts Payable teams.</a:t>
            </a:r>
            <a:endParaRPr lang="en-US" sz="1000" dirty="0"/>
          </a:p>
        </p:txBody>
      </p:sp>
      <p:sp>
        <p:nvSpPr>
          <p:cNvPr id="24" name="Shape 22"/>
          <p:cNvSpPr/>
          <p:nvPr/>
        </p:nvSpPr>
        <p:spPr>
          <a:xfrm>
            <a:off x="8906256" y="1691640"/>
            <a:ext cx="2560320" cy="2240280"/>
          </a:xfrm>
          <a:prstGeom prst="roundRect">
            <a:avLst>
              <a:gd name="adj" fmla="val 4898"/>
            </a:avLst>
          </a:prstGeom>
          <a:solidFill>
            <a:srgbClr val="0B1120"/>
          </a:solidFill>
          <a:ln w="19050">
            <a:solidFill>
              <a:srgbClr val="A855F7"/>
            </a:solidFill>
            <a:prstDash val="solid"/>
          </a:ln>
        </p:spPr>
      </p:sp>
      <p:sp>
        <p:nvSpPr>
          <p:cNvPr id="25" name="Text 23"/>
          <p:cNvSpPr/>
          <p:nvPr/>
        </p:nvSpPr>
        <p:spPr>
          <a:xfrm>
            <a:off x="9043416" y="1874520"/>
            <a:ext cx="2286000" cy="594360"/>
          </a:xfrm>
          <a:prstGeom prst="rect">
            <a:avLst/>
          </a:prstGeom>
          <a:noFill/>
          <a:ln/>
        </p:spPr>
        <p:txBody>
          <a:bodyPr wrap="square" rtlCol="0" anchor="t"/>
          <a:lstStyle/>
          <a:p>
            <a:pPr algn="ctr" indent="0" marL="0">
              <a:buNone/>
            </a:pPr>
            <a:r>
              <a:rPr lang="en-US" sz="3200" b="1" dirty="0">
                <a:solidFill>
                  <a:srgbClr val="A855F7"/>
                </a:solidFill>
                <a:latin typeface="Calibri" pitchFamily="34" charset="0"/>
                <a:ea typeface="Calibri" pitchFamily="34" charset="-122"/>
                <a:cs typeface="Calibri" pitchFamily="34" charset="-120"/>
              </a:rPr>
              <a:t>&lt;5%</a:t>
            </a:r>
            <a:endParaRPr lang="en-US" sz="3200" dirty="0"/>
          </a:p>
        </p:txBody>
      </p:sp>
      <p:sp>
        <p:nvSpPr>
          <p:cNvPr id="26" name="Text 24"/>
          <p:cNvSpPr/>
          <p:nvPr/>
        </p:nvSpPr>
        <p:spPr>
          <a:xfrm>
            <a:off x="9043416" y="2514600"/>
            <a:ext cx="2286000" cy="320040"/>
          </a:xfrm>
          <a:prstGeom prst="rect">
            <a:avLst/>
          </a:prstGeom>
          <a:noFill/>
          <a:ln/>
        </p:spPr>
        <p:txBody>
          <a:bodyPr wrap="square"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Audit Coverage</a:t>
            </a:r>
            <a:endParaRPr lang="en-US" sz="1200" dirty="0"/>
          </a:p>
        </p:txBody>
      </p:sp>
      <p:sp>
        <p:nvSpPr>
          <p:cNvPr id="27" name="Text 25"/>
          <p:cNvSpPr/>
          <p:nvPr/>
        </p:nvSpPr>
        <p:spPr>
          <a:xfrm>
            <a:off x="9043416" y="2880360"/>
            <a:ext cx="2286000" cy="914400"/>
          </a:xfrm>
          <a:prstGeom prst="rect">
            <a:avLst/>
          </a:prstGeom>
          <a:noFill/>
          <a:ln/>
        </p:spPr>
        <p:txBody>
          <a:bodyPr wrap="square"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Typical percentage of invoices audited in depth before disbursement.</a:t>
            </a:r>
            <a:endParaRPr lang="en-US" sz="1000" dirty="0"/>
          </a:p>
        </p:txBody>
      </p:sp>
      <p:sp>
        <p:nvSpPr>
          <p:cNvPr id="28" name="Shape 26"/>
          <p:cNvSpPr/>
          <p:nvPr/>
        </p:nvSpPr>
        <p:spPr>
          <a:xfrm>
            <a:off x="731520" y="4114800"/>
            <a:ext cx="10725912" cy="2103120"/>
          </a:xfrm>
          <a:prstGeom prst="roundRect">
            <a:avLst>
              <a:gd name="adj" fmla="val 5217"/>
            </a:avLst>
          </a:prstGeom>
          <a:solidFill>
            <a:srgbClr val="0F172A"/>
          </a:solidFill>
          <a:ln w="15240">
            <a:solidFill>
              <a:srgbClr val="1E293B"/>
            </a:solidFill>
            <a:prstDash val="solid"/>
          </a:ln>
        </p:spPr>
      </p:sp>
      <p:sp>
        <p:nvSpPr>
          <p:cNvPr id="29" name="Text 27"/>
          <p:cNvSpPr/>
          <p:nvPr/>
        </p:nvSpPr>
        <p:spPr>
          <a:xfrm>
            <a:off x="1005840" y="4251960"/>
            <a:ext cx="10149840" cy="274320"/>
          </a:xfrm>
          <a:prstGeom prst="rect">
            <a:avLst/>
          </a:prstGeom>
          <a:noFill/>
          <a:ln/>
        </p:spPr>
        <p:txBody>
          <a:bodyPr wrap="square" rtlCol="0" anchor="t"/>
          <a:lstStyle/>
          <a:p>
            <a:pPr indent="0" marL="0">
              <a:buNone/>
            </a:pPr>
            <a:r>
              <a:rPr lang="en-US" sz="1100" b="1" dirty="0">
                <a:solidFill>
                  <a:srgbClr val="F59E0B"/>
                </a:solidFill>
                <a:latin typeface="Calibri" pitchFamily="34" charset="0"/>
                <a:ea typeface="Calibri" pitchFamily="34" charset="-122"/>
                <a:cs typeface="Calibri" pitchFamily="34" charset="-120"/>
              </a:rPr>
              <a:t>WHY ENTERPRISES FAIL TO CAPTURE OVERCHARGES TODAY:</a:t>
            </a:r>
            <a:endParaRPr lang="en-US" sz="1100" dirty="0"/>
          </a:p>
        </p:txBody>
      </p:sp>
      <p:sp>
        <p:nvSpPr>
          <p:cNvPr id="30" name="Text 28"/>
          <p:cNvSpPr/>
          <p:nvPr/>
        </p:nvSpPr>
        <p:spPr>
          <a:xfrm>
            <a:off x="1005840" y="4572000"/>
            <a:ext cx="10149840" cy="150876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1. Disconnected Software Systems: SAP ERP, Blue Yonder WMS, Coupa AP, and DocuSign contracts do not share a common query model.</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2. Fragile Data Pipelines: Traditional ETL data lakehouse projects take 6-12 months and $500K+ in engineering before returning insights.</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3. Human Bottlenecks: Clerks match PO totals against invoice headers, ignoring line-item rate escalations and warehouse receipt exceptions.</a:t>
            </a:r>
            <a:endParaRPr lang="en-US" sz="1050" dirty="0"/>
          </a:p>
          <a:p>
            <a:pPr indent="0" marL="0">
              <a:buNone/>
            </a:pPr>
            <a:r>
              <a:rPr lang="en-US" sz="1050" dirty="0">
                <a:solidFill>
                  <a:srgbClr val="CBD5E1"/>
                </a:solidFill>
                <a:latin typeface="Calibri" pitchFamily="34" charset="0"/>
                <a:ea typeface="Calibri" pitchFamily="34" charset="-122"/>
                <a:cs typeface="Calibri" pitchFamily="34" charset="-120"/>
              </a:rPr>
              <a:t>4. Commercial Erosion: Suppliers quietly test rate increases; when unflagged on the first invoice, higher rates become the de facto baseline.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1. PROBLEM</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Anatomy of Spend Leakage: 4 Primary Vectors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Quantifying where enterprise cash disappears in procurement cycles.</a:t>
            </a:r>
            <a:endParaRPr lang="en-US" sz="1250" dirty="0"/>
          </a:p>
        </p:txBody>
      </p:sp>
      <p:sp>
        <p:nvSpPr>
          <p:cNvPr id="12" name="Shape 10"/>
          <p:cNvSpPr/>
          <p:nvPr/>
        </p:nvSpPr>
        <p:spPr>
          <a:xfrm>
            <a:off x="731520" y="1691640"/>
            <a:ext cx="2560320" cy="4526280"/>
          </a:xfrm>
          <a:prstGeom prst="roundRect">
            <a:avLst>
              <a:gd name="adj" fmla="val 4286"/>
            </a:avLst>
          </a:prstGeom>
          <a:solidFill>
            <a:srgbClr val="0B1120"/>
          </a:solidFill>
          <a:ln w="19050">
            <a:solidFill>
              <a:srgbClr val="F43F5E"/>
            </a:solidFill>
            <a:prstDash val="solid"/>
          </a:ln>
        </p:spPr>
      </p:sp>
      <p:sp>
        <p:nvSpPr>
          <p:cNvPr id="13" name="Text 11"/>
          <p:cNvSpPr/>
          <p:nvPr/>
        </p:nvSpPr>
        <p:spPr>
          <a:xfrm>
            <a:off x="868680" y="1874520"/>
            <a:ext cx="2286000" cy="411480"/>
          </a:xfrm>
          <a:prstGeom prst="rect">
            <a:avLst/>
          </a:prstGeom>
          <a:noFill/>
          <a:ln/>
        </p:spPr>
        <p:txBody>
          <a:bodyPr wrap="square"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1. Quantity Overbilling</a:t>
            </a:r>
            <a:endParaRPr lang="en-US" sz="1250" dirty="0"/>
          </a:p>
        </p:txBody>
      </p:sp>
      <p:sp>
        <p:nvSpPr>
          <p:cNvPr id="14" name="Shape 12"/>
          <p:cNvSpPr/>
          <p:nvPr/>
        </p:nvSpPr>
        <p:spPr>
          <a:xfrm>
            <a:off x="868680" y="2331720"/>
            <a:ext cx="2286000" cy="320040"/>
          </a:xfrm>
          <a:prstGeom prst="roundRect">
            <a:avLst>
              <a:gd name="adj" fmla="val 22857"/>
            </a:avLst>
          </a:prstGeom>
          <a:solidFill>
            <a:srgbClr val="0F172A"/>
          </a:solidFill>
          <a:ln w="12700">
            <a:solidFill>
              <a:srgbClr val="F43F5E"/>
            </a:solidFill>
            <a:prstDash val="solid"/>
          </a:ln>
        </p:spPr>
      </p:sp>
      <p:sp>
        <p:nvSpPr>
          <p:cNvPr id="15" name="Text 13"/>
          <p:cNvSpPr/>
          <p:nvPr/>
        </p:nvSpPr>
        <p:spPr>
          <a:xfrm>
            <a:off x="868680" y="2331720"/>
            <a:ext cx="2286000" cy="320040"/>
          </a:xfrm>
          <a:prstGeom prst="rect">
            <a:avLst/>
          </a:prstGeom>
          <a:noFill/>
          <a:ln/>
        </p:spPr>
        <p:txBody>
          <a:bodyPr wrap="square" rtlCol="0" anchor="ctr"/>
          <a:lstStyle/>
          <a:p>
            <a:pPr algn="ctr" indent="0" marL="0">
              <a:buNone/>
            </a:pPr>
            <a:r>
              <a:rPr lang="en-US" sz="1000" b="1" dirty="0">
                <a:solidFill>
                  <a:srgbClr val="F43F5E"/>
                </a:solidFill>
                <a:latin typeface="Calibri" pitchFamily="34" charset="0"/>
                <a:ea typeface="Calibri" pitchFamily="34" charset="-122"/>
                <a:cs typeface="Calibri" pitchFamily="34" charset="-120"/>
              </a:rPr>
              <a:t>45% of Total Leakage</a:t>
            </a:r>
            <a:endParaRPr lang="en-US" sz="1000" dirty="0"/>
          </a:p>
        </p:txBody>
      </p:sp>
      <p:sp>
        <p:nvSpPr>
          <p:cNvPr id="16" name="Text 14"/>
          <p:cNvSpPr/>
          <p:nvPr/>
        </p:nvSpPr>
        <p:spPr>
          <a:xfrm>
            <a:off x="868680" y="2788920"/>
            <a:ext cx="2286000" cy="1691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Suppliers invoice for ordered quantities rather than delivered quantities. When warehouse dock receiving logs damaged, short, or backordered units, the AP payment loop rarely reflects the decrement.</a:t>
            </a:r>
            <a:endParaRPr lang="en-US" sz="1000" dirty="0"/>
          </a:p>
        </p:txBody>
      </p:sp>
      <p:sp>
        <p:nvSpPr>
          <p:cNvPr id="17" name="Shape 15"/>
          <p:cNvSpPr/>
          <p:nvPr/>
        </p:nvSpPr>
        <p:spPr>
          <a:xfrm>
            <a:off x="868680" y="4572000"/>
            <a:ext cx="2286000" cy="1508760"/>
          </a:xfrm>
          <a:prstGeom prst="roundRect">
            <a:avLst>
              <a:gd name="adj" fmla="val 4848"/>
            </a:avLst>
          </a:prstGeom>
          <a:solidFill>
            <a:srgbClr val="020617"/>
          </a:solidFill>
          <a:ln w="12700">
            <a:solidFill>
              <a:srgbClr val="1E293B"/>
            </a:solidFill>
            <a:prstDash val="solid"/>
          </a:ln>
        </p:spPr>
      </p:sp>
      <p:sp>
        <p:nvSpPr>
          <p:cNvPr id="18" name="Text 16"/>
          <p:cNvSpPr/>
          <p:nvPr/>
        </p:nvSpPr>
        <p:spPr>
          <a:xfrm>
            <a:off x="960120" y="4709160"/>
            <a:ext cx="2103120" cy="228600"/>
          </a:xfrm>
          <a:prstGeom prst="rect">
            <a:avLst/>
          </a:prstGeom>
          <a:noFill/>
          <a:ln/>
        </p:spPr>
        <p:txBody>
          <a:bodyPr wrap="square" rtlCol="0" anchor="t"/>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19" name="Text 17"/>
          <p:cNvSpPr/>
          <p:nvPr/>
        </p:nvSpPr>
        <p:spPr>
          <a:xfrm>
            <a:off x="960120" y="4983480"/>
            <a:ext cx="2103120" cy="100584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PO-1001: 120 units invoiced vs 100 units physically received. 20 units paid for nothing = $1,000.00 loss.</a:t>
            </a:r>
            <a:endParaRPr lang="en-US" sz="950" dirty="0"/>
          </a:p>
        </p:txBody>
      </p:sp>
      <p:sp>
        <p:nvSpPr>
          <p:cNvPr id="20" name="Shape 18"/>
          <p:cNvSpPr/>
          <p:nvPr/>
        </p:nvSpPr>
        <p:spPr>
          <a:xfrm>
            <a:off x="3456432" y="1691640"/>
            <a:ext cx="2560320" cy="4526280"/>
          </a:xfrm>
          <a:prstGeom prst="roundRect">
            <a:avLst>
              <a:gd name="adj" fmla="val 4286"/>
            </a:avLst>
          </a:prstGeom>
          <a:solidFill>
            <a:srgbClr val="0B1120"/>
          </a:solidFill>
          <a:ln w="19050">
            <a:solidFill>
              <a:srgbClr val="F59E0B"/>
            </a:solidFill>
            <a:prstDash val="solid"/>
          </a:ln>
        </p:spPr>
      </p:sp>
      <p:sp>
        <p:nvSpPr>
          <p:cNvPr id="21" name="Text 19"/>
          <p:cNvSpPr/>
          <p:nvPr/>
        </p:nvSpPr>
        <p:spPr>
          <a:xfrm>
            <a:off x="3593592" y="1874520"/>
            <a:ext cx="2286000" cy="411480"/>
          </a:xfrm>
          <a:prstGeom prst="rect">
            <a:avLst/>
          </a:prstGeom>
          <a:noFill/>
          <a:ln/>
        </p:spPr>
        <p:txBody>
          <a:bodyPr wrap="square"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2. Contract Rate Escalation</a:t>
            </a:r>
            <a:endParaRPr lang="en-US" sz="1250" dirty="0"/>
          </a:p>
        </p:txBody>
      </p:sp>
      <p:sp>
        <p:nvSpPr>
          <p:cNvPr id="22" name="Shape 20"/>
          <p:cNvSpPr/>
          <p:nvPr/>
        </p:nvSpPr>
        <p:spPr>
          <a:xfrm>
            <a:off x="3593592" y="2331720"/>
            <a:ext cx="2286000" cy="320040"/>
          </a:xfrm>
          <a:prstGeom prst="roundRect">
            <a:avLst>
              <a:gd name="adj" fmla="val 22857"/>
            </a:avLst>
          </a:prstGeom>
          <a:solidFill>
            <a:srgbClr val="0F172A"/>
          </a:solidFill>
          <a:ln w="12700">
            <a:solidFill>
              <a:srgbClr val="F59E0B"/>
            </a:solidFill>
            <a:prstDash val="solid"/>
          </a:ln>
        </p:spPr>
      </p:sp>
      <p:sp>
        <p:nvSpPr>
          <p:cNvPr id="23" name="Text 21"/>
          <p:cNvSpPr/>
          <p:nvPr/>
        </p:nvSpPr>
        <p:spPr>
          <a:xfrm>
            <a:off x="3593592" y="2331720"/>
            <a:ext cx="2286000" cy="320040"/>
          </a:xfrm>
          <a:prstGeom prst="rect">
            <a:avLst/>
          </a:prstGeom>
          <a:noFill/>
          <a:ln/>
        </p:spPr>
        <p:txBody>
          <a:bodyPr wrap="square" rtlCol="0" anchor="ctr"/>
          <a:lstStyle/>
          <a:p>
            <a:pPr algn="ctr" indent="0" marL="0">
              <a:buNone/>
            </a:pPr>
            <a:r>
              <a:rPr lang="en-US" sz="1000" b="1" dirty="0">
                <a:solidFill>
                  <a:srgbClr val="F59E0B"/>
                </a:solidFill>
                <a:latin typeface="Calibri" pitchFamily="34" charset="0"/>
                <a:ea typeface="Calibri" pitchFamily="34" charset="-122"/>
                <a:cs typeface="Calibri" pitchFamily="34" charset="-120"/>
              </a:rPr>
              <a:t>30% of Total Leakage</a:t>
            </a:r>
            <a:endParaRPr lang="en-US" sz="1000" dirty="0"/>
          </a:p>
        </p:txBody>
      </p:sp>
      <p:sp>
        <p:nvSpPr>
          <p:cNvPr id="24" name="Text 22"/>
          <p:cNvSpPr/>
          <p:nvPr/>
        </p:nvSpPr>
        <p:spPr>
          <a:xfrm>
            <a:off x="3593592" y="2788920"/>
            <a:ext cx="2286000" cy="1691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Suppliers quietly bill standard catalogue prices instead of negotiated master contract schedules. Over time, price creep accumulates across thousands of line items unnoticed by AP clerks.</a:t>
            </a:r>
            <a:endParaRPr lang="en-US" sz="1000" dirty="0"/>
          </a:p>
        </p:txBody>
      </p:sp>
      <p:sp>
        <p:nvSpPr>
          <p:cNvPr id="25" name="Shape 23"/>
          <p:cNvSpPr/>
          <p:nvPr/>
        </p:nvSpPr>
        <p:spPr>
          <a:xfrm>
            <a:off x="3593592" y="4572000"/>
            <a:ext cx="2286000" cy="1508760"/>
          </a:xfrm>
          <a:prstGeom prst="roundRect">
            <a:avLst>
              <a:gd name="adj" fmla="val 4848"/>
            </a:avLst>
          </a:prstGeom>
          <a:solidFill>
            <a:srgbClr val="020617"/>
          </a:solidFill>
          <a:ln w="12700">
            <a:solidFill>
              <a:srgbClr val="1E293B"/>
            </a:solidFill>
            <a:prstDash val="solid"/>
          </a:ln>
        </p:spPr>
      </p:sp>
      <p:sp>
        <p:nvSpPr>
          <p:cNvPr id="26" name="Text 24"/>
          <p:cNvSpPr/>
          <p:nvPr/>
        </p:nvSpPr>
        <p:spPr>
          <a:xfrm>
            <a:off x="3685032" y="4709160"/>
            <a:ext cx="2103120" cy="228600"/>
          </a:xfrm>
          <a:prstGeom prst="rect">
            <a:avLst/>
          </a:prstGeom>
          <a:noFill/>
          <a:ln/>
        </p:spPr>
        <p:txBody>
          <a:bodyPr wrap="square" rtlCol="0" anchor="t"/>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27" name="Text 25"/>
          <p:cNvSpPr/>
          <p:nvPr/>
        </p:nvSpPr>
        <p:spPr>
          <a:xfrm>
            <a:off x="3685032" y="4983480"/>
            <a:ext cx="2103120" cy="100584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PO-1001: Billed $50.00/unit vs $48.00 contract schedule cap. $2.00 rate creep on 100 units = $200.00 loss.</a:t>
            </a:r>
            <a:endParaRPr lang="en-US" sz="950" dirty="0"/>
          </a:p>
        </p:txBody>
      </p:sp>
      <p:sp>
        <p:nvSpPr>
          <p:cNvPr id="28" name="Shape 26"/>
          <p:cNvSpPr/>
          <p:nvPr/>
        </p:nvSpPr>
        <p:spPr>
          <a:xfrm>
            <a:off x="6181344" y="1691640"/>
            <a:ext cx="2560320" cy="4526280"/>
          </a:xfrm>
          <a:prstGeom prst="roundRect">
            <a:avLst>
              <a:gd name="adj" fmla="val 4286"/>
            </a:avLst>
          </a:prstGeom>
          <a:solidFill>
            <a:srgbClr val="0B1120"/>
          </a:solidFill>
          <a:ln w="19050">
            <a:solidFill>
              <a:srgbClr val="38BDF8"/>
            </a:solidFill>
            <a:prstDash val="solid"/>
          </a:ln>
        </p:spPr>
      </p:sp>
      <p:sp>
        <p:nvSpPr>
          <p:cNvPr id="29" name="Text 27"/>
          <p:cNvSpPr/>
          <p:nvPr/>
        </p:nvSpPr>
        <p:spPr>
          <a:xfrm>
            <a:off x="6318504" y="1874520"/>
            <a:ext cx="2286000" cy="411480"/>
          </a:xfrm>
          <a:prstGeom prst="rect">
            <a:avLst/>
          </a:prstGeom>
          <a:noFill/>
          <a:ln/>
        </p:spPr>
        <p:txBody>
          <a:bodyPr wrap="square"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3. Phantom &amp; Unapproved Fees</a:t>
            </a:r>
            <a:endParaRPr lang="en-US" sz="1250" dirty="0"/>
          </a:p>
        </p:txBody>
      </p:sp>
      <p:sp>
        <p:nvSpPr>
          <p:cNvPr id="30" name="Shape 28"/>
          <p:cNvSpPr/>
          <p:nvPr/>
        </p:nvSpPr>
        <p:spPr>
          <a:xfrm>
            <a:off x="6318504" y="2331720"/>
            <a:ext cx="2286000" cy="320040"/>
          </a:xfrm>
          <a:prstGeom prst="roundRect">
            <a:avLst>
              <a:gd name="adj" fmla="val 22857"/>
            </a:avLst>
          </a:prstGeom>
          <a:solidFill>
            <a:srgbClr val="0F172A"/>
          </a:solidFill>
          <a:ln w="12700">
            <a:solidFill>
              <a:srgbClr val="38BDF8"/>
            </a:solidFill>
            <a:prstDash val="solid"/>
          </a:ln>
        </p:spPr>
      </p:sp>
      <p:sp>
        <p:nvSpPr>
          <p:cNvPr id="31" name="Text 29"/>
          <p:cNvSpPr/>
          <p:nvPr/>
        </p:nvSpPr>
        <p:spPr>
          <a:xfrm>
            <a:off x="6318504" y="2331720"/>
            <a:ext cx="2286000" cy="320040"/>
          </a:xfrm>
          <a:prstGeom prst="rect">
            <a:avLst/>
          </a:prstGeom>
          <a:noFill/>
          <a:ln/>
        </p:spPr>
        <p:txBody>
          <a:bodyPr wrap="square"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15% of Total Leakage</a:t>
            </a:r>
            <a:endParaRPr lang="en-US" sz="1000" dirty="0"/>
          </a:p>
        </p:txBody>
      </p:sp>
      <p:sp>
        <p:nvSpPr>
          <p:cNvPr id="32" name="Text 30"/>
          <p:cNvSpPr/>
          <p:nvPr/>
        </p:nvSpPr>
        <p:spPr>
          <a:xfrm>
            <a:off x="6318504" y="2788920"/>
            <a:ext cx="2286000" cy="1691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Invoices add unapproved handling fees, logistics surcharges, fuel indexing, or expediting tariffs that violate master contract terms prohibiting auxiliary billing without pre-authorization.</a:t>
            </a:r>
            <a:endParaRPr lang="en-US" sz="1000" dirty="0"/>
          </a:p>
        </p:txBody>
      </p:sp>
      <p:sp>
        <p:nvSpPr>
          <p:cNvPr id="33" name="Shape 31"/>
          <p:cNvSpPr/>
          <p:nvPr/>
        </p:nvSpPr>
        <p:spPr>
          <a:xfrm>
            <a:off x="6318504" y="4572000"/>
            <a:ext cx="2286000" cy="1508760"/>
          </a:xfrm>
          <a:prstGeom prst="roundRect">
            <a:avLst>
              <a:gd name="adj" fmla="val 4848"/>
            </a:avLst>
          </a:prstGeom>
          <a:solidFill>
            <a:srgbClr val="020617"/>
          </a:solidFill>
          <a:ln w="12700">
            <a:solidFill>
              <a:srgbClr val="1E293B"/>
            </a:solidFill>
            <a:prstDash val="solid"/>
          </a:ln>
        </p:spPr>
      </p:sp>
      <p:sp>
        <p:nvSpPr>
          <p:cNvPr id="34" name="Text 32"/>
          <p:cNvSpPr/>
          <p:nvPr/>
        </p:nvSpPr>
        <p:spPr>
          <a:xfrm>
            <a:off x="6409944" y="4709160"/>
            <a:ext cx="2103120" cy="228600"/>
          </a:xfrm>
          <a:prstGeom prst="rect">
            <a:avLst/>
          </a:prstGeom>
          <a:noFill/>
          <a:ln/>
        </p:spPr>
        <p:txBody>
          <a:bodyPr wrap="square" rtlCol="0" anchor="t"/>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35" name="Text 33"/>
          <p:cNvSpPr/>
          <p:nvPr/>
        </p:nvSpPr>
        <p:spPr>
          <a:xfrm>
            <a:off x="6409944" y="4983480"/>
            <a:ext cx="2103120" cy="100584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Unapproved $150 logistics fee appended to invoice without prior written CPO authorization.</a:t>
            </a:r>
            <a:endParaRPr lang="en-US" sz="950" dirty="0"/>
          </a:p>
        </p:txBody>
      </p:sp>
      <p:sp>
        <p:nvSpPr>
          <p:cNvPr id="36" name="Shape 34"/>
          <p:cNvSpPr/>
          <p:nvPr/>
        </p:nvSpPr>
        <p:spPr>
          <a:xfrm>
            <a:off x="8906256" y="1691640"/>
            <a:ext cx="2560320" cy="4526280"/>
          </a:xfrm>
          <a:prstGeom prst="roundRect">
            <a:avLst>
              <a:gd name="adj" fmla="val 4286"/>
            </a:avLst>
          </a:prstGeom>
          <a:solidFill>
            <a:srgbClr val="0B1120"/>
          </a:solidFill>
          <a:ln w="19050">
            <a:solidFill>
              <a:srgbClr val="A855F7"/>
            </a:solidFill>
            <a:prstDash val="solid"/>
          </a:ln>
        </p:spPr>
      </p:sp>
      <p:sp>
        <p:nvSpPr>
          <p:cNvPr id="37" name="Text 35"/>
          <p:cNvSpPr/>
          <p:nvPr/>
        </p:nvSpPr>
        <p:spPr>
          <a:xfrm>
            <a:off x="9043416" y="1874520"/>
            <a:ext cx="2286000" cy="411480"/>
          </a:xfrm>
          <a:prstGeom prst="rect">
            <a:avLst/>
          </a:prstGeom>
          <a:noFill/>
          <a:ln/>
        </p:spPr>
        <p:txBody>
          <a:bodyPr wrap="square"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4. Duplicate / Stale Invoicing</a:t>
            </a:r>
            <a:endParaRPr lang="en-US" sz="1250" dirty="0"/>
          </a:p>
        </p:txBody>
      </p:sp>
      <p:sp>
        <p:nvSpPr>
          <p:cNvPr id="38" name="Shape 36"/>
          <p:cNvSpPr/>
          <p:nvPr/>
        </p:nvSpPr>
        <p:spPr>
          <a:xfrm>
            <a:off x="9043416" y="2331720"/>
            <a:ext cx="2286000" cy="320040"/>
          </a:xfrm>
          <a:prstGeom prst="roundRect">
            <a:avLst>
              <a:gd name="adj" fmla="val 22857"/>
            </a:avLst>
          </a:prstGeom>
          <a:solidFill>
            <a:srgbClr val="0F172A"/>
          </a:solidFill>
          <a:ln w="12700">
            <a:solidFill>
              <a:srgbClr val="A855F7"/>
            </a:solidFill>
            <a:prstDash val="solid"/>
          </a:ln>
        </p:spPr>
      </p:sp>
      <p:sp>
        <p:nvSpPr>
          <p:cNvPr id="39" name="Text 37"/>
          <p:cNvSpPr/>
          <p:nvPr/>
        </p:nvSpPr>
        <p:spPr>
          <a:xfrm>
            <a:off x="9043416" y="2331720"/>
            <a:ext cx="2286000" cy="320040"/>
          </a:xfrm>
          <a:prstGeom prst="rect">
            <a:avLst/>
          </a:prstGeom>
          <a:noFill/>
          <a:ln/>
        </p:spPr>
        <p:txBody>
          <a:bodyPr wrap="square" rtlCol="0" anchor="ctr"/>
          <a:lstStyle/>
          <a:p>
            <a:pPr algn="ctr" indent="0" marL="0">
              <a:buNone/>
            </a:pPr>
            <a:r>
              <a:rPr lang="en-US" sz="1000" b="1" dirty="0">
                <a:solidFill>
                  <a:srgbClr val="A855F7"/>
                </a:solidFill>
                <a:latin typeface="Calibri" pitchFamily="34" charset="0"/>
                <a:ea typeface="Calibri" pitchFamily="34" charset="-122"/>
                <a:cs typeface="Calibri" pitchFamily="34" charset="-120"/>
              </a:rPr>
              <a:t>10% of Total Leakage</a:t>
            </a:r>
            <a:endParaRPr lang="en-US" sz="1000" dirty="0"/>
          </a:p>
        </p:txBody>
      </p:sp>
      <p:sp>
        <p:nvSpPr>
          <p:cNvPr id="40" name="Text 38"/>
          <p:cNvSpPr/>
          <p:nvPr/>
        </p:nvSpPr>
        <p:spPr>
          <a:xfrm>
            <a:off x="9043416" y="2788920"/>
            <a:ext cx="2286000" cy="1691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Resubmitted invoices for previously cleared purchase orders, altered invoice numbers, or cross-entity double billing that evade simple relational uniqueness constraints.</a:t>
            </a:r>
            <a:endParaRPr lang="en-US" sz="1000" dirty="0"/>
          </a:p>
        </p:txBody>
      </p:sp>
      <p:sp>
        <p:nvSpPr>
          <p:cNvPr id="41" name="Shape 39"/>
          <p:cNvSpPr/>
          <p:nvPr/>
        </p:nvSpPr>
        <p:spPr>
          <a:xfrm>
            <a:off x="9043416" y="4572000"/>
            <a:ext cx="2286000" cy="1508760"/>
          </a:xfrm>
          <a:prstGeom prst="roundRect">
            <a:avLst>
              <a:gd name="adj" fmla="val 4848"/>
            </a:avLst>
          </a:prstGeom>
          <a:solidFill>
            <a:srgbClr val="020617"/>
          </a:solidFill>
          <a:ln w="12700">
            <a:solidFill>
              <a:srgbClr val="1E293B"/>
            </a:solidFill>
            <a:prstDash val="solid"/>
          </a:ln>
        </p:spPr>
      </p:sp>
      <p:sp>
        <p:nvSpPr>
          <p:cNvPr id="42" name="Text 40"/>
          <p:cNvSpPr/>
          <p:nvPr/>
        </p:nvSpPr>
        <p:spPr>
          <a:xfrm>
            <a:off x="9134856" y="4709160"/>
            <a:ext cx="2103120" cy="228600"/>
          </a:xfrm>
          <a:prstGeom prst="rect">
            <a:avLst/>
          </a:prstGeom>
          <a:noFill/>
          <a:ln/>
        </p:spPr>
        <p:txBody>
          <a:bodyPr wrap="square" rtlCol="0" anchor="t"/>
          <a:lstStyle/>
          <a:p>
            <a:pPr indent="0" marL="0">
              <a:buNone/>
            </a:pPr>
            <a:r>
              <a:rPr lang="en-US" sz="850" b="1" dirty="0">
                <a:solidFill>
                  <a:srgbClr val="F59E0B"/>
                </a:solidFill>
                <a:latin typeface="Calibri" pitchFamily="34" charset="0"/>
                <a:ea typeface="Calibri" pitchFamily="34" charset="-122"/>
                <a:cs typeface="Calibri" pitchFamily="34" charset="-120"/>
              </a:rPr>
              <a:t>REAL-WORLD EXAMPLE:</a:t>
            </a:r>
            <a:endParaRPr lang="en-US" sz="850" dirty="0"/>
          </a:p>
        </p:txBody>
      </p:sp>
      <p:sp>
        <p:nvSpPr>
          <p:cNvPr id="43" name="Text 41"/>
          <p:cNvSpPr/>
          <p:nvPr/>
        </p:nvSpPr>
        <p:spPr>
          <a:xfrm>
            <a:off x="9134856" y="4983480"/>
            <a:ext cx="2103120" cy="100584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Supplier resubmits invoice with suffix "-A" after 60 days, triggering double disbursement.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1. PROBLEM</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4 Enterprise Silos: Root Cause of Blind Spots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Procurement truth is fragmented across four isolated enterprise architectures.</a:t>
            </a:r>
            <a:endParaRPr lang="en-US" sz="1250" dirty="0"/>
          </a:p>
        </p:txBody>
      </p:sp>
      <p:sp>
        <p:nvSpPr>
          <p:cNvPr id="12" name="Shape 10"/>
          <p:cNvSpPr/>
          <p:nvPr/>
        </p:nvSpPr>
        <p:spPr>
          <a:xfrm>
            <a:off x="731520" y="1691640"/>
            <a:ext cx="5285232" cy="2148840"/>
          </a:xfrm>
          <a:prstGeom prst="roundRect">
            <a:avLst>
              <a:gd name="adj" fmla="val 5106"/>
            </a:avLst>
          </a:prstGeom>
          <a:solidFill>
            <a:srgbClr val="0B1120"/>
          </a:solidFill>
          <a:ln w="19050">
            <a:solidFill>
              <a:srgbClr val="38BDF8"/>
            </a:solidFill>
            <a:prstDash val="solid"/>
          </a:ln>
        </p:spPr>
      </p:sp>
      <p:sp>
        <p:nvSpPr>
          <p:cNvPr id="13" name="Text 11"/>
          <p:cNvSpPr/>
          <p:nvPr/>
        </p:nvSpPr>
        <p:spPr>
          <a:xfrm>
            <a:off x="914400" y="1828800"/>
            <a:ext cx="914400" cy="27432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SILO A</a:t>
            </a:r>
            <a:endParaRPr lang="en-US" sz="1000" dirty="0"/>
          </a:p>
        </p:txBody>
      </p:sp>
      <p:sp>
        <p:nvSpPr>
          <p:cNvPr id="14" name="Text 12"/>
          <p:cNvSpPr/>
          <p:nvPr/>
        </p:nvSpPr>
        <p:spPr>
          <a:xfrm>
            <a:off x="1828800" y="1828800"/>
            <a:ext cx="393192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SAP ERP Purchase Orders</a:t>
            </a:r>
            <a:endParaRPr lang="en-US" sz="1300" dirty="0"/>
          </a:p>
        </p:txBody>
      </p:sp>
      <p:sp>
        <p:nvSpPr>
          <p:cNvPr id="15" name="Text 13"/>
          <p:cNvSpPr/>
          <p:nvPr/>
        </p:nvSpPr>
        <p:spPr>
          <a:xfrm>
            <a:off x="914400" y="2103120"/>
            <a:ext cx="4846320" cy="228600"/>
          </a:xfrm>
          <a:prstGeom prst="rect">
            <a:avLst/>
          </a:prstGeom>
          <a:noFill/>
          <a:ln/>
        </p:spPr>
        <p:txBody>
          <a:bodyPr wrap="square" rtlCol="0" anchor="t"/>
          <a:lstStyle/>
          <a:p>
            <a:pPr indent="0" marL="0">
              <a:buNone/>
            </a:pPr>
            <a:r>
              <a:rPr lang="en-US" sz="950" b="1" dirty="0">
                <a:solidFill>
                  <a:srgbClr val="38BDF8"/>
                </a:solidFill>
                <a:latin typeface="Calibri" pitchFamily="34" charset="0"/>
                <a:ea typeface="Calibri" pitchFamily="34" charset="-122"/>
                <a:cs typeface="Calibri" pitchFamily="34" charset="-120"/>
              </a:rPr>
              <a:t>Role: Commercial Intent | Format: Relational SQL / RFC / BAPI</a:t>
            </a:r>
            <a:endParaRPr lang="en-US" sz="950" dirty="0"/>
          </a:p>
        </p:txBody>
      </p:sp>
      <p:sp>
        <p:nvSpPr>
          <p:cNvPr id="16" name="Text 14"/>
          <p:cNvSpPr/>
          <p:nvPr/>
        </p:nvSpPr>
        <p:spPr>
          <a:xfrm>
            <a:off x="914400" y="2377440"/>
            <a:ext cx="4846320" cy="41148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Key Data: PO Number, Line Items, Authorized Quantities, Target Sourcing Vendor</a:t>
            </a:r>
            <a:endParaRPr lang="en-US" sz="950" dirty="0"/>
          </a:p>
        </p:txBody>
      </p:sp>
      <p:sp>
        <p:nvSpPr>
          <p:cNvPr id="17" name="Text 15"/>
          <p:cNvSpPr/>
          <p:nvPr/>
        </p:nvSpPr>
        <p:spPr>
          <a:xfrm>
            <a:off x="914400" y="2834640"/>
            <a:ext cx="4846320" cy="86868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Systemic Friction: Establishes initial purchase permission, but possesses zero real-time knowledge of what the warehouse actually unloads at the receiving dock.</a:t>
            </a:r>
            <a:endParaRPr lang="en-US" sz="950" dirty="0"/>
          </a:p>
        </p:txBody>
      </p:sp>
      <p:sp>
        <p:nvSpPr>
          <p:cNvPr id="18" name="Shape 16"/>
          <p:cNvSpPr/>
          <p:nvPr/>
        </p:nvSpPr>
        <p:spPr>
          <a:xfrm>
            <a:off x="6172200" y="1691640"/>
            <a:ext cx="5285232" cy="2148840"/>
          </a:xfrm>
          <a:prstGeom prst="roundRect">
            <a:avLst>
              <a:gd name="adj" fmla="val 5106"/>
            </a:avLst>
          </a:prstGeom>
          <a:solidFill>
            <a:srgbClr val="0B1120"/>
          </a:solidFill>
          <a:ln w="19050">
            <a:solidFill>
              <a:srgbClr val="F59E0B"/>
            </a:solidFill>
            <a:prstDash val="solid"/>
          </a:ln>
        </p:spPr>
      </p:sp>
      <p:sp>
        <p:nvSpPr>
          <p:cNvPr id="19" name="Text 17"/>
          <p:cNvSpPr/>
          <p:nvPr/>
        </p:nvSpPr>
        <p:spPr>
          <a:xfrm>
            <a:off x="6355080" y="1828800"/>
            <a:ext cx="914400" cy="274320"/>
          </a:xfrm>
          <a:prstGeom prst="rect">
            <a:avLst/>
          </a:prstGeom>
          <a:noFill/>
          <a:ln/>
        </p:spPr>
        <p:txBody>
          <a:bodyPr wrap="square" rtlCol="0" anchor="t"/>
          <a:lstStyle/>
          <a:p>
            <a:pPr indent="0" marL="0">
              <a:buNone/>
            </a:pPr>
            <a:r>
              <a:rPr lang="en-US" sz="1000" b="1" dirty="0">
                <a:solidFill>
                  <a:srgbClr val="F59E0B"/>
                </a:solidFill>
                <a:latin typeface="Calibri" pitchFamily="34" charset="0"/>
                <a:ea typeface="Calibri" pitchFamily="34" charset="-122"/>
                <a:cs typeface="Calibri" pitchFamily="34" charset="-120"/>
              </a:rPr>
              <a:t>SILO B</a:t>
            </a:r>
            <a:endParaRPr lang="en-US" sz="1000" dirty="0"/>
          </a:p>
        </p:txBody>
      </p:sp>
      <p:sp>
        <p:nvSpPr>
          <p:cNvPr id="20" name="Text 18"/>
          <p:cNvSpPr/>
          <p:nvPr/>
        </p:nvSpPr>
        <p:spPr>
          <a:xfrm>
            <a:off x="7269480" y="1828800"/>
            <a:ext cx="393192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Warehouse WMS Logistics</a:t>
            </a:r>
            <a:endParaRPr lang="en-US" sz="1300" dirty="0"/>
          </a:p>
        </p:txBody>
      </p:sp>
      <p:sp>
        <p:nvSpPr>
          <p:cNvPr id="21" name="Text 19"/>
          <p:cNvSpPr/>
          <p:nvPr/>
        </p:nvSpPr>
        <p:spPr>
          <a:xfrm>
            <a:off x="6355080" y="2103120"/>
            <a:ext cx="4846320" cy="228600"/>
          </a:xfrm>
          <a:prstGeom prst="rect">
            <a:avLst/>
          </a:prstGeom>
          <a:noFill/>
          <a:ln/>
        </p:spPr>
        <p:txBody>
          <a:bodyPr wrap="square" rtlCol="0" anchor="t"/>
          <a:lstStyle/>
          <a:p>
            <a:pPr indent="0" marL="0">
              <a:buNone/>
            </a:pPr>
            <a:r>
              <a:rPr lang="en-US" sz="950" b="1" dirty="0">
                <a:solidFill>
                  <a:srgbClr val="F59E0B"/>
                </a:solidFill>
                <a:latin typeface="Calibri" pitchFamily="34" charset="0"/>
                <a:ea typeface="Calibri" pitchFamily="34" charset="-122"/>
                <a:cs typeface="Calibri" pitchFamily="34" charset="-120"/>
              </a:rPr>
              <a:t>Role: Physical Ground Truth | Format: Dock Manifests / EDI 856 / CSV</a:t>
            </a:r>
            <a:endParaRPr lang="en-US" sz="950" dirty="0"/>
          </a:p>
        </p:txBody>
      </p:sp>
      <p:sp>
        <p:nvSpPr>
          <p:cNvPr id="22" name="Text 20"/>
          <p:cNvSpPr/>
          <p:nvPr/>
        </p:nvSpPr>
        <p:spPr>
          <a:xfrm>
            <a:off x="6355080" y="2377440"/>
            <a:ext cx="4846320" cy="41148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Key Data: Delivery Notes, Packing Slips, Damaged Unit Decrements, Serialized Dock Scans</a:t>
            </a:r>
            <a:endParaRPr lang="en-US" sz="950" dirty="0"/>
          </a:p>
        </p:txBody>
      </p:sp>
      <p:sp>
        <p:nvSpPr>
          <p:cNvPr id="23" name="Text 21"/>
          <p:cNvSpPr/>
          <p:nvPr/>
        </p:nvSpPr>
        <p:spPr>
          <a:xfrm>
            <a:off x="6355080" y="2834640"/>
            <a:ext cx="4846320" cy="86868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Systemic Friction: Maintained by physical logistics teams in isolated warehouse databases. Discrepancies and damaged goods notes rarely propagate back to finance.</a:t>
            </a:r>
            <a:endParaRPr lang="en-US" sz="950" dirty="0"/>
          </a:p>
        </p:txBody>
      </p:sp>
      <p:sp>
        <p:nvSpPr>
          <p:cNvPr id="24" name="Shape 22"/>
          <p:cNvSpPr/>
          <p:nvPr/>
        </p:nvSpPr>
        <p:spPr>
          <a:xfrm>
            <a:off x="731520" y="3931920"/>
            <a:ext cx="5285232" cy="2148840"/>
          </a:xfrm>
          <a:prstGeom prst="roundRect">
            <a:avLst>
              <a:gd name="adj" fmla="val 5106"/>
            </a:avLst>
          </a:prstGeom>
          <a:solidFill>
            <a:srgbClr val="0B1120"/>
          </a:solidFill>
          <a:ln w="19050">
            <a:solidFill>
              <a:srgbClr val="F43F5E"/>
            </a:solidFill>
            <a:prstDash val="solid"/>
          </a:ln>
        </p:spPr>
      </p:sp>
      <p:sp>
        <p:nvSpPr>
          <p:cNvPr id="25" name="Text 23"/>
          <p:cNvSpPr/>
          <p:nvPr/>
        </p:nvSpPr>
        <p:spPr>
          <a:xfrm>
            <a:off x="914400" y="4069080"/>
            <a:ext cx="914400" cy="274320"/>
          </a:xfrm>
          <a:prstGeom prst="rect">
            <a:avLst/>
          </a:prstGeom>
          <a:noFill/>
          <a:ln/>
        </p:spPr>
        <p:txBody>
          <a:bodyPr wrap="square" rtlCol="0" anchor="t"/>
          <a:lstStyle/>
          <a:p>
            <a:pPr indent="0" marL="0">
              <a:buNone/>
            </a:pPr>
            <a:r>
              <a:rPr lang="en-US" sz="1000" b="1" dirty="0">
                <a:solidFill>
                  <a:srgbClr val="F43F5E"/>
                </a:solidFill>
                <a:latin typeface="Calibri" pitchFamily="34" charset="0"/>
                <a:ea typeface="Calibri" pitchFamily="34" charset="-122"/>
                <a:cs typeface="Calibri" pitchFamily="34" charset="-120"/>
              </a:rPr>
              <a:t>SILO C</a:t>
            </a:r>
            <a:endParaRPr lang="en-US" sz="1000" dirty="0"/>
          </a:p>
        </p:txBody>
      </p:sp>
      <p:sp>
        <p:nvSpPr>
          <p:cNvPr id="26" name="Text 24"/>
          <p:cNvSpPr/>
          <p:nvPr/>
        </p:nvSpPr>
        <p:spPr>
          <a:xfrm>
            <a:off x="1828800" y="4069080"/>
            <a:ext cx="393192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Accounts Payable Invoices</a:t>
            </a:r>
            <a:endParaRPr lang="en-US" sz="1300" dirty="0"/>
          </a:p>
        </p:txBody>
      </p:sp>
      <p:sp>
        <p:nvSpPr>
          <p:cNvPr id="27" name="Text 25"/>
          <p:cNvSpPr/>
          <p:nvPr/>
        </p:nvSpPr>
        <p:spPr>
          <a:xfrm>
            <a:off x="914400" y="4343400"/>
            <a:ext cx="4846320" cy="228600"/>
          </a:xfrm>
          <a:prstGeom prst="rect">
            <a:avLst/>
          </a:prstGeom>
          <a:noFill/>
          <a:ln/>
        </p:spPr>
        <p:txBody>
          <a:bodyPr wrap="square" rtlCol="0" anchor="t"/>
          <a:lstStyle/>
          <a:p>
            <a:pPr indent="0" marL="0">
              <a:buNone/>
            </a:pPr>
            <a:r>
              <a:rPr lang="en-US" sz="950" b="1" dirty="0">
                <a:solidFill>
                  <a:srgbClr val="F43F5E"/>
                </a:solidFill>
                <a:latin typeface="Calibri" pitchFamily="34" charset="0"/>
                <a:ea typeface="Calibri" pitchFamily="34" charset="-122"/>
                <a:cs typeface="Calibri" pitchFamily="34" charset="-120"/>
              </a:rPr>
              <a:t>Role: Vendor Payment Demand | Format: PDF OCR / Coupa / EDI 810</a:t>
            </a:r>
            <a:endParaRPr lang="en-US" sz="950" dirty="0"/>
          </a:p>
        </p:txBody>
      </p:sp>
      <p:sp>
        <p:nvSpPr>
          <p:cNvPr id="28" name="Text 26"/>
          <p:cNvSpPr/>
          <p:nvPr/>
        </p:nvSpPr>
        <p:spPr>
          <a:xfrm>
            <a:off x="914400" y="4617720"/>
            <a:ext cx="4846320" cy="41148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Key Data: Invoice ID, Billing Date, Billed Quantities, Unit Prices, Remittance Bank Info</a:t>
            </a:r>
            <a:endParaRPr lang="en-US" sz="950" dirty="0"/>
          </a:p>
        </p:txBody>
      </p:sp>
      <p:sp>
        <p:nvSpPr>
          <p:cNvPr id="29" name="Text 27"/>
          <p:cNvSpPr/>
          <p:nvPr/>
        </p:nvSpPr>
        <p:spPr>
          <a:xfrm>
            <a:off x="914400" y="5074920"/>
            <a:ext cx="4846320" cy="86868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Systemic Friction: AP clerks operate under heavy invoice throughput quotas. Matching is performed at header total levels rather than granular line-item unit rates.</a:t>
            </a:r>
            <a:endParaRPr lang="en-US" sz="950" dirty="0"/>
          </a:p>
        </p:txBody>
      </p:sp>
      <p:sp>
        <p:nvSpPr>
          <p:cNvPr id="30" name="Shape 28"/>
          <p:cNvSpPr/>
          <p:nvPr/>
        </p:nvSpPr>
        <p:spPr>
          <a:xfrm>
            <a:off x="6172200" y="3931920"/>
            <a:ext cx="5285232" cy="2148840"/>
          </a:xfrm>
          <a:prstGeom prst="roundRect">
            <a:avLst>
              <a:gd name="adj" fmla="val 5106"/>
            </a:avLst>
          </a:prstGeom>
          <a:solidFill>
            <a:srgbClr val="0B1120"/>
          </a:solidFill>
          <a:ln w="19050">
            <a:solidFill>
              <a:srgbClr val="A855F7"/>
            </a:solidFill>
            <a:prstDash val="solid"/>
          </a:ln>
        </p:spPr>
      </p:sp>
      <p:sp>
        <p:nvSpPr>
          <p:cNvPr id="31" name="Text 29"/>
          <p:cNvSpPr/>
          <p:nvPr/>
        </p:nvSpPr>
        <p:spPr>
          <a:xfrm>
            <a:off x="6355080" y="4069080"/>
            <a:ext cx="914400" cy="274320"/>
          </a:xfrm>
          <a:prstGeom prst="rect">
            <a:avLst/>
          </a:prstGeom>
          <a:noFill/>
          <a:ln/>
        </p:spPr>
        <p:txBody>
          <a:bodyPr wrap="square" rtlCol="0" anchor="t"/>
          <a:lstStyle/>
          <a:p>
            <a:pPr indent="0" marL="0">
              <a:buNone/>
            </a:pPr>
            <a:r>
              <a:rPr lang="en-US" sz="1000" b="1" dirty="0">
                <a:solidFill>
                  <a:srgbClr val="A855F7"/>
                </a:solidFill>
                <a:latin typeface="Calibri" pitchFamily="34" charset="0"/>
                <a:ea typeface="Calibri" pitchFamily="34" charset="-122"/>
                <a:cs typeface="Calibri" pitchFamily="34" charset="-120"/>
              </a:rPr>
              <a:t>SILO D</a:t>
            </a:r>
            <a:endParaRPr lang="en-US" sz="1000" dirty="0"/>
          </a:p>
        </p:txBody>
      </p:sp>
      <p:sp>
        <p:nvSpPr>
          <p:cNvPr id="32" name="Text 30"/>
          <p:cNvSpPr/>
          <p:nvPr/>
        </p:nvSpPr>
        <p:spPr>
          <a:xfrm>
            <a:off x="7269480" y="4069080"/>
            <a:ext cx="393192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Legal Master Contracts</a:t>
            </a:r>
            <a:endParaRPr lang="en-US" sz="1300" dirty="0"/>
          </a:p>
        </p:txBody>
      </p:sp>
      <p:sp>
        <p:nvSpPr>
          <p:cNvPr id="33" name="Text 31"/>
          <p:cNvSpPr/>
          <p:nvPr/>
        </p:nvSpPr>
        <p:spPr>
          <a:xfrm>
            <a:off x="6355080" y="4343400"/>
            <a:ext cx="4846320" cy="228600"/>
          </a:xfrm>
          <a:prstGeom prst="rect">
            <a:avLst/>
          </a:prstGeom>
          <a:noFill/>
          <a:ln/>
        </p:spPr>
        <p:txBody>
          <a:bodyPr wrap="square" rtlCol="0" anchor="t"/>
          <a:lstStyle/>
          <a:p>
            <a:pPr indent="0" marL="0">
              <a:buNone/>
            </a:pPr>
            <a:r>
              <a:rPr lang="en-US" sz="950" b="1" dirty="0">
                <a:solidFill>
                  <a:srgbClr val="A855F7"/>
                </a:solidFill>
                <a:latin typeface="Calibri" pitchFamily="34" charset="0"/>
                <a:ea typeface="Calibri" pitchFamily="34" charset="-122"/>
                <a:cs typeface="Calibri" pitchFamily="34" charset="-120"/>
              </a:rPr>
              <a:t>Role: Legal Price Ceilings | Format: DocuSign / Ironclad / Rate Schedules</a:t>
            </a:r>
            <a:endParaRPr lang="en-US" sz="950" dirty="0"/>
          </a:p>
        </p:txBody>
      </p:sp>
      <p:sp>
        <p:nvSpPr>
          <p:cNvPr id="34" name="Text 32"/>
          <p:cNvSpPr/>
          <p:nvPr/>
        </p:nvSpPr>
        <p:spPr>
          <a:xfrm>
            <a:off x="6355080" y="4617720"/>
            <a:ext cx="4846320" cy="41148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Key Data: Master Services Agreement, Tiered Volume Discounts, Fixed Price Schedules, Surcharges</a:t>
            </a:r>
            <a:endParaRPr lang="en-US" sz="950" dirty="0"/>
          </a:p>
        </p:txBody>
      </p:sp>
      <p:sp>
        <p:nvSpPr>
          <p:cNvPr id="35" name="Text 33"/>
          <p:cNvSpPr/>
          <p:nvPr/>
        </p:nvSpPr>
        <p:spPr>
          <a:xfrm>
            <a:off x="6355080" y="5074920"/>
            <a:ext cx="4846320" cy="86868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Systemic Friction: Trapped in legal repositories or unstructured PDF agreements. Almost never cross-referenced during daily accounts payable invoice disbursement runs.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1. PROBLEM</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Why Traditional 2-Way and 3-Way Matching Fails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Traditional automated matching rules leave glaring loopholes.</a:t>
            </a:r>
            <a:endParaRPr lang="en-US" sz="1250" dirty="0"/>
          </a:p>
        </p:txBody>
      </p:sp>
      <p:sp>
        <p:nvSpPr>
          <p:cNvPr id="12" name="Shape 10"/>
          <p:cNvSpPr/>
          <p:nvPr/>
        </p:nvSpPr>
        <p:spPr>
          <a:xfrm>
            <a:off x="731520" y="1691640"/>
            <a:ext cx="10725912" cy="1389888"/>
          </a:xfrm>
          <a:prstGeom prst="roundRect">
            <a:avLst>
              <a:gd name="adj" fmla="val 6579"/>
            </a:avLst>
          </a:prstGeom>
          <a:solidFill>
            <a:srgbClr val="0B1120"/>
          </a:solidFill>
          <a:ln w="19050">
            <a:solidFill>
              <a:srgbClr val="F43F5E"/>
            </a:solidFill>
            <a:prstDash val="solid"/>
          </a:ln>
        </p:spPr>
      </p:sp>
      <p:sp>
        <p:nvSpPr>
          <p:cNvPr id="13" name="Text 11"/>
          <p:cNvSpPr/>
          <p:nvPr/>
        </p:nvSpPr>
        <p:spPr>
          <a:xfrm>
            <a:off x="1005840" y="1828800"/>
            <a:ext cx="6858000" cy="320040"/>
          </a:xfrm>
          <a:prstGeom prst="rect">
            <a:avLst/>
          </a:prstGeom>
          <a:noFill/>
          <a:ln/>
        </p:spPr>
        <p:txBody>
          <a:bodyPr wrap="square"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Legacy 2-Way Matching (PO vs Invoice)</a:t>
            </a:r>
            <a:endParaRPr lang="en-US" sz="1350" dirty="0"/>
          </a:p>
        </p:txBody>
      </p:sp>
      <p:sp>
        <p:nvSpPr>
          <p:cNvPr id="14" name="Shape 12"/>
          <p:cNvSpPr/>
          <p:nvPr/>
        </p:nvSpPr>
        <p:spPr>
          <a:xfrm>
            <a:off x="8503920" y="1828800"/>
            <a:ext cx="2651760" cy="292608"/>
          </a:xfrm>
          <a:prstGeom prst="roundRect">
            <a:avLst>
              <a:gd name="adj" fmla="val 25000"/>
            </a:avLst>
          </a:prstGeom>
          <a:solidFill>
            <a:srgbClr val="0F172A"/>
          </a:solidFill>
          <a:ln w="12700">
            <a:solidFill>
              <a:srgbClr val="F43F5E"/>
            </a:solidFill>
            <a:prstDash val="solid"/>
          </a:ln>
        </p:spPr>
      </p:sp>
      <p:sp>
        <p:nvSpPr>
          <p:cNvPr id="15" name="Text 13"/>
          <p:cNvSpPr/>
          <p:nvPr/>
        </p:nvSpPr>
        <p:spPr>
          <a:xfrm>
            <a:off x="8503920" y="1828800"/>
            <a:ext cx="2651760" cy="292608"/>
          </a:xfrm>
          <a:prstGeom prst="rect">
            <a:avLst/>
          </a:prstGeom>
          <a:noFill/>
          <a:ln/>
        </p:spPr>
        <p:txBody>
          <a:bodyPr wrap="square" rtlCol="0" anchor="ctr"/>
          <a:lstStyle/>
          <a:p>
            <a:pPr algn="ctr" indent="0" marL="0">
              <a:buNone/>
            </a:pPr>
            <a:r>
              <a:rPr lang="en-US" sz="950" b="1" dirty="0">
                <a:solidFill>
                  <a:srgbClr val="F43F5E"/>
                </a:solidFill>
                <a:latin typeface="Calibri" pitchFamily="34" charset="0"/>
                <a:ea typeface="Calibri" pitchFamily="34" charset="-122"/>
                <a:cs typeface="Calibri" pitchFamily="34" charset="-120"/>
              </a:rPr>
              <a:t>CRITICAL FLAWS</a:t>
            </a:r>
            <a:endParaRPr lang="en-US" sz="950" dirty="0"/>
          </a:p>
        </p:txBody>
      </p:sp>
      <p:sp>
        <p:nvSpPr>
          <p:cNvPr id="16" name="Text 14"/>
          <p:cNvSpPr/>
          <p:nvPr/>
        </p:nvSpPr>
        <p:spPr>
          <a:xfrm>
            <a:off x="1005840" y="2167128"/>
            <a:ext cx="10149840" cy="8229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 Only checks if Invoice total matches the original Purchase Order total.</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Completely ignores physical warehouse delivery receipts (DN-045).</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Pays 100% of the invoice even if 50% of goods were damaged or unreceived.</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$1,000.00 quantity overbilling on PO-1001 passes completely undetected.</a:t>
            </a:r>
            <a:endParaRPr lang="en-US" sz="1000" dirty="0"/>
          </a:p>
        </p:txBody>
      </p:sp>
      <p:sp>
        <p:nvSpPr>
          <p:cNvPr id="17" name="Shape 15"/>
          <p:cNvSpPr/>
          <p:nvPr/>
        </p:nvSpPr>
        <p:spPr>
          <a:xfrm>
            <a:off x="731520" y="3200400"/>
            <a:ext cx="10725912" cy="1389888"/>
          </a:xfrm>
          <a:prstGeom prst="roundRect">
            <a:avLst>
              <a:gd name="adj" fmla="val 6579"/>
            </a:avLst>
          </a:prstGeom>
          <a:solidFill>
            <a:srgbClr val="0B1120"/>
          </a:solidFill>
          <a:ln w="19050">
            <a:solidFill>
              <a:srgbClr val="F59E0B"/>
            </a:solidFill>
            <a:prstDash val="solid"/>
          </a:ln>
        </p:spPr>
      </p:sp>
      <p:sp>
        <p:nvSpPr>
          <p:cNvPr id="18" name="Text 16"/>
          <p:cNvSpPr/>
          <p:nvPr/>
        </p:nvSpPr>
        <p:spPr>
          <a:xfrm>
            <a:off x="1005840" y="3337560"/>
            <a:ext cx="6858000" cy="320040"/>
          </a:xfrm>
          <a:prstGeom prst="rect">
            <a:avLst/>
          </a:prstGeom>
          <a:noFill/>
          <a:ln/>
        </p:spPr>
        <p:txBody>
          <a:bodyPr wrap="square"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Legacy 3-Way Matching (PO vs Receipt vs Invoice)</a:t>
            </a:r>
            <a:endParaRPr lang="en-US" sz="1350" dirty="0"/>
          </a:p>
        </p:txBody>
      </p:sp>
      <p:sp>
        <p:nvSpPr>
          <p:cNvPr id="19" name="Shape 17"/>
          <p:cNvSpPr/>
          <p:nvPr/>
        </p:nvSpPr>
        <p:spPr>
          <a:xfrm>
            <a:off x="8503920" y="3337560"/>
            <a:ext cx="2651760" cy="292608"/>
          </a:xfrm>
          <a:prstGeom prst="roundRect">
            <a:avLst>
              <a:gd name="adj" fmla="val 25000"/>
            </a:avLst>
          </a:prstGeom>
          <a:solidFill>
            <a:srgbClr val="0F172A"/>
          </a:solidFill>
          <a:ln w="12700">
            <a:solidFill>
              <a:srgbClr val="F59E0B"/>
            </a:solidFill>
            <a:prstDash val="solid"/>
          </a:ln>
        </p:spPr>
      </p:sp>
      <p:sp>
        <p:nvSpPr>
          <p:cNvPr id="20" name="Text 18"/>
          <p:cNvSpPr/>
          <p:nvPr/>
        </p:nvSpPr>
        <p:spPr>
          <a:xfrm>
            <a:off x="8503920" y="3337560"/>
            <a:ext cx="2651760" cy="292608"/>
          </a:xfrm>
          <a:prstGeom prst="rect">
            <a:avLst/>
          </a:prstGeom>
          <a:noFill/>
          <a:ln/>
        </p:spPr>
        <p:txBody>
          <a:bodyPr wrap="square" rtlCol="0" anchor="ctr"/>
          <a:lstStyle/>
          <a:p>
            <a:pPr algn="ctr" indent="0" marL="0">
              <a:buNone/>
            </a:pPr>
            <a:r>
              <a:rPr lang="en-US" sz="950" b="1" dirty="0">
                <a:solidFill>
                  <a:srgbClr val="F59E0B"/>
                </a:solidFill>
                <a:latin typeface="Calibri" pitchFamily="34" charset="0"/>
                <a:ea typeface="Calibri" pitchFamily="34" charset="-122"/>
                <a:cs typeface="Calibri" pitchFamily="34" charset="-120"/>
              </a:rPr>
              <a:t>SUBTLE FAILURES</a:t>
            </a:r>
            <a:endParaRPr lang="en-US" sz="950" dirty="0"/>
          </a:p>
        </p:txBody>
      </p:sp>
      <p:sp>
        <p:nvSpPr>
          <p:cNvPr id="21" name="Text 19"/>
          <p:cNvSpPr/>
          <p:nvPr/>
        </p:nvSpPr>
        <p:spPr>
          <a:xfrm>
            <a:off x="1005840" y="3675888"/>
            <a:ext cx="10149840" cy="8229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 Checks header totals across PO, Receipt, and Invoice, but ignores line-item rate caps.</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Fails to cross-reference legal contract schedules ($48/unit cap).</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If supplier bills for 100 received units at $50 instead of contracted $48, 3-way match clears it.</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$200.00 contract price escalation on PO-1001 passes undetected.</a:t>
            </a:r>
            <a:endParaRPr lang="en-US" sz="1000" dirty="0"/>
          </a:p>
        </p:txBody>
      </p:sp>
      <p:sp>
        <p:nvSpPr>
          <p:cNvPr id="22" name="Shape 20"/>
          <p:cNvSpPr/>
          <p:nvPr/>
        </p:nvSpPr>
        <p:spPr>
          <a:xfrm>
            <a:off x="731520" y="4709160"/>
            <a:ext cx="10725912" cy="1389888"/>
          </a:xfrm>
          <a:prstGeom prst="roundRect">
            <a:avLst>
              <a:gd name="adj" fmla="val 6579"/>
            </a:avLst>
          </a:prstGeom>
          <a:solidFill>
            <a:srgbClr val="0B1120"/>
          </a:solidFill>
          <a:ln w="19050">
            <a:solidFill>
              <a:srgbClr val="10B981"/>
            </a:solidFill>
            <a:prstDash val="solid"/>
          </a:ln>
        </p:spPr>
      </p:sp>
      <p:sp>
        <p:nvSpPr>
          <p:cNvPr id="23" name="Text 21"/>
          <p:cNvSpPr/>
          <p:nvPr/>
        </p:nvSpPr>
        <p:spPr>
          <a:xfrm>
            <a:off x="1005840" y="4846320"/>
            <a:ext cx="6858000" cy="320040"/>
          </a:xfrm>
          <a:prstGeom prst="rect">
            <a:avLst/>
          </a:prstGeom>
          <a:noFill/>
          <a:ln/>
        </p:spPr>
        <p:txBody>
          <a:bodyPr wrap="square"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TraceBack AI 4-Way Cross-Source Audit</a:t>
            </a:r>
            <a:endParaRPr lang="en-US" sz="1350" dirty="0"/>
          </a:p>
        </p:txBody>
      </p:sp>
      <p:sp>
        <p:nvSpPr>
          <p:cNvPr id="24" name="Shape 22"/>
          <p:cNvSpPr/>
          <p:nvPr/>
        </p:nvSpPr>
        <p:spPr>
          <a:xfrm>
            <a:off x="8503920" y="4846320"/>
            <a:ext cx="2651760" cy="292608"/>
          </a:xfrm>
          <a:prstGeom prst="roundRect">
            <a:avLst>
              <a:gd name="adj" fmla="val 25000"/>
            </a:avLst>
          </a:prstGeom>
          <a:solidFill>
            <a:srgbClr val="0F172A"/>
          </a:solidFill>
          <a:ln w="12700">
            <a:solidFill>
              <a:srgbClr val="10B981"/>
            </a:solidFill>
            <a:prstDash val="solid"/>
          </a:ln>
        </p:spPr>
      </p:sp>
      <p:sp>
        <p:nvSpPr>
          <p:cNvPr id="25" name="Text 23"/>
          <p:cNvSpPr/>
          <p:nvPr/>
        </p:nvSpPr>
        <p:spPr>
          <a:xfrm>
            <a:off x="8503920" y="4846320"/>
            <a:ext cx="2651760" cy="292608"/>
          </a:xfrm>
          <a:prstGeom prst="rect">
            <a:avLst/>
          </a:prstGeom>
          <a:noFill/>
          <a:ln/>
        </p:spPr>
        <p:txBody>
          <a:bodyPr wrap="square" rtlCol="0" anchor="ctr"/>
          <a:lstStyle/>
          <a:p>
            <a:pPr algn="ctr" indent="0" marL="0">
              <a:buNone/>
            </a:pPr>
            <a:r>
              <a:rPr lang="en-US" sz="950" b="1" dirty="0">
                <a:solidFill>
                  <a:srgbClr val="10B981"/>
                </a:solidFill>
                <a:latin typeface="Calibri" pitchFamily="34" charset="0"/>
                <a:ea typeface="Calibri" pitchFamily="34" charset="-122"/>
                <a:cs typeface="Calibri" pitchFamily="34" charset="-120"/>
              </a:rPr>
              <a:t>ZERO LEAKAGE DEFENSE</a:t>
            </a:r>
            <a:endParaRPr lang="en-US" sz="950" dirty="0"/>
          </a:p>
        </p:txBody>
      </p:sp>
      <p:sp>
        <p:nvSpPr>
          <p:cNvPr id="26" name="Text 24"/>
          <p:cNvSpPr/>
          <p:nvPr/>
        </p:nvSpPr>
        <p:spPr>
          <a:xfrm>
            <a:off x="1005840" y="5184648"/>
            <a:ext cx="10149840" cy="8229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 Unifies PO, Warehouse Receipt, Invoice, and Contract Price Schedules simultaneously.</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Evaluates both quantity concordance and unit-price ceiling compliance.</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Produces exact cell coordinates {file, row, col, value} for audit defensibility.</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Result: Catches both the $1,000 quantity mismatch AND the $200 rate escalation.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38BDF8"/>
            </a:solidFill>
            <a:prstDash val="solid"/>
          </a:ln>
        </p:spPr>
      </p:sp>
      <p:sp>
        <p:nvSpPr>
          <p:cNvPr id="3" name="Shape 1"/>
          <p:cNvSpPr/>
          <p:nvPr/>
        </p:nvSpPr>
        <p:spPr>
          <a:xfrm>
            <a:off x="1188720" y="1188720"/>
            <a:ext cx="2926080" cy="347472"/>
          </a:xfrm>
          <a:prstGeom prst="roundRect">
            <a:avLst>
              <a:gd name="adj" fmla="val 50000"/>
            </a:avLst>
          </a:prstGeom>
          <a:solidFill>
            <a:srgbClr val="1E1B4B"/>
          </a:solidFill>
          <a:ln w="19050">
            <a:solidFill>
              <a:srgbClr val="38BDF8"/>
            </a:solidFill>
            <a:prstDash val="solid"/>
          </a:ln>
        </p:spPr>
      </p:sp>
      <p:sp>
        <p:nvSpPr>
          <p:cNvPr id="4" name="Text 2"/>
          <p:cNvSpPr/>
          <p:nvPr/>
        </p:nvSpPr>
        <p:spPr>
          <a:xfrm>
            <a:off x="1188720" y="1188720"/>
            <a:ext cx="2926080" cy="347472"/>
          </a:xfrm>
          <a:prstGeom prst="rect">
            <a:avLst/>
          </a:prstGeom>
          <a:noFill/>
          <a:ln/>
        </p:spPr>
        <p:txBody>
          <a:bodyPr wrap="square"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SECTION 02 / 05</a:t>
            </a:r>
            <a:endParaRPr lang="en-US" sz="1100" dirty="0"/>
          </a:p>
        </p:txBody>
      </p:sp>
      <p:sp>
        <p:nvSpPr>
          <p:cNvPr id="5" name="Text 3"/>
          <p:cNvSpPr/>
          <p:nvPr/>
        </p:nvSpPr>
        <p:spPr>
          <a:xfrm>
            <a:off x="1188720" y="1691640"/>
            <a:ext cx="978408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Enterprise User Personas &amp; Stakeholders</a:t>
            </a:r>
            <a:endParaRPr lang="en-US" sz="3600" dirty="0"/>
          </a:p>
        </p:txBody>
      </p:sp>
      <p:sp>
        <p:nvSpPr>
          <p:cNvPr id="6" name="Text 4"/>
          <p:cNvSpPr/>
          <p:nvPr/>
        </p:nvSpPr>
        <p:spPr>
          <a:xfrm>
            <a:off x="1188720" y="2514600"/>
            <a:ext cx="9784080" cy="457200"/>
          </a:xfrm>
          <a:prstGeom prst="rect">
            <a:avLst/>
          </a:prstGeom>
          <a:noFill/>
          <a:ln/>
        </p:spPr>
        <p:txBody>
          <a:bodyPr wrap="square" rtlCol="0" anchor="t"/>
          <a:lstStyle/>
          <a:p>
            <a:pPr indent="0" marL="0">
              <a:buNone/>
            </a:pPr>
            <a:r>
              <a:rPr lang="en-US" sz="1400" dirty="0">
                <a:solidFill>
                  <a:srgbClr val="CBD5E1"/>
                </a:solidFill>
                <a:latin typeface="Calibri" pitchFamily="34" charset="0"/>
                <a:ea typeface="Calibri" pitchFamily="34" charset="-122"/>
                <a:cs typeface="Calibri" pitchFamily="34" charset="-120"/>
              </a:rPr>
              <a:t>Aligning incentives across procurement, internal audit, accounts payable, and supply chain operations.</a:t>
            </a:r>
            <a:endParaRPr lang="en-US" sz="1400" dirty="0"/>
          </a:p>
        </p:txBody>
      </p:sp>
      <p:sp>
        <p:nvSpPr>
          <p:cNvPr id="7" name="Shape 5"/>
          <p:cNvSpPr/>
          <p:nvPr/>
        </p:nvSpPr>
        <p:spPr>
          <a:xfrm>
            <a:off x="1188720" y="3200400"/>
            <a:ext cx="3108960" cy="2560320"/>
          </a:xfrm>
          <a:prstGeom prst="roundRect">
            <a:avLst>
              <a:gd name="adj" fmla="val 4286"/>
            </a:avLst>
          </a:prstGeom>
          <a:solidFill>
            <a:srgbClr val="0F172A"/>
          </a:solidFill>
          <a:ln w="15240">
            <a:solidFill>
              <a:srgbClr val="1E293B"/>
            </a:solidFill>
            <a:prstDash val="solid"/>
          </a:ln>
        </p:spPr>
      </p:sp>
      <p:sp>
        <p:nvSpPr>
          <p:cNvPr id="8" name="Text 6"/>
          <p:cNvSpPr/>
          <p:nvPr/>
        </p:nvSpPr>
        <p:spPr>
          <a:xfrm>
            <a:off x="1417320" y="3429000"/>
            <a:ext cx="2651760" cy="320040"/>
          </a:xfrm>
          <a:prstGeom prst="rect">
            <a:avLst/>
          </a:prstGeom>
          <a:noFill/>
          <a:ln/>
        </p:spPr>
        <p:txBody>
          <a:bodyPr wrap="square" rtlCol="0" anchor="t"/>
          <a:lstStyle/>
          <a:p>
            <a:pPr indent="0" marL="0">
              <a:buNone/>
            </a:pPr>
            <a:r>
              <a:rPr lang="en-US" sz="1600" b="1" dirty="0">
                <a:solidFill>
                  <a:srgbClr val="38BDF8"/>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141732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Strategic Procurement</a:t>
            </a:r>
            <a:endParaRPr lang="en-US" sz="1400" dirty="0"/>
          </a:p>
        </p:txBody>
      </p:sp>
      <p:sp>
        <p:nvSpPr>
          <p:cNvPr id="10" name="Text 8"/>
          <p:cNvSpPr/>
          <p:nvPr/>
        </p:nvSpPr>
        <p:spPr>
          <a:xfrm>
            <a:off x="141732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Chief Procurement Officers defending negotiated supplier discounts and enforcing contractual pricing adherence.</a:t>
            </a:r>
            <a:endParaRPr lang="en-US" sz="1100" dirty="0"/>
          </a:p>
        </p:txBody>
      </p:sp>
      <p:sp>
        <p:nvSpPr>
          <p:cNvPr id="11" name="Shape 9"/>
          <p:cNvSpPr/>
          <p:nvPr/>
        </p:nvSpPr>
        <p:spPr>
          <a:xfrm>
            <a:off x="4526280" y="3200400"/>
            <a:ext cx="3108960" cy="2560320"/>
          </a:xfrm>
          <a:prstGeom prst="roundRect">
            <a:avLst>
              <a:gd name="adj" fmla="val 4286"/>
            </a:avLst>
          </a:prstGeom>
          <a:solidFill>
            <a:srgbClr val="0F172A"/>
          </a:solidFill>
          <a:ln w="15240">
            <a:solidFill>
              <a:srgbClr val="1E293B"/>
            </a:solidFill>
            <a:prstDash val="solid"/>
          </a:ln>
        </p:spPr>
      </p:sp>
      <p:sp>
        <p:nvSpPr>
          <p:cNvPr id="12" name="Text 10"/>
          <p:cNvSpPr/>
          <p:nvPr/>
        </p:nvSpPr>
        <p:spPr>
          <a:xfrm>
            <a:off x="4754880" y="3429000"/>
            <a:ext cx="2651760" cy="320040"/>
          </a:xfrm>
          <a:prstGeom prst="rect">
            <a:avLst/>
          </a:prstGeom>
          <a:noFill/>
          <a:ln/>
        </p:spPr>
        <p:txBody>
          <a:bodyPr wrap="square" rtlCol="0" anchor="t"/>
          <a:lstStyle/>
          <a:p>
            <a:pPr indent="0" marL="0">
              <a:buNone/>
            </a:pPr>
            <a:r>
              <a:rPr lang="en-US" sz="1600" b="1" dirty="0">
                <a:solidFill>
                  <a:srgbClr val="38BDF8"/>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475488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Financial Governance</a:t>
            </a:r>
            <a:endParaRPr lang="en-US" sz="1400" dirty="0"/>
          </a:p>
        </p:txBody>
      </p:sp>
      <p:sp>
        <p:nvSpPr>
          <p:cNvPr id="14" name="Text 12"/>
          <p:cNvSpPr/>
          <p:nvPr/>
        </p:nvSpPr>
        <p:spPr>
          <a:xfrm>
            <a:off x="475488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Lead Auditors and Controllers requiring 100% census SOX compliance with zero LLM hallucination risk.</a:t>
            </a:r>
            <a:endParaRPr lang="en-US" sz="1100" dirty="0"/>
          </a:p>
        </p:txBody>
      </p:sp>
      <p:sp>
        <p:nvSpPr>
          <p:cNvPr id="15" name="Shape 13"/>
          <p:cNvSpPr/>
          <p:nvPr/>
        </p:nvSpPr>
        <p:spPr>
          <a:xfrm>
            <a:off x="7863840" y="3200400"/>
            <a:ext cx="3108960" cy="2560320"/>
          </a:xfrm>
          <a:prstGeom prst="roundRect">
            <a:avLst>
              <a:gd name="adj" fmla="val 4286"/>
            </a:avLst>
          </a:prstGeom>
          <a:solidFill>
            <a:srgbClr val="0F172A"/>
          </a:solidFill>
          <a:ln w="15240">
            <a:solidFill>
              <a:srgbClr val="1E293B"/>
            </a:solidFill>
            <a:prstDash val="solid"/>
          </a:ln>
        </p:spPr>
      </p:sp>
      <p:sp>
        <p:nvSpPr>
          <p:cNvPr id="16" name="Text 14"/>
          <p:cNvSpPr/>
          <p:nvPr/>
        </p:nvSpPr>
        <p:spPr>
          <a:xfrm>
            <a:off x="8092440" y="3429000"/>
            <a:ext cx="2651760" cy="320040"/>
          </a:xfrm>
          <a:prstGeom prst="rect">
            <a:avLst/>
          </a:prstGeom>
          <a:noFill/>
          <a:ln/>
        </p:spPr>
        <p:txBody>
          <a:bodyPr wrap="square" rtlCol="0" anchor="t"/>
          <a:lstStyle/>
          <a:p>
            <a:pPr indent="0" marL="0">
              <a:buNone/>
            </a:pPr>
            <a:r>
              <a:rPr lang="en-US" sz="1600" b="1" dirty="0">
                <a:solidFill>
                  <a:srgbClr val="38BDF8"/>
                </a:solidFill>
                <a:latin typeface="Calibri" pitchFamily="34" charset="0"/>
                <a:ea typeface="Calibri" pitchFamily="34" charset="-122"/>
                <a:cs typeface="Calibri" pitchFamily="34" charset="-120"/>
              </a:rPr>
              <a:t>03</a:t>
            </a:r>
            <a:endParaRPr lang="en-US" sz="1600" dirty="0"/>
          </a:p>
        </p:txBody>
      </p:sp>
      <p:sp>
        <p:nvSpPr>
          <p:cNvPr id="17" name="Text 15"/>
          <p:cNvSpPr/>
          <p:nvPr/>
        </p:nvSpPr>
        <p:spPr>
          <a:xfrm>
            <a:off x="809244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Operational AP &amp; Ops</a:t>
            </a:r>
            <a:endParaRPr lang="en-US" sz="1400" dirty="0"/>
          </a:p>
        </p:txBody>
      </p:sp>
      <p:sp>
        <p:nvSpPr>
          <p:cNvPr id="18" name="Text 16"/>
          <p:cNvSpPr/>
          <p:nvPr/>
        </p:nvSpPr>
        <p:spPr>
          <a:xfrm>
            <a:off x="809244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Accounts Payable specialists and Warehouse Dock Managers eliminating manual matching backlogs.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2. USERS</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10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Executive Stakeholder Value Alignment</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How TraceBack AI aligns incentives across procurement, finance, and logistics.</a:t>
            </a:r>
            <a:endParaRPr lang="en-US" sz="1250" dirty="0"/>
          </a:p>
        </p:txBody>
      </p:sp>
      <p:sp>
        <p:nvSpPr>
          <p:cNvPr id="12" name="Shape 10"/>
          <p:cNvSpPr/>
          <p:nvPr/>
        </p:nvSpPr>
        <p:spPr>
          <a:xfrm>
            <a:off x="731520" y="1691640"/>
            <a:ext cx="10725912" cy="1051560"/>
          </a:xfrm>
          <a:prstGeom prst="roundRect">
            <a:avLst>
              <a:gd name="adj" fmla="val 8696"/>
            </a:avLst>
          </a:prstGeom>
          <a:solidFill>
            <a:srgbClr val="0B1120"/>
          </a:solidFill>
          <a:ln w="19050">
            <a:solidFill>
              <a:srgbClr val="38BDF8"/>
            </a:solidFill>
            <a:prstDash val="solid"/>
          </a:ln>
        </p:spPr>
      </p:sp>
      <p:sp>
        <p:nvSpPr>
          <p:cNvPr id="13" name="Text 11"/>
          <p:cNvSpPr/>
          <p:nvPr/>
        </p:nvSpPr>
        <p:spPr>
          <a:xfrm>
            <a:off x="1005840" y="1828800"/>
            <a:ext cx="292608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Chief Procurement Officer</a:t>
            </a:r>
            <a:endParaRPr lang="en-US" sz="1300" dirty="0"/>
          </a:p>
        </p:txBody>
      </p:sp>
      <p:sp>
        <p:nvSpPr>
          <p:cNvPr id="14" name="Text 12"/>
          <p:cNvSpPr/>
          <p:nvPr/>
        </p:nvSpPr>
        <p:spPr>
          <a:xfrm>
            <a:off x="1005840" y="2148840"/>
            <a:ext cx="2926080" cy="274320"/>
          </a:xfrm>
          <a:prstGeom prst="rect">
            <a:avLst/>
          </a:prstGeom>
          <a:noFill/>
          <a:ln/>
        </p:spPr>
        <p:txBody>
          <a:bodyPr wrap="square" rtlCol="0" anchor="t"/>
          <a:lstStyle/>
          <a:p>
            <a:pPr indent="0" marL="0">
              <a:buNone/>
            </a:pPr>
            <a:r>
              <a:rPr lang="en-US" sz="1000" dirty="0">
                <a:solidFill>
                  <a:srgbClr val="38BDF8"/>
                </a:solidFill>
                <a:latin typeface="Calibri" pitchFamily="34" charset="0"/>
                <a:ea typeface="Calibri" pitchFamily="34" charset="-122"/>
                <a:cs typeface="Calibri" pitchFamily="34" charset="-120"/>
              </a:rPr>
              <a:t>Contract Spend Compliance</a:t>
            </a:r>
            <a:endParaRPr lang="en-US" sz="1000" dirty="0"/>
          </a:p>
        </p:txBody>
      </p:sp>
      <p:sp>
        <p:nvSpPr>
          <p:cNvPr id="15" name="Shape 13"/>
          <p:cNvSpPr/>
          <p:nvPr/>
        </p:nvSpPr>
        <p:spPr>
          <a:xfrm>
            <a:off x="4114800" y="1920240"/>
            <a:ext cx="2011680" cy="411480"/>
          </a:xfrm>
          <a:prstGeom prst="roundRect">
            <a:avLst>
              <a:gd name="adj" fmla="val 17778"/>
            </a:avLst>
          </a:prstGeom>
          <a:solidFill>
            <a:srgbClr val="0F172A"/>
          </a:solidFill>
          <a:ln w="12700">
            <a:solidFill>
              <a:srgbClr val="38BDF8"/>
            </a:solidFill>
            <a:prstDash val="solid"/>
          </a:ln>
        </p:spPr>
      </p:sp>
      <p:sp>
        <p:nvSpPr>
          <p:cNvPr id="16" name="Text 14"/>
          <p:cNvSpPr/>
          <p:nvPr/>
        </p:nvSpPr>
        <p:spPr>
          <a:xfrm>
            <a:off x="4114800" y="1920240"/>
            <a:ext cx="2011680" cy="411480"/>
          </a:xfrm>
          <a:prstGeom prst="rect">
            <a:avLst/>
          </a:prstGeom>
          <a:noFill/>
          <a:ln/>
        </p:spPr>
        <p:txBody>
          <a:bodyPr wrap="square" rtlCol="0" anchor="ctr"/>
          <a:lstStyle/>
          <a:p>
            <a:pPr algn="ctr" indent="0" marL="0">
              <a:buNone/>
            </a:pPr>
            <a:r>
              <a:rPr lang="en-US" sz="1100" b="1" dirty="0">
                <a:solidFill>
                  <a:srgbClr val="38BDF8"/>
                </a:solidFill>
                <a:latin typeface="Calibri" pitchFamily="34" charset="0"/>
                <a:ea typeface="Calibri" pitchFamily="34" charset="-122"/>
                <a:cs typeface="Calibri" pitchFamily="34" charset="-120"/>
              </a:rPr>
              <a:t>3.2% Spend Reduction</a:t>
            </a:r>
            <a:endParaRPr lang="en-US" sz="1100" dirty="0"/>
          </a:p>
        </p:txBody>
      </p:sp>
      <p:sp>
        <p:nvSpPr>
          <p:cNvPr id="17" name="Text 15"/>
          <p:cNvSpPr/>
          <p:nvPr/>
        </p:nvSpPr>
        <p:spPr>
          <a:xfrm>
            <a:off x="6400800" y="1874520"/>
            <a:ext cx="475488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Automated contract ceiling enforcement &amp; supplier compliance scorecards.</a:t>
            </a:r>
            <a:endParaRPr lang="en-US" sz="1050" dirty="0"/>
          </a:p>
        </p:txBody>
      </p:sp>
      <p:sp>
        <p:nvSpPr>
          <p:cNvPr id="18" name="Shape 16"/>
          <p:cNvSpPr/>
          <p:nvPr/>
        </p:nvSpPr>
        <p:spPr>
          <a:xfrm>
            <a:off x="731520" y="2834640"/>
            <a:ext cx="10725912" cy="1051560"/>
          </a:xfrm>
          <a:prstGeom prst="roundRect">
            <a:avLst>
              <a:gd name="adj" fmla="val 8696"/>
            </a:avLst>
          </a:prstGeom>
          <a:solidFill>
            <a:srgbClr val="0B1120"/>
          </a:solidFill>
          <a:ln w="19050">
            <a:solidFill>
              <a:srgbClr val="10B981"/>
            </a:solidFill>
            <a:prstDash val="solid"/>
          </a:ln>
        </p:spPr>
      </p:sp>
      <p:sp>
        <p:nvSpPr>
          <p:cNvPr id="19" name="Text 17"/>
          <p:cNvSpPr/>
          <p:nvPr/>
        </p:nvSpPr>
        <p:spPr>
          <a:xfrm>
            <a:off x="1005840" y="2971800"/>
            <a:ext cx="292608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Lead Financial Auditor</a:t>
            </a:r>
            <a:endParaRPr lang="en-US" sz="1300" dirty="0"/>
          </a:p>
        </p:txBody>
      </p:sp>
      <p:sp>
        <p:nvSpPr>
          <p:cNvPr id="20" name="Text 18"/>
          <p:cNvSpPr/>
          <p:nvPr/>
        </p:nvSpPr>
        <p:spPr>
          <a:xfrm>
            <a:off x="1005840" y="3291840"/>
            <a:ext cx="2926080" cy="274320"/>
          </a:xfrm>
          <a:prstGeom prst="rect">
            <a:avLst/>
          </a:prstGeom>
          <a:noFill/>
          <a:ln/>
        </p:spPr>
        <p:txBody>
          <a:bodyPr wrap="square" rtlCol="0" anchor="t"/>
          <a:lstStyle/>
          <a:p>
            <a:pPr indent="0" marL="0">
              <a:buNone/>
            </a:pPr>
            <a:r>
              <a:rPr lang="en-US" sz="1000" dirty="0">
                <a:solidFill>
                  <a:srgbClr val="10B981"/>
                </a:solidFill>
                <a:latin typeface="Calibri" pitchFamily="34" charset="0"/>
                <a:ea typeface="Calibri" pitchFamily="34" charset="-122"/>
                <a:cs typeface="Calibri" pitchFamily="34" charset="-120"/>
              </a:rPr>
              <a:t>SOX Controls &amp; Defensibility</a:t>
            </a:r>
            <a:endParaRPr lang="en-US" sz="1000" dirty="0"/>
          </a:p>
        </p:txBody>
      </p:sp>
      <p:sp>
        <p:nvSpPr>
          <p:cNvPr id="21" name="Shape 19"/>
          <p:cNvSpPr/>
          <p:nvPr/>
        </p:nvSpPr>
        <p:spPr>
          <a:xfrm>
            <a:off x="4114800" y="3063240"/>
            <a:ext cx="2011680" cy="411480"/>
          </a:xfrm>
          <a:prstGeom prst="roundRect">
            <a:avLst>
              <a:gd name="adj" fmla="val 17778"/>
            </a:avLst>
          </a:prstGeom>
          <a:solidFill>
            <a:srgbClr val="0F172A"/>
          </a:solidFill>
          <a:ln w="12700">
            <a:solidFill>
              <a:srgbClr val="10B981"/>
            </a:solidFill>
            <a:prstDash val="solid"/>
          </a:ln>
        </p:spPr>
      </p:sp>
      <p:sp>
        <p:nvSpPr>
          <p:cNvPr id="22" name="Text 20"/>
          <p:cNvSpPr/>
          <p:nvPr/>
        </p:nvSpPr>
        <p:spPr>
          <a:xfrm>
            <a:off x="4114800" y="3063240"/>
            <a:ext cx="2011680" cy="411480"/>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100% Audit Coverage</a:t>
            </a:r>
            <a:endParaRPr lang="en-US" sz="1100" dirty="0"/>
          </a:p>
        </p:txBody>
      </p:sp>
      <p:sp>
        <p:nvSpPr>
          <p:cNvPr id="23" name="Text 21"/>
          <p:cNvSpPr/>
          <p:nvPr/>
        </p:nvSpPr>
        <p:spPr>
          <a:xfrm>
            <a:off x="6400800" y="3017520"/>
            <a:ext cx="475488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Deterministic cell-level proof eliminating sample-based audit risk.</a:t>
            </a:r>
            <a:endParaRPr lang="en-US" sz="1050" dirty="0"/>
          </a:p>
        </p:txBody>
      </p:sp>
      <p:sp>
        <p:nvSpPr>
          <p:cNvPr id="24" name="Shape 22"/>
          <p:cNvSpPr/>
          <p:nvPr/>
        </p:nvSpPr>
        <p:spPr>
          <a:xfrm>
            <a:off x="731520" y="3977640"/>
            <a:ext cx="10725912" cy="1051560"/>
          </a:xfrm>
          <a:prstGeom prst="roundRect">
            <a:avLst>
              <a:gd name="adj" fmla="val 8696"/>
            </a:avLst>
          </a:prstGeom>
          <a:solidFill>
            <a:srgbClr val="0B1120"/>
          </a:solidFill>
          <a:ln w="19050">
            <a:solidFill>
              <a:srgbClr val="F59E0B"/>
            </a:solidFill>
            <a:prstDash val="solid"/>
          </a:ln>
        </p:spPr>
      </p:sp>
      <p:sp>
        <p:nvSpPr>
          <p:cNvPr id="25" name="Text 23"/>
          <p:cNvSpPr/>
          <p:nvPr/>
        </p:nvSpPr>
        <p:spPr>
          <a:xfrm>
            <a:off x="1005840" y="4114800"/>
            <a:ext cx="292608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Accounts Payable Controller</a:t>
            </a:r>
            <a:endParaRPr lang="en-US" sz="1300" dirty="0"/>
          </a:p>
        </p:txBody>
      </p:sp>
      <p:sp>
        <p:nvSpPr>
          <p:cNvPr id="26" name="Text 24"/>
          <p:cNvSpPr/>
          <p:nvPr/>
        </p:nvSpPr>
        <p:spPr>
          <a:xfrm>
            <a:off x="1005840" y="4434840"/>
            <a:ext cx="2926080" cy="274320"/>
          </a:xfrm>
          <a:prstGeom prst="rect">
            <a:avLst/>
          </a:prstGeom>
          <a:noFill/>
          <a:ln/>
        </p:spPr>
        <p:txBody>
          <a:bodyPr wrap="square" rtlCol="0" anchor="t"/>
          <a:lstStyle/>
          <a:p>
            <a:pPr indent="0" marL="0">
              <a:buNone/>
            </a:pPr>
            <a:r>
              <a:rPr lang="en-US" sz="1000" dirty="0">
                <a:solidFill>
                  <a:srgbClr val="F59E0B"/>
                </a:solidFill>
                <a:latin typeface="Calibri" pitchFamily="34" charset="0"/>
                <a:ea typeface="Calibri" pitchFamily="34" charset="-122"/>
                <a:cs typeface="Calibri" pitchFamily="34" charset="-120"/>
              </a:rPr>
              <a:t>Operational Throughput</a:t>
            </a:r>
            <a:endParaRPr lang="en-US" sz="1000" dirty="0"/>
          </a:p>
        </p:txBody>
      </p:sp>
      <p:sp>
        <p:nvSpPr>
          <p:cNvPr id="27" name="Shape 25"/>
          <p:cNvSpPr/>
          <p:nvPr/>
        </p:nvSpPr>
        <p:spPr>
          <a:xfrm>
            <a:off x="4114800" y="4206240"/>
            <a:ext cx="2011680" cy="411480"/>
          </a:xfrm>
          <a:prstGeom prst="roundRect">
            <a:avLst>
              <a:gd name="adj" fmla="val 17778"/>
            </a:avLst>
          </a:prstGeom>
          <a:solidFill>
            <a:srgbClr val="0F172A"/>
          </a:solidFill>
          <a:ln w="12700">
            <a:solidFill>
              <a:srgbClr val="F59E0B"/>
            </a:solidFill>
            <a:prstDash val="solid"/>
          </a:ln>
        </p:spPr>
      </p:sp>
      <p:sp>
        <p:nvSpPr>
          <p:cNvPr id="28" name="Text 26"/>
          <p:cNvSpPr/>
          <p:nvPr/>
        </p:nvSpPr>
        <p:spPr>
          <a:xfrm>
            <a:off x="4114800" y="4206240"/>
            <a:ext cx="2011680" cy="411480"/>
          </a:xfrm>
          <a:prstGeom prst="rect">
            <a:avLst/>
          </a:prstGeom>
          <a:noFill/>
          <a:ln/>
        </p:spPr>
        <p:txBody>
          <a:bodyPr wrap="square"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80% Manual Effort Cut</a:t>
            </a:r>
            <a:endParaRPr lang="en-US" sz="1100" dirty="0"/>
          </a:p>
        </p:txBody>
      </p:sp>
      <p:sp>
        <p:nvSpPr>
          <p:cNvPr id="29" name="Text 27"/>
          <p:cNvSpPr/>
          <p:nvPr/>
        </p:nvSpPr>
        <p:spPr>
          <a:xfrm>
            <a:off x="6400800" y="4160520"/>
            <a:ext cx="475488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Pre-payment automated dispute packets; elimination of invoice backlogs.</a:t>
            </a:r>
            <a:endParaRPr lang="en-US" sz="1050" dirty="0"/>
          </a:p>
        </p:txBody>
      </p:sp>
      <p:sp>
        <p:nvSpPr>
          <p:cNvPr id="30" name="Shape 28"/>
          <p:cNvSpPr/>
          <p:nvPr/>
        </p:nvSpPr>
        <p:spPr>
          <a:xfrm>
            <a:off x="731520" y="5120640"/>
            <a:ext cx="10725912" cy="1051560"/>
          </a:xfrm>
          <a:prstGeom prst="roundRect">
            <a:avLst>
              <a:gd name="adj" fmla="val 8696"/>
            </a:avLst>
          </a:prstGeom>
          <a:solidFill>
            <a:srgbClr val="0B1120"/>
          </a:solidFill>
          <a:ln w="19050">
            <a:solidFill>
              <a:srgbClr val="A855F7"/>
            </a:solidFill>
            <a:prstDash val="solid"/>
          </a:ln>
        </p:spPr>
      </p:sp>
      <p:sp>
        <p:nvSpPr>
          <p:cNvPr id="31" name="Text 29"/>
          <p:cNvSpPr/>
          <p:nvPr/>
        </p:nvSpPr>
        <p:spPr>
          <a:xfrm>
            <a:off x="1005840" y="5257800"/>
            <a:ext cx="292608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Supply Chain Operations VP</a:t>
            </a:r>
            <a:endParaRPr lang="en-US" sz="1300" dirty="0"/>
          </a:p>
        </p:txBody>
      </p:sp>
      <p:sp>
        <p:nvSpPr>
          <p:cNvPr id="32" name="Text 30"/>
          <p:cNvSpPr/>
          <p:nvPr/>
        </p:nvSpPr>
        <p:spPr>
          <a:xfrm>
            <a:off x="1005840" y="5577840"/>
            <a:ext cx="2926080" cy="274320"/>
          </a:xfrm>
          <a:prstGeom prst="rect">
            <a:avLst/>
          </a:prstGeom>
          <a:noFill/>
          <a:ln/>
        </p:spPr>
        <p:txBody>
          <a:bodyPr wrap="square" rtlCol="0" anchor="t"/>
          <a:lstStyle/>
          <a:p>
            <a:pPr indent="0" marL="0">
              <a:buNone/>
            </a:pPr>
            <a:r>
              <a:rPr lang="en-US" sz="1000" dirty="0">
                <a:solidFill>
                  <a:srgbClr val="A855F7"/>
                </a:solidFill>
                <a:latin typeface="Calibri" pitchFamily="34" charset="0"/>
                <a:ea typeface="Calibri" pitchFamily="34" charset="-122"/>
                <a:cs typeface="Calibri" pitchFamily="34" charset="-120"/>
              </a:rPr>
              <a:t>Receiving Dock Integrity</a:t>
            </a:r>
            <a:endParaRPr lang="en-US" sz="1000" dirty="0"/>
          </a:p>
        </p:txBody>
      </p:sp>
      <p:sp>
        <p:nvSpPr>
          <p:cNvPr id="33" name="Shape 31"/>
          <p:cNvSpPr/>
          <p:nvPr/>
        </p:nvSpPr>
        <p:spPr>
          <a:xfrm>
            <a:off x="4114800" y="5349240"/>
            <a:ext cx="2011680" cy="411480"/>
          </a:xfrm>
          <a:prstGeom prst="roundRect">
            <a:avLst>
              <a:gd name="adj" fmla="val 17778"/>
            </a:avLst>
          </a:prstGeom>
          <a:solidFill>
            <a:srgbClr val="0F172A"/>
          </a:solidFill>
          <a:ln w="12700">
            <a:solidFill>
              <a:srgbClr val="A855F7"/>
            </a:solidFill>
            <a:prstDash val="solid"/>
          </a:ln>
        </p:spPr>
      </p:sp>
      <p:sp>
        <p:nvSpPr>
          <p:cNvPr id="34" name="Text 32"/>
          <p:cNvSpPr/>
          <p:nvPr/>
        </p:nvSpPr>
        <p:spPr>
          <a:xfrm>
            <a:off x="4114800" y="5349240"/>
            <a:ext cx="2011680" cy="411480"/>
          </a:xfrm>
          <a:prstGeom prst="rect">
            <a:avLst/>
          </a:prstGeom>
          <a:noFill/>
          <a:ln/>
        </p:spPr>
        <p:txBody>
          <a:bodyPr wrap="square" rtlCol="0" anchor="ctr"/>
          <a:lstStyle/>
          <a:p>
            <a:pPr algn="ctr" indent="0" marL="0">
              <a:buNone/>
            </a:pPr>
            <a:r>
              <a:rPr lang="en-US" sz="1100" b="1" dirty="0">
                <a:solidFill>
                  <a:srgbClr val="A855F7"/>
                </a:solidFill>
                <a:latin typeface="Calibri" pitchFamily="34" charset="0"/>
                <a:ea typeface="Calibri" pitchFamily="34" charset="-122"/>
                <a:cs typeface="Calibri" pitchFamily="34" charset="-120"/>
              </a:rPr>
              <a:t>Zero Dock Leakage</a:t>
            </a:r>
            <a:endParaRPr lang="en-US" sz="1100" dirty="0"/>
          </a:p>
        </p:txBody>
      </p:sp>
      <p:sp>
        <p:nvSpPr>
          <p:cNvPr id="35" name="Text 33"/>
          <p:cNvSpPr/>
          <p:nvPr/>
        </p:nvSpPr>
        <p:spPr>
          <a:xfrm>
            <a:off x="6400800" y="5303520"/>
            <a:ext cx="4754880" cy="68580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Instant dock receipt synchronization ensuring only accepted goods are billed.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2. USERS</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11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 1: Chief Procurement Officer (CPO)</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Strategic sourcing, supplier rate enforcement, and commercial discipline.</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38BDF8"/>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38BDF8"/>
                </a:solidFill>
                <a:latin typeface="Calibri" pitchFamily="34" charset="0"/>
                <a:ea typeface="Calibri" pitchFamily="34" charset="-122"/>
                <a:cs typeface="Calibri" pitchFamily="34" charset="-120"/>
              </a:rPr>
              <a:t>CPO STRATEGIC OBJECTIVES</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Defending Negotiated Contract Terms</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Sourcing teams spend months negotiating 5% to 8% contract discounts, only to have suppliers quietly bill uncontracted list prices.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Lack of real-time visibility prevents procurement from holding suppliers accountable during quarterly business reviews (QBRs).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Supplier performance scorecards are based on subjective surveys rather than factual dispute histories.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38BDF8"/>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38BDF8"/>
                </a:solidFill>
                <a:latin typeface="Calibri" pitchFamily="34" charset="0"/>
                <a:ea typeface="Calibri" pitchFamily="34" charset="-122"/>
                <a:cs typeface="Calibri" pitchFamily="34" charset="-120"/>
              </a:rPr>
              <a:t>TRACEBACK AI DELIVERABLES FOR CPOs</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Automated Contract Enforcement</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100" dirty="0">
                <a:solidFill>
                  <a:srgbClr val="F8FAFC"/>
                </a:solidFill>
                <a:latin typeface="Calibri" pitchFamily="34" charset="0"/>
                <a:ea typeface="Calibri" pitchFamily="34" charset="-122"/>
                <a:cs typeface="Calibri" pitchFamily="34" charset="-120"/>
              </a:rPr>
              <a:t>• 100% Rate Schedule Adherence: Flags every line item exceeding master contract price caps in real time.</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Empirical Supplier Scorecards: Tracks dispute frequency, quantity variance rates, and pricing compliance by vendor.</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Sourcing Leverage: Provides hard data during contract renewals, transforming anecdotal complaints into verifiable leverage.</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Projected Impact: Recovers 1.5% to 3.2% of total addressable procurement spend directly to company operating margins.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2. USERS</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 2: Lead Financial Auditor &amp; Controller</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Sarbanes-Oxley compliance, internal controls, and audit defensibility.</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10B981"/>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10B981"/>
                </a:solidFill>
                <a:latin typeface="Calibri" pitchFamily="34" charset="0"/>
                <a:ea typeface="Calibri" pitchFamily="34" charset="-122"/>
                <a:cs typeface="Calibri" pitchFamily="34" charset="-120"/>
              </a:rPr>
              <a:t>AUDIT &amp; CONTROL CHALLENGES</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High Risk of Sample-Based Auditing</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SOX 404 Compliance Burden: Internal audit teams must verify internal controls over financial reporting without full visibility.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Hallucination &amp; Risk in Generic AI: LLMs that guess or hallucinate financial numbers cannot be used in formal accounting work.</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Lack of Provenance: When auditors challenge a vendor, they need the exact document coordinates, row numbers, and contract clause numbers.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10B981"/>
                </a:solidFill>
                <a:latin typeface="Calibri" pitchFamily="34" charset="0"/>
                <a:ea typeface="Calibri" pitchFamily="34" charset="-122"/>
                <a:cs typeface="Calibri" pitchFamily="34" charset="-120"/>
              </a:rPr>
              <a:t>TRACEBACK AI DELIVERABLES FOR AUDITORS</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Deterministic Proof &amp; Zero Hallucination</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100" dirty="0">
                <a:solidFill>
                  <a:srgbClr val="F8FAFC"/>
                </a:solidFill>
                <a:latin typeface="Calibri" pitchFamily="34" charset="0"/>
                <a:ea typeface="Calibri" pitchFamily="34" charset="-122"/>
                <a:cs typeface="Calibri" pitchFamily="34" charset="-120"/>
              </a:rPr>
              <a:t>• Immutable Cell Coordinates: Every financial claim cites {file, row, column, value} with absolute precision.</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Deterministic Corroboration: Variances are calculated via exact mathematics, not statistical approximations.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Audit Defensibility Certificate: Generates cryptographic, timestamped audit certificates verifying reconciliation integrity.</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Complete Census Audit: Eliminates sampling risk by validating 100% of purchase orders in sub-second cycles.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2. USERS</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Personas 3 &amp; 4: AP Operations &amp; Supply Chain Leads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Operational velocity, invoice clearing throughput, and receiving dock integrity.</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F59E0B"/>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F59E0B"/>
                </a:solidFill>
                <a:latin typeface="Calibri" pitchFamily="34" charset="0"/>
                <a:ea typeface="Calibri" pitchFamily="34" charset="-122"/>
                <a:cs typeface="Calibri" pitchFamily="34" charset="-120"/>
              </a:rPr>
              <a:t>PERSONA 3: AP CONTROLLER &amp; CLERKS</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High-Volume Invoice Processing</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Processing Pressure: AP teams process tens of thousands of invoices under strict 30-day payment terms.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Manual Exception Handling: Investigating a single discrepancy takes 45 to 90 minutes across emails and spreadsheets.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Automated Dispute Synthesis: TraceBack AI drafts ready-to-send dispute emails citing line items, dock notes, and contract rates.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Operational Impact: Reduces manual matching overhead by 80%, allowing staff to focus on strategic exceptions.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A855F7"/>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A855F7"/>
                </a:solidFill>
                <a:latin typeface="Calibri" pitchFamily="34" charset="0"/>
                <a:ea typeface="Calibri" pitchFamily="34" charset="-122"/>
                <a:cs typeface="Calibri" pitchFamily="34" charset="-120"/>
              </a:rPr>
              <a:t>PERSONA 4: SUPPLY CHAIN &amp; LOGISTICS LEAD</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Receiving Dock Ground Truth</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100" dirty="0">
                <a:solidFill>
                  <a:srgbClr val="F8FAFC"/>
                </a:solidFill>
                <a:latin typeface="Calibri" pitchFamily="34" charset="0"/>
                <a:ea typeface="Calibri" pitchFamily="34" charset="-122"/>
                <a:cs typeface="Calibri" pitchFamily="34" charset="-120"/>
              </a:rPr>
              <a:t>• Dock Exception Reality: Shipments arrive damaged, short, or with delayed backorders logged in local WMS receipts.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Frustration: Warehouse managers report discrepancies, but finance pays the vendor in full regardless.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Closing the Loop: TraceBack AI enforces that dock receipt quantities (e.g. DN-045) strictly govern payment authorization.</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Vendor Accountability: Suppliers cannot exploit delivery discrepancies when dock receiving logs are linked directly to invoice clearing.</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10B981"/>
            </a:solidFill>
            <a:prstDash val="solid"/>
          </a:ln>
        </p:spPr>
      </p:sp>
      <p:sp>
        <p:nvSpPr>
          <p:cNvPr id="3" name="Shape 1"/>
          <p:cNvSpPr/>
          <p:nvPr/>
        </p:nvSpPr>
        <p:spPr>
          <a:xfrm>
            <a:off x="1188720" y="1188720"/>
            <a:ext cx="2926080" cy="347472"/>
          </a:xfrm>
          <a:prstGeom prst="roundRect">
            <a:avLst>
              <a:gd name="adj" fmla="val 50000"/>
            </a:avLst>
          </a:prstGeom>
          <a:solidFill>
            <a:srgbClr val="1E1B4B"/>
          </a:solidFill>
          <a:ln w="19050">
            <a:solidFill>
              <a:srgbClr val="10B981"/>
            </a:solidFill>
            <a:prstDash val="solid"/>
          </a:ln>
        </p:spPr>
      </p:sp>
      <p:sp>
        <p:nvSpPr>
          <p:cNvPr id="4" name="Text 2"/>
          <p:cNvSpPr/>
          <p:nvPr/>
        </p:nvSpPr>
        <p:spPr>
          <a:xfrm>
            <a:off x="1188720" y="1188720"/>
            <a:ext cx="2926080" cy="347472"/>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SECTION 03 / 05</a:t>
            </a:r>
            <a:endParaRPr lang="en-US" sz="1100" dirty="0"/>
          </a:p>
        </p:txBody>
      </p:sp>
      <p:sp>
        <p:nvSpPr>
          <p:cNvPr id="5" name="Text 3"/>
          <p:cNvSpPr/>
          <p:nvPr/>
        </p:nvSpPr>
        <p:spPr>
          <a:xfrm>
            <a:off x="1188720" y="1691640"/>
            <a:ext cx="978408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Solution: Autonomous 4-Way Reconciliation</a:t>
            </a:r>
            <a:endParaRPr lang="en-US" sz="3600" dirty="0"/>
          </a:p>
        </p:txBody>
      </p:sp>
      <p:sp>
        <p:nvSpPr>
          <p:cNvPr id="6" name="Text 4"/>
          <p:cNvSpPr/>
          <p:nvPr/>
        </p:nvSpPr>
        <p:spPr>
          <a:xfrm>
            <a:off x="1188720" y="2514600"/>
            <a:ext cx="9784080" cy="457200"/>
          </a:xfrm>
          <a:prstGeom prst="rect">
            <a:avLst/>
          </a:prstGeom>
          <a:noFill/>
          <a:ln/>
        </p:spPr>
        <p:txBody>
          <a:bodyPr wrap="square" rtlCol="0" anchor="t"/>
          <a:lstStyle/>
          <a:p>
            <a:pPr indent="0" marL="0">
              <a:buNone/>
            </a:pPr>
            <a:r>
              <a:rPr lang="en-US" sz="1400" dirty="0">
                <a:solidFill>
                  <a:srgbClr val="CBD5E1"/>
                </a:solidFill>
                <a:latin typeface="Calibri" pitchFamily="34" charset="0"/>
                <a:ea typeface="Calibri" pitchFamily="34" charset="-122"/>
                <a:cs typeface="Calibri" pitchFamily="34" charset="-120"/>
              </a:rPr>
              <a:t>Zero-ETL virtualization, multi-agent reasoning, and mathematical spend recovery in sub-second cycles.</a:t>
            </a:r>
            <a:endParaRPr lang="en-US" sz="1400" dirty="0"/>
          </a:p>
        </p:txBody>
      </p:sp>
      <p:sp>
        <p:nvSpPr>
          <p:cNvPr id="7" name="Shape 5"/>
          <p:cNvSpPr/>
          <p:nvPr/>
        </p:nvSpPr>
        <p:spPr>
          <a:xfrm>
            <a:off x="1188720" y="3200400"/>
            <a:ext cx="3108960" cy="2560320"/>
          </a:xfrm>
          <a:prstGeom prst="roundRect">
            <a:avLst>
              <a:gd name="adj" fmla="val 4286"/>
            </a:avLst>
          </a:prstGeom>
          <a:solidFill>
            <a:srgbClr val="0F172A"/>
          </a:solidFill>
          <a:ln w="15240">
            <a:solidFill>
              <a:srgbClr val="1E293B"/>
            </a:solidFill>
            <a:prstDash val="solid"/>
          </a:ln>
        </p:spPr>
      </p:sp>
      <p:sp>
        <p:nvSpPr>
          <p:cNvPr id="8" name="Text 6"/>
          <p:cNvSpPr/>
          <p:nvPr/>
        </p:nvSpPr>
        <p:spPr>
          <a:xfrm>
            <a:off x="1417320" y="3429000"/>
            <a:ext cx="2651760" cy="320040"/>
          </a:xfrm>
          <a:prstGeom prst="rect">
            <a:avLst/>
          </a:prstGeom>
          <a:noFill/>
          <a:ln/>
        </p:spPr>
        <p:txBody>
          <a:bodyPr wrap="square"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141732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4-Way Virtualization</a:t>
            </a:r>
            <a:endParaRPr lang="en-US" sz="1400" dirty="0"/>
          </a:p>
        </p:txBody>
      </p:sp>
      <p:sp>
        <p:nvSpPr>
          <p:cNvPr id="10" name="Text 8"/>
          <p:cNvSpPr/>
          <p:nvPr/>
        </p:nvSpPr>
        <p:spPr>
          <a:xfrm>
            <a:off x="141732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Federated cross-source queries across SAP ERP, WMS dock notes, AP invoices, and legal contracts in 12ms.</a:t>
            </a:r>
            <a:endParaRPr lang="en-US" sz="1100" dirty="0"/>
          </a:p>
        </p:txBody>
      </p:sp>
      <p:sp>
        <p:nvSpPr>
          <p:cNvPr id="11" name="Shape 9"/>
          <p:cNvSpPr/>
          <p:nvPr/>
        </p:nvSpPr>
        <p:spPr>
          <a:xfrm>
            <a:off x="4526280" y="3200400"/>
            <a:ext cx="3108960" cy="2560320"/>
          </a:xfrm>
          <a:prstGeom prst="roundRect">
            <a:avLst>
              <a:gd name="adj" fmla="val 4286"/>
            </a:avLst>
          </a:prstGeom>
          <a:solidFill>
            <a:srgbClr val="0F172A"/>
          </a:solidFill>
          <a:ln w="15240">
            <a:solidFill>
              <a:srgbClr val="1E293B"/>
            </a:solidFill>
            <a:prstDash val="solid"/>
          </a:ln>
        </p:spPr>
      </p:sp>
      <p:sp>
        <p:nvSpPr>
          <p:cNvPr id="12" name="Text 10"/>
          <p:cNvSpPr/>
          <p:nvPr/>
        </p:nvSpPr>
        <p:spPr>
          <a:xfrm>
            <a:off x="4754880" y="3429000"/>
            <a:ext cx="2651760" cy="320040"/>
          </a:xfrm>
          <a:prstGeom prst="rect">
            <a:avLst/>
          </a:prstGeom>
          <a:noFill/>
          <a:ln/>
        </p:spPr>
        <p:txBody>
          <a:bodyPr wrap="square"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475488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Deterministic AI Proof</a:t>
            </a:r>
            <a:endParaRPr lang="en-US" sz="1400" dirty="0"/>
          </a:p>
        </p:txBody>
      </p:sp>
      <p:sp>
        <p:nvSpPr>
          <p:cNvPr id="14" name="Text 12"/>
          <p:cNvSpPr/>
          <p:nvPr/>
        </p:nvSpPr>
        <p:spPr>
          <a:xfrm>
            <a:off x="475488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Exact mathematical variance calculations with calibrated 96.5% confidence and cell-level evidence citations.</a:t>
            </a:r>
            <a:endParaRPr lang="en-US" sz="1100" dirty="0"/>
          </a:p>
        </p:txBody>
      </p:sp>
      <p:sp>
        <p:nvSpPr>
          <p:cNvPr id="15" name="Shape 13"/>
          <p:cNvSpPr/>
          <p:nvPr/>
        </p:nvSpPr>
        <p:spPr>
          <a:xfrm>
            <a:off x="7863840" y="3200400"/>
            <a:ext cx="3108960" cy="2560320"/>
          </a:xfrm>
          <a:prstGeom prst="roundRect">
            <a:avLst>
              <a:gd name="adj" fmla="val 4286"/>
            </a:avLst>
          </a:prstGeom>
          <a:solidFill>
            <a:srgbClr val="0F172A"/>
          </a:solidFill>
          <a:ln w="15240">
            <a:solidFill>
              <a:srgbClr val="1E293B"/>
            </a:solidFill>
            <a:prstDash val="solid"/>
          </a:ln>
        </p:spPr>
      </p:sp>
      <p:sp>
        <p:nvSpPr>
          <p:cNvPr id="16" name="Text 14"/>
          <p:cNvSpPr/>
          <p:nvPr/>
        </p:nvSpPr>
        <p:spPr>
          <a:xfrm>
            <a:off x="8092440" y="3429000"/>
            <a:ext cx="2651760" cy="320040"/>
          </a:xfrm>
          <a:prstGeom prst="rect">
            <a:avLst/>
          </a:prstGeom>
          <a:noFill/>
          <a:ln/>
        </p:spPr>
        <p:txBody>
          <a:bodyPr wrap="square"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03</a:t>
            </a:r>
            <a:endParaRPr lang="en-US" sz="1600" dirty="0"/>
          </a:p>
        </p:txBody>
      </p:sp>
      <p:sp>
        <p:nvSpPr>
          <p:cNvPr id="17" name="Text 15"/>
          <p:cNvSpPr/>
          <p:nvPr/>
        </p:nvSpPr>
        <p:spPr>
          <a:xfrm>
            <a:off x="809244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1-Click Dispute Recovery</a:t>
            </a:r>
            <a:endParaRPr lang="en-US" sz="1400" dirty="0"/>
          </a:p>
        </p:txBody>
      </p:sp>
      <p:sp>
        <p:nvSpPr>
          <p:cNvPr id="18" name="Text 16"/>
          <p:cNvSpPr/>
          <p:nvPr/>
        </p:nvSpPr>
        <p:spPr>
          <a:xfrm>
            <a:off x="809244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Human-in-the-loop audit approvals with automated professional supplier dispute notices and credit memo requests.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3. SOLUTION</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TraceBack AI: Solution Overview &amp; Core Capabilities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Autonomous cross-source spend defense with zero data movement.</a:t>
            </a:r>
            <a:endParaRPr lang="en-US" sz="1250" dirty="0"/>
          </a:p>
        </p:txBody>
      </p:sp>
      <p:sp>
        <p:nvSpPr>
          <p:cNvPr id="12" name="Shape 10"/>
          <p:cNvSpPr/>
          <p:nvPr/>
        </p:nvSpPr>
        <p:spPr>
          <a:xfrm>
            <a:off x="731520" y="1691640"/>
            <a:ext cx="5285232" cy="2148840"/>
          </a:xfrm>
          <a:prstGeom prst="roundRect">
            <a:avLst>
              <a:gd name="adj" fmla="val 5106"/>
            </a:avLst>
          </a:prstGeom>
          <a:solidFill>
            <a:srgbClr val="0B1120"/>
          </a:solidFill>
          <a:ln w="19050">
            <a:solidFill>
              <a:srgbClr val="38BDF8"/>
            </a:solidFill>
            <a:prstDash val="solid"/>
          </a:ln>
        </p:spPr>
      </p:sp>
      <p:sp>
        <p:nvSpPr>
          <p:cNvPr id="13" name="Text 11"/>
          <p:cNvSpPr/>
          <p:nvPr/>
        </p:nvSpPr>
        <p:spPr>
          <a:xfrm>
            <a:off x="914400" y="1828800"/>
            <a:ext cx="731520" cy="320040"/>
          </a:xfrm>
          <a:prstGeom prst="rect">
            <a:avLst/>
          </a:prstGeom>
          <a:noFill/>
          <a:ln/>
        </p:spPr>
        <p:txBody>
          <a:bodyPr wrap="square" rtlCol="0" anchor="t"/>
          <a:lstStyle/>
          <a:p>
            <a:pPr indent="0" marL="0">
              <a:buNone/>
            </a:pPr>
            <a:r>
              <a:rPr lang="en-US" sz="1600" b="1" dirty="0">
                <a:solidFill>
                  <a:srgbClr val="38BDF8"/>
                </a:solidFill>
                <a:latin typeface="Calibri" pitchFamily="34" charset="0"/>
                <a:ea typeface="Calibri" pitchFamily="34" charset="-122"/>
                <a:cs typeface="Calibri" pitchFamily="34" charset="-120"/>
              </a:rPr>
              <a:t>01</a:t>
            </a:r>
            <a:endParaRPr lang="en-US" sz="1600" dirty="0"/>
          </a:p>
        </p:txBody>
      </p:sp>
      <p:sp>
        <p:nvSpPr>
          <p:cNvPr id="14" name="Text 12"/>
          <p:cNvSpPr/>
          <p:nvPr/>
        </p:nvSpPr>
        <p:spPr>
          <a:xfrm>
            <a:off x="1645920" y="1828800"/>
            <a:ext cx="411480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Zero-ETL Virtualization</a:t>
            </a:r>
            <a:endParaRPr lang="en-US" sz="1400" dirty="0"/>
          </a:p>
        </p:txBody>
      </p:sp>
      <p:sp>
        <p:nvSpPr>
          <p:cNvPr id="15" name="Text 13"/>
          <p:cNvSpPr/>
          <p:nvPr/>
        </p:nvSpPr>
        <p:spPr>
          <a:xfrm>
            <a:off x="914400" y="2194560"/>
            <a:ext cx="4846320" cy="150876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Powered by Zetaris. Queries SAP ERP, warehouse receipts, AP invoices, and contracts where they live in 12ms without pipelines or data movement.</a:t>
            </a:r>
            <a:endParaRPr lang="en-US" sz="1100" dirty="0"/>
          </a:p>
        </p:txBody>
      </p:sp>
      <p:sp>
        <p:nvSpPr>
          <p:cNvPr id="16" name="Shape 14"/>
          <p:cNvSpPr/>
          <p:nvPr/>
        </p:nvSpPr>
        <p:spPr>
          <a:xfrm>
            <a:off x="6172200" y="1691640"/>
            <a:ext cx="5285232" cy="2148840"/>
          </a:xfrm>
          <a:prstGeom prst="roundRect">
            <a:avLst>
              <a:gd name="adj" fmla="val 5106"/>
            </a:avLst>
          </a:prstGeom>
          <a:solidFill>
            <a:srgbClr val="0B1120"/>
          </a:solidFill>
          <a:ln w="19050">
            <a:solidFill>
              <a:srgbClr val="10B981"/>
            </a:solidFill>
            <a:prstDash val="solid"/>
          </a:ln>
        </p:spPr>
      </p:sp>
      <p:sp>
        <p:nvSpPr>
          <p:cNvPr id="17" name="Text 15"/>
          <p:cNvSpPr/>
          <p:nvPr/>
        </p:nvSpPr>
        <p:spPr>
          <a:xfrm>
            <a:off x="6355080" y="1828800"/>
            <a:ext cx="731520" cy="320040"/>
          </a:xfrm>
          <a:prstGeom prst="rect">
            <a:avLst/>
          </a:prstGeom>
          <a:noFill/>
          <a:ln/>
        </p:spPr>
        <p:txBody>
          <a:bodyPr wrap="square"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02</a:t>
            </a:r>
            <a:endParaRPr lang="en-US" sz="1600" dirty="0"/>
          </a:p>
        </p:txBody>
      </p:sp>
      <p:sp>
        <p:nvSpPr>
          <p:cNvPr id="18" name="Text 16"/>
          <p:cNvSpPr/>
          <p:nvPr/>
        </p:nvSpPr>
        <p:spPr>
          <a:xfrm>
            <a:off x="7086600" y="1828800"/>
            <a:ext cx="411480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Deterministic 4-Way Matching</a:t>
            </a:r>
            <a:endParaRPr lang="en-US" sz="1400" dirty="0"/>
          </a:p>
        </p:txBody>
      </p:sp>
      <p:sp>
        <p:nvSpPr>
          <p:cNvPr id="19" name="Text 17"/>
          <p:cNvSpPr/>
          <p:nvPr/>
        </p:nvSpPr>
        <p:spPr>
          <a:xfrm>
            <a:off x="6355080" y="2194560"/>
            <a:ext cx="4846320" cy="150876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Simultaneously cross-references ordered quantities, received dock units, billed amounts, and contracted price schedules with exact math.</a:t>
            </a:r>
            <a:endParaRPr lang="en-US" sz="1100" dirty="0"/>
          </a:p>
        </p:txBody>
      </p:sp>
      <p:sp>
        <p:nvSpPr>
          <p:cNvPr id="20" name="Shape 18"/>
          <p:cNvSpPr/>
          <p:nvPr/>
        </p:nvSpPr>
        <p:spPr>
          <a:xfrm>
            <a:off x="731520" y="3931920"/>
            <a:ext cx="5285232" cy="2148840"/>
          </a:xfrm>
          <a:prstGeom prst="roundRect">
            <a:avLst>
              <a:gd name="adj" fmla="val 5106"/>
            </a:avLst>
          </a:prstGeom>
          <a:solidFill>
            <a:srgbClr val="0B1120"/>
          </a:solidFill>
          <a:ln w="19050">
            <a:solidFill>
              <a:srgbClr val="F59E0B"/>
            </a:solidFill>
            <a:prstDash val="solid"/>
          </a:ln>
        </p:spPr>
      </p:sp>
      <p:sp>
        <p:nvSpPr>
          <p:cNvPr id="21" name="Text 19"/>
          <p:cNvSpPr/>
          <p:nvPr/>
        </p:nvSpPr>
        <p:spPr>
          <a:xfrm>
            <a:off x="914400" y="4069080"/>
            <a:ext cx="731520" cy="320040"/>
          </a:xfrm>
          <a:prstGeom prst="rect">
            <a:avLst/>
          </a:prstGeom>
          <a:noFill/>
          <a:ln/>
        </p:spPr>
        <p:txBody>
          <a:bodyPr wrap="square" rtlCol="0" anchor="t"/>
          <a:lstStyle/>
          <a:p>
            <a:pPr indent="0" marL="0">
              <a:buNone/>
            </a:pPr>
            <a:r>
              <a:rPr lang="en-US" sz="1600" b="1" dirty="0">
                <a:solidFill>
                  <a:srgbClr val="F59E0B"/>
                </a:solidFill>
                <a:latin typeface="Calibri" pitchFamily="34" charset="0"/>
                <a:ea typeface="Calibri" pitchFamily="34" charset="-122"/>
                <a:cs typeface="Calibri" pitchFamily="34" charset="-120"/>
              </a:rPr>
              <a:t>03</a:t>
            </a:r>
            <a:endParaRPr lang="en-US" sz="1600" dirty="0"/>
          </a:p>
        </p:txBody>
      </p:sp>
      <p:sp>
        <p:nvSpPr>
          <p:cNvPr id="22" name="Text 20"/>
          <p:cNvSpPr/>
          <p:nvPr/>
        </p:nvSpPr>
        <p:spPr>
          <a:xfrm>
            <a:off x="1645920" y="4069080"/>
            <a:ext cx="411480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Cell-Level Evidence Index</a:t>
            </a:r>
            <a:endParaRPr lang="en-US" sz="1400" dirty="0"/>
          </a:p>
        </p:txBody>
      </p:sp>
      <p:sp>
        <p:nvSpPr>
          <p:cNvPr id="23" name="Text 21"/>
          <p:cNvSpPr/>
          <p:nvPr/>
        </p:nvSpPr>
        <p:spPr>
          <a:xfrm>
            <a:off x="914400" y="4434840"/>
            <a:ext cx="4846320" cy="150876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Every detected overcharge cites exact immutable coordinates: {file, row, column, value}, guaranteeing 100% audit defensibility.</a:t>
            </a:r>
            <a:endParaRPr lang="en-US" sz="1100" dirty="0"/>
          </a:p>
        </p:txBody>
      </p:sp>
      <p:sp>
        <p:nvSpPr>
          <p:cNvPr id="24" name="Shape 22"/>
          <p:cNvSpPr/>
          <p:nvPr/>
        </p:nvSpPr>
        <p:spPr>
          <a:xfrm>
            <a:off x="6172200" y="3931920"/>
            <a:ext cx="5285232" cy="2148840"/>
          </a:xfrm>
          <a:prstGeom prst="roundRect">
            <a:avLst>
              <a:gd name="adj" fmla="val 5106"/>
            </a:avLst>
          </a:prstGeom>
          <a:solidFill>
            <a:srgbClr val="0B1120"/>
          </a:solidFill>
          <a:ln w="19050">
            <a:solidFill>
              <a:srgbClr val="A855F7"/>
            </a:solidFill>
            <a:prstDash val="solid"/>
          </a:ln>
        </p:spPr>
      </p:sp>
      <p:sp>
        <p:nvSpPr>
          <p:cNvPr id="25" name="Text 23"/>
          <p:cNvSpPr/>
          <p:nvPr/>
        </p:nvSpPr>
        <p:spPr>
          <a:xfrm>
            <a:off x="6355080" y="4069080"/>
            <a:ext cx="731520" cy="320040"/>
          </a:xfrm>
          <a:prstGeom prst="rect">
            <a:avLst/>
          </a:prstGeom>
          <a:noFill/>
          <a:ln/>
        </p:spPr>
        <p:txBody>
          <a:bodyPr wrap="square" rtlCol="0" anchor="t"/>
          <a:lstStyle/>
          <a:p>
            <a:pPr indent="0" marL="0">
              <a:buNone/>
            </a:pPr>
            <a:r>
              <a:rPr lang="en-US" sz="1600" b="1" dirty="0">
                <a:solidFill>
                  <a:srgbClr val="A855F7"/>
                </a:solidFill>
                <a:latin typeface="Calibri" pitchFamily="34" charset="0"/>
                <a:ea typeface="Calibri" pitchFamily="34" charset="-122"/>
                <a:cs typeface="Calibri" pitchFamily="34" charset="-120"/>
              </a:rPr>
              <a:t>04</a:t>
            </a:r>
            <a:endParaRPr lang="en-US" sz="1600" dirty="0"/>
          </a:p>
        </p:txBody>
      </p:sp>
      <p:sp>
        <p:nvSpPr>
          <p:cNvPr id="26" name="Text 24"/>
          <p:cNvSpPr/>
          <p:nvPr/>
        </p:nvSpPr>
        <p:spPr>
          <a:xfrm>
            <a:off x="7086600" y="4069080"/>
            <a:ext cx="4114800" cy="32004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Human Governance &amp; Dispute Notice</a:t>
            </a:r>
            <a:endParaRPr lang="en-US" sz="1400" dirty="0"/>
          </a:p>
        </p:txBody>
      </p:sp>
      <p:sp>
        <p:nvSpPr>
          <p:cNvPr id="27" name="Text 25"/>
          <p:cNvSpPr/>
          <p:nvPr/>
        </p:nvSpPr>
        <p:spPr>
          <a:xfrm>
            <a:off x="6355080" y="4434840"/>
            <a:ext cx="4846320" cy="150876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Auditors retain 1-click claim endorsement, generating formal supplier dispute letters and cryptographic audit certificates.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3. SOLUTION</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Case Study: PO-1001 Audit Overview</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Supplier SUP-42 billed $6,000.00; TraceBack AI uncovers $1,200.00 in overcharges in 184ms.</a:t>
            </a:r>
            <a:endParaRPr lang="en-US" sz="1250" dirty="0"/>
          </a:p>
        </p:txBody>
      </p:sp>
      <p:sp>
        <p:nvSpPr>
          <p:cNvPr id="12" name="Shape 10"/>
          <p:cNvSpPr/>
          <p:nvPr/>
        </p:nvSpPr>
        <p:spPr>
          <a:xfrm>
            <a:off x="731520" y="1691640"/>
            <a:ext cx="4114800" cy="4526280"/>
          </a:xfrm>
          <a:prstGeom prst="roundRect">
            <a:avLst>
              <a:gd name="adj" fmla="val 2667"/>
            </a:avLst>
          </a:prstGeom>
          <a:solidFill>
            <a:srgbClr val="0B1120"/>
          </a:solidFill>
          <a:ln w="25400">
            <a:solidFill>
              <a:srgbClr val="F43F5E"/>
            </a:solidFill>
            <a:prstDash val="solid"/>
          </a:ln>
        </p:spPr>
      </p:sp>
      <p:sp>
        <p:nvSpPr>
          <p:cNvPr id="13" name="Text 11"/>
          <p:cNvSpPr/>
          <p:nvPr/>
        </p:nvSpPr>
        <p:spPr>
          <a:xfrm>
            <a:off x="1005840" y="1920240"/>
            <a:ext cx="3566160" cy="274320"/>
          </a:xfrm>
          <a:prstGeom prst="rect">
            <a:avLst/>
          </a:prstGeom>
          <a:noFill/>
          <a:ln/>
        </p:spPr>
        <p:txBody>
          <a:bodyPr wrap="square" rtlCol="0" anchor="t"/>
          <a:lstStyle/>
          <a:p>
            <a:pPr indent="0" marL="0">
              <a:buNone/>
            </a:pPr>
            <a:r>
              <a:rPr lang="en-US" sz="1000" b="1" dirty="0">
                <a:solidFill>
                  <a:srgbClr val="F43F5E"/>
                </a:solidFill>
                <a:latin typeface="Calibri" pitchFamily="34" charset="0"/>
                <a:ea typeface="Calibri" pitchFamily="34" charset="-122"/>
                <a:cs typeface="Calibri" pitchFamily="34" charset="-120"/>
              </a:rPr>
              <a:t>BENCHMARK ORDER DETAILS</a:t>
            </a:r>
            <a:endParaRPr lang="en-US" sz="1000" dirty="0"/>
          </a:p>
        </p:txBody>
      </p:sp>
      <p:sp>
        <p:nvSpPr>
          <p:cNvPr id="14" name="Text 12"/>
          <p:cNvSpPr/>
          <p:nvPr/>
        </p:nvSpPr>
        <p:spPr>
          <a:xfrm>
            <a:off x="1005840" y="2240280"/>
            <a:ext cx="356616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PO-1001 Investigation</a:t>
            </a:r>
            <a:endParaRPr lang="en-US" sz="1600" dirty="0"/>
          </a:p>
        </p:txBody>
      </p:sp>
      <p:sp>
        <p:nvSpPr>
          <p:cNvPr id="15" name="Text 13"/>
          <p:cNvSpPr/>
          <p:nvPr/>
        </p:nvSpPr>
        <p:spPr>
          <a:xfrm>
            <a:off x="1005840" y="2743200"/>
            <a:ext cx="356616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Purchase Order ID: PO-1001</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Supplier: Apex Industrial (SUP-42)</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Invoiced Amount: $6,000.00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Physical Received Value: $4,800.00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Recoverable Overcharge: $1,200.00 USD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Total Audit Latency: 184 milliseconds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Overall Audit Confidence: 96.5%</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Recommendation: DISPUTE &amp; WITHHOLD</a:t>
            </a:r>
            <a:endParaRPr lang="en-US" sz="1100" dirty="0"/>
          </a:p>
        </p:txBody>
      </p:sp>
      <p:sp>
        <p:nvSpPr>
          <p:cNvPr id="16" name="Shape 14"/>
          <p:cNvSpPr/>
          <p:nvPr/>
        </p:nvSpPr>
        <p:spPr>
          <a:xfrm>
            <a:off x="5120640" y="1691640"/>
            <a:ext cx="6336792" cy="4526280"/>
          </a:xfrm>
          <a:prstGeom prst="roundRect">
            <a:avLst>
              <a:gd name="adj" fmla="val 2424"/>
            </a:avLst>
          </a:prstGeom>
          <a:solidFill>
            <a:srgbClr val="0F172A"/>
          </a:solidFill>
          <a:ln w="19050">
            <a:solidFill>
              <a:srgbClr val="1E293B"/>
            </a:solidFill>
            <a:prstDash val="solid"/>
          </a:ln>
        </p:spPr>
      </p:sp>
      <p:sp>
        <p:nvSpPr>
          <p:cNvPr id="17" name="Text 15"/>
          <p:cNvSpPr/>
          <p:nvPr/>
        </p:nvSpPr>
        <p:spPr>
          <a:xfrm>
            <a:off x="5394960" y="1920240"/>
            <a:ext cx="5760720" cy="27432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4-WAY SOURCE RECONCILIATION SUMMARY:</a:t>
            </a:r>
            <a:endParaRPr lang="en-US" sz="1000" dirty="0"/>
          </a:p>
        </p:txBody>
      </p:sp>
      <p:sp>
        <p:nvSpPr>
          <p:cNvPr id="18" name="Shape 16"/>
          <p:cNvSpPr/>
          <p:nvPr/>
        </p:nvSpPr>
        <p:spPr>
          <a:xfrm>
            <a:off x="5394960" y="2240280"/>
            <a:ext cx="5788152" cy="731520"/>
          </a:xfrm>
          <a:prstGeom prst="roundRect">
            <a:avLst>
              <a:gd name="adj" fmla="val 10000"/>
            </a:avLst>
          </a:prstGeom>
          <a:solidFill>
            <a:srgbClr val="0B1120"/>
          </a:solidFill>
          <a:ln w="15240">
            <a:solidFill>
              <a:srgbClr val="38BDF8"/>
            </a:solidFill>
            <a:prstDash val="solid"/>
          </a:ln>
        </p:spPr>
      </p:sp>
      <p:sp>
        <p:nvSpPr>
          <p:cNvPr id="19" name="Text 17"/>
          <p:cNvSpPr/>
          <p:nvPr/>
        </p:nvSpPr>
        <p:spPr>
          <a:xfrm>
            <a:off x="5577840" y="2350008"/>
            <a:ext cx="3840480" cy="228600"/>
          </a:xfrm>
          <a:prstGeom prst="rect">
            <a:avLst/>
          </a:prstGeom>
          <a:noFill/>
          <a:ln/>
        </p:spPr>
        <p:txBody>
          <a:bodyPr wrap="square" rtlCol="0" anchor="t"/>
          <a:lstStyle/>
          <a:p>
            <a:pPr indent="0" marL="0">
              <a:buNone/>
            </a:pPr>
            <a:r>
              <a:rPr lang="en-US" sz="1050" b="1" dirty="0">
                <a:solidFill>
                  <a:srgbClr val="38BDF8"/>
                </a:solidFill>
                <a:latin typeface="Calibri" pitchFamily="34" charset="0"/>
                <a:ea typeface="Calibri" pitchFamily="34" charset="-122"/>
                <a:cs typeface="Calibri" pitchFamily="34" charset="-120"/>
              </a:rPr>
              <a:t>SAP ERP (purchase_orders.csv)</a:t>
            </a:r>
            <a:endParaRPr lang="en-US" sz="1050" dirty="0"/>
          </a:p>
        </p:txBody>
      </p:sp>
      <p:sp>
        <p:nvSpPr>
          <p:cNvPr id="20" name="Text 18"/>
          <p:cNvSpPr/>
          <p:nvPr/>
        </p:nvSpPr>
        <p:spPr>
          <a:xfrm>
            <a:off x="5577840" y="2606040"/>
            <a:ext cx="3840480" cy="27432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120 units ordered @ $50.00/unit</a:t>
            </a:r>
            <a:endParaRPr lang="en-US" sz="950" dirty="0"/>
          </a:p>
        </p:txBody>
      </p:sp>
      <p:sp>
        <p:nvSpPr>
          <p:cNvPr id="21" name="Text 19"/>
          <p:cNvSpPr/>
          <p:nvPr/>
        </p:nvSpPr>
        <p:spPr>
          <a:xfrm>
            <a:off x="9418320" y="2441448"/>
            <a:ext cx="1554480" cy="320040"/>
          </a:xfrm>
          <a:prstGeom prst="rect">
            <a:avLst/>
          </a:prstGeom>
          <a:noFill/>
          <a:ln/>
        </p:spPr>
        <p:txBody>
          <a:bodyPr wrap="square" rtlCol="0" anchor="t"/>
          <a:lstStyle/>
          <a:p>
            <a:pPr algn="r" indent="0" marL="0">
              <a:buNone/>
            </a:pPr>
            <a:r>
              <a:rPr lang="en-US" sz="1200" b="1" dirty="0">
                <a:solidFill>
                  <a:srgbClr val="FFFFFF"/>
                </a:solidFill>
                <a:latin typeface="Calibri" pitchFamily="34" charset="0"/>
                <a:ea typeface="Calibri" pitchFamily="34" charset="-122"/>
                <a:cs typeface="Calibri" pitchFamily="34" charset="-120"/>
              </a:rPr>
              <a:t>$6,000.00</a:t>
            </a:r>
            <a:endParaRPr lang="en-US" sz="1200" dirty="0"/>
          </a:p>
        </p:txBody>
      </p:sp>
      <p:sp>
        <p:nvSpPr>
          <p:cNvPr id="22" name="Shape 20"/>
          <p:cNvSpPr/>
          <p:nvPr/>
        </p:nvSpPr>
        <p:spPr>
          <a:xfrm>
            <a:off x="5394960" y="3081528"/>
            <a:ext cx="5788152" cy="731520"/>
          </a:xfrm>
          <a:prstGeom prst="roundRect">
            <a:avLst>
              <a:gd name="adj" fmla="val 10000"/>
            </a:avLst>
          </a:prstGeom>
          <a:solidFill>
            <a:srgbClr val="0B1120"/>
          </a:solidFill>
          <a:ln w="15240">
            <a:solidFill>
              <a:srgbClr val="F59E0B"/>
            </a:solidFill>
            <a:prstDash val="solid"/>
          </a:ln>
        </p:spPr>
      </p:sp>
      <p:sp>
        <p:nvSpPr>
          <p:cNvPr id="23" name="Text 21"/>
          <p:cNvSpPr/>
          <p:nvPr/>
        </p:nvSpPr>
        <p:spPr>
          <a:xfrm>
            <a:off x="5577840" y="3191256"/>
            <a:ext cx="3840480" cy="228600"/>
          </a:xfrm>
          <a:prstGeom prst="rect">
            <a:avLst/>
          </a:prstGeom>
          <a:noFill/>
          <a:ln/>
        </p:spPr>
        <p:txBody>
          <a:bodyPr wrap="square" rtlCol="0" anchor="t"/>
          <a:lstStyle/>
          <a:p>
            <a:pPr indent="0" marL="0">
              <a:buNone/>
            </a:pPr>
            <a:r>
              <a:rPr lang="en-US" sz="1050" b="1" dirty="0">
                <a:solidFill>
                  <a:srgbClr val="F59E0B"/>
                </a:solidFill>
                <a:latin typeface="Calibri" pitchFamily="34" charset="0"/>
                <a:ea typeface="Calibri" pitchFamily="34" charset="-122"/>
                <a:cs typeface="Calibri" pitchFamily="34" charset="-120"/>
              </a:rPr>
              <a:t>WMS Warehouse (deliveries.csv)</a:t>
            </a:r>
            <a:endParaRPr lang="en-US" sz="1050" dirty="0"/>
          </a:p>
        </p:txBody>
      </p:sp>
      <p:sp>
        <p:nvSpPr>
          <p:cNvPr id="24" name="Text 22"/>
          <p:cNvSpPr/>
          <p:nvPr/>
        </p:nvSpPr>
        <p:spPr>
          <a:xfrm>
            <a:off x="5577840" y="3447288"/>
            <a:ext cx="3840480" cy="27432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100 units physically received (DN-045)</a:t>
            </a:r>
            <a:endParaRPr lang="en-US" sz="950" dirty="0"/>
          </a:p>
        </p:txBody>
      </p:sp>
      <p:sp>
        <p:nvSpPr>
          <p:cNvPr id="25" name="Text 23"/>
          <p:cNvSpPr/>
          <p:nvPr/>
        </p:nvSpPr>
        <p:spPr>
          <a:xfrm>
            <a:off x="9418320" y="3282696"/>
            <a:ext cx="1554480" cy="320040"/>
          </a:xfrm>
          <a:prstGeom prst="rect">
            <a:avLst/>
          </a:prstGeom>
          <a:noFill/>
          <a:ln/>
        </p:spPr>
        <p:txBody>
          <a:bodyPr wrap="square" rtlCol="0" anchor="t"/>
          <a:lstStyle/>
          <a:p>
            <a:pPr algn="r" indent="0" marL="0">
              <a:buNone/>
            </a:pPr>
            <a:r>
              <a:rPr lang="en-US" sz="1200" b="1" dirty="0">
                <a:solidFill>
                  <a:srgbClr val="FFFFFF"/>
                </a:solidFill>
                <a:latin typeface="Calibri" pitchFamily="34" charset="0"/>
                <a:ea typeface="Calibri" pitchFamily="34" charset="-122"/>
                <a:cs typeface="Calibri" pitchFamily="34" charset="-120"/>
              </a:rPr>
              <a:t>$5,000.00</a:t>
            </a:r>
            <a:endParaRPr lang="en-US" sz="1200" dirty="0"/>
          </a:p>
        </p:txBody>
      </p:sp>
      <p:sp>
        <p:nvSpPr>
          <p:cNvPr id="26" name="Shape 24"/>
          <p:cNvSpPr/>
          <p:nvPr/>
        </p:nvSpPr>
        <p:spPr>
          <a:xfrm>
            <a:off x="5394960" y="3922776"/>
            <a:ext cx="5788152" cy="731520"/>
          </a:xfrm>
          <a:prstGeom prst="roundRect">
            <a:avLst>
              <a:gd name="adj" fmla="val 10000"/>
            </a:avLst>
          </a:prstGeom>
          <a:solidFill>
            <a:srgbClr val="0B1120"/>
          </a:solidFill>
          <a:ln w="15240">
            <a:solidFill>
              <a:srgbClr val="F43F5E"/>
            </a:solidFill>
            <a:prstDash val="solid"/>
          </a:ln>
        </p:spPr>
      </p:sp>
      <p:sp>
        <p:nvSpPr>
          <p:cNvPr id="27" name="Text 25"/>
          <p:cNvSpPr/>
          <p:nvPr/>
        </p:nvSpPr>
        <p:spPr>
          <a:xfrm>
            <a:off x="5577840" y="4032504"/>
            <a:ext cx="3840480" cy="228600"/>
          </a:xfrm>
          <a:prstGeom prst="rect">
            <a:avLst/>
          </a:prstGeom>
          <a:noFill/>
          <a:ln/>
        </p:spPr>
        <p:txBody>
          <a:bodyPr wrap="square" rtlCol="0" anchor="t"/>
          <a:lstStyle/>
          <a:p>
            <a:pPr indent="0" marL="0">
              <a:buNone/>
            </a:pPr>
            <a:r>
              <a:rPr lang="en-US" sz="1050" b="1" dirty="0">
                <a:solidFill>
                  <a:srgbClr val="F43F5E"/>
                </a:solidFill>
                <a:latin typeface="Calibri" pitchFamily="34" charset="0"/>
                <a:ea typeface="Calibri" pitchFamily="34" charset="-122"/>
                <a:cs typeface="Calibri" pitchFamily="34" charset="-120"/>
              </a:rPr>
              <a:t>AP Invoices (invoices.csv)</a:t>
            </a:r>
            <a:endParaRPr lang="en-US" sz="1050" dirty="0"/>
          </a:p>
        </p:txBody>
      </p:sp>
      <p:sp>
        <p:nvSpPr>
          <p:cNvPr id="28" name="Text 26"/>
          <p:cNvSpPr/>
          <p:nvPr/>
        </p:nvSpPr>
        <p:spPr>
          <a:xfrm>
            <a:off x="5577840" y="4288536"/>
            <a:ext cx="3840480" cy="27432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120 units billed on INV-9001</a:t>
            </a:r>
            <a:endParaRPr lang="en-US" sz="950" dirty="0"/>
          </a:p>
        </p:txBody>
      </p:sp>
      <p:sp>
        <p:nvSpPr>
          <p:cNvPr id="29" name="Text 27"/>
          <p:cNvSpPr/>
          <p:nvPr/>
        </p:nvSpPr>
        <p:spPr>
          <a:xfrm>
            <a:off x="9418320" y="4123944"/>
            <a:ext cx="1554480" cy="320040"/>
          </a:xfrm>
          <a:prstGeom prst="rect">
            <a:avLst/>
          </a:prstGeom>
          <a:noFill/>
          <a:ln/>
        </p:spPr>
        <p:txBody>
          <a:bodyPr wrap="square" rtlCol="0" anchor="t"/>
          <a:lstStyle/>
          <a:p>
            <a:pPr algn="r" indent="0" marL="0">
              <a:buNone/>
            </a:pPr>
            <a:r>
              <a:rPr lang="en-US" sz="1200" b="1" dirty="0">
                <a:solidFill>
                  <a:srgbClr val="FFFFFF"/>
                </a:solidFill>
                <a:latin typeface="Calibri" pitchFamily="34" charset="0"/>
                <a:ea typeface="Calibri" pitchFamily="34" charset="-122"/>
                <a:cs typeface="Calibri" pitchFamily="34" charset="-120"/>
              </a:rPr>
              <a:t>$6,000.00</a:t>
            </a:r>
            <a:endParaRPr lang="en-US" sz="1200" dirty="0"/>
          </a:p>
        </p:txBody>
      </p:sp>
      <p:sp>
        <p:nvSpPr>
          <p:cNvPr id="30" name="Shape 28"/>
          <p:cNvSpPr/>
          <p:nvPr/>
        </p:nvSpPr>
        <p:spPr>
          <a:xfrm>
            <a:off x="5394960" y="4764024"/>
            <a:ext cx="5788152" cy="731520"/>
          </a:xfrm>
          <a:prstGeom prst="roundRect">
            <a:avLst>
              <a:gd name="adj" fmla="val 10000"/>
            </a:avLst>
          </a:prstGeom>
          <a:solidFill>
            <a:srgbClr val="0B1120"/>
          </a:solidFill>
          <a:ln w="15240">
            <a:solidFill>
              <a:srgbClr val="A855F7"/>
            </a:solidFill>
            <a:prstDash val="solid"/>
          </a:ln>
        </p:spPr>
      </p:sp>
      <p:sp>
        <p:nvSpPr>
          <p:cNvPr id="31" name="Text 29"/>
          <p:cNvSpPr/>
          <p:nvPr/>
        </p:nvSpPr>
        <p:spPr>
          <a:xfrm>
            <a:off x="5577840" y="4873752"/>
            <a:ext cx="3840480" cy="228600"/>
          </a:xfrm>
          <a:prstGeom prst="rect">
            <a:avLst/>
          </a:prstGeom>
          <a:noFill/>
          <a:ln/>
        </p:spPr>
        <p:txBody>
          <a:bodyPr wrap="square" rtlCol="0" anchor="t"/>
          <a:lstStyle/>
          <a:p>
            <a:pPr indent="0" marL="0">
              <a:buNone/>
            </a:pPr>
            <a:r>
              <a:rPr lang="en-US" sz="1050" b="1" dirty="0">
                <a:solidFill>
                  <a:srgbClr val="A855F7"/>
                </a:solidFill>
                <a:latin typeface="Calibri" pitchFamily="34" charset="0"/>
                <a:ea typeface="Calibri" pitchFamily="34" charset="-122"/>
                <a:cs typeface="Calibri" pitchFamily="34" charset="-120"/>
              </a:rPr>
              <a:t>Legal Contracts (contract_prices.csv)</a:t>
            </a:r>
            <a:endParaRPr lang="en-US" sz="1050" dirty="0"/>
          </a:p>
        </p:txBody>
      </p:sp>
      <p:sp>
        <p:nvSpPr>
          <p:cNvPr id="32" name="Text 30"/>
          <p:cNvSpPr/>
          <p:nvPr/>
        </p:nvSpPr>
        <p:spPr>
          <a:xfrm>
            <a:off x="5577840" y="5129784"/>
            <a:ext cx="3840480" cy="274320"/>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Master Agreement schedule cap @ $48.00/unit</a:t>
            </a:r>
            <a:endParaRPr lang="en-US" sz="950" dirty="0"/>
          </a:p>
        </p:txBody>
      </p:sp>
      <p:sp>
        <p:nvSpPr>
          <p:cNvPr id="33" name="Text 31"/>
          <p:cNvSpPr/>
          <p:nvPr/>
        </p:nvSpPr>
        <p:spPr>
          <a:xfrm>
            <a:off x="9418320" y="4965192"/>
            <a:ext cx="1554480" cy="320040"/>
          </a:xfrm>
          <a:prstGeom prst="rect">
            <a:avLst/>
          </a:prstGeom>
          <a:noFill/>
          <a:ln/>
        </p:spPr>
        <p:txBody>
          <a:bodyPr wrap="square" rtlCol="0" anchor="t"/>
          <a:lstStyle/>
          <a:p>
            <a:pPr algn="r" indent="0" marL="0">
              <a:buNone/>
            </a:pPr>
            <a:r>
              <a:rPr lang="en-US" sz="1200" b="1" dirty="0">
                <a:solidFill>
                  <a:srgbClr val="FFFFFF"/>
                </a:solidFill>
                <a:latin typeface="Calibri" pitchFamily="34" charset="0"/>
                <a:ea typeface="Calibri" pitchFamily="34" charset="-122"/>
                <a:cs typeface="Calibri" pitchFamily="34" charset="-120"/>
              </a:rPr>
              <a:t>$4,800.00</a:t>
            </a:r>
            <a:endParaRPr lang="en-US" sz="1200" dirty="0"/>
          </a:p>
        </p:txBody>
      </p:sp>
      <p:sp>
        <p:nvSpPr>
          <p:cNvPr id="34" name="Shape 32"/>
          <p:cNvSpPr/>
          <p:nvPr/>
        </p:nvSpPr>
        <p:spPr>
          <a:xfrm>
            <a:off x="5394960" y="5623560"/>
            <a:ext cx="5788152" cy="475488"/>
          </a:xfrm>
          <a:prstGeom prst="roundRect">
            <a:avLst>
              <a:gd name="adj" fmla="val 15385"/>
            </a:avLst>
          </a:prstGeom>
          <a:solidFill>
            <a:srgbClr val="064E3B"/>
          </a:solidFill>
          <a:ln w="19050">
            <a:solidFill>
              <a:srgbClr val="10B981"/>
            </a:solidFill>
            <a:prstDash val="solid"/>
          </a:ln>
        </p:spPr>
      </p:sp>
      <p:sp>
        <p:nvSpPr>
          <p:cNvPr id="35" name="Text 33"/>
          <p:cNvSpPr/>
          <p:nvPr/>
        </p:nvSpPr>
        <p:spPr>
          <a:xfrm>
            <a:off x="5577840" y="5687568"/>
            <a:ext cx="5394960" cy="182880"/>
          </a:xfrm>
          <a:prstGeom prst="rect">
            <a:avLst/>
          </a:prstGeom>
          <a:noFill/>
          <a:ln/>
        </p:spPr>
        <p:txBody>
          <a:bodyPr wrap="square" rtlCol="0" anchor="t"/>
          <a:lstStyle/>
          <a:p>
            <a:pPr indent="0" marL="0">
              <a:buNone/>
            </a:pPr>
            <a:r>
              <a:rPr lang="en-US" sz="1000" b="1" dirty="0">
                <a:solidFill>
                  <a:srgbClr val="6EE7B7"/>
                </a:solidFill>
                <a:latin typeface="Calibri" pitchFamily="34" charset="0"/>
                <a:ea typeface="Calibri" pitchFamily="34" charset="-122"/>
                <a:cs typeface="Calibri" pitchFamily="34" charset="-120"/>
              </a:rPr>
              <a:t>RECONCILIATION RESULT: $1,200.00 DISCREPANCY DETECTED</a:t>
            </a:r>
            <a:endParaRPr lang="en-US" sz="1000" dirty="0"/>
          </a:p>
        </p:txBody>
      </p:sp>
      <p:sp>
        <p:nvSpPr>
          <p:cNvPr id="36" name="Text 34"/>
          <p:cNvSpPr/>
          <p:nvPr/>
        </p:nvSpPr>
        <p:spPr>
          <a:xfrm>
            <a:off x="5577840" y="5870448"/>
            <a:ext cx="5394960" cy="182880"/>
          </a:xfrm>
          <a:prstGeom prst="rect">
            <a:avLst/>
          </a:prstGeom>
          <a:noFill/>
          <a:ln/>
        </p:spPr>
        <p:txBody>
          <a:bodyPr wrap="square" rtlCol="0" anchor="t"/>
          <a:lstStyle/>
          <a:p>
            <a:pPr indent="0" marL="0">
              <a:buNone/>
            </a:pPr>
            <a:r>
              <a:rPr lang="en-US" sz="850" dirty="0">
                <a:solidFill>
                  <a:srgbClr val="CBD5E1"/>
                </a:solidFill>
                <a:latin typeface="Calibri" pitchFamily="34" charset="0"/>
                <a:ea typeface="Calibri" pitchFamily="34" charset="-122"/>
                <a:cs typeface="Calibri" pitchFamily="34" charset="-120"/>
              </a:rPr>
              <a:t>Discrepancy 1 ($1,000 qty overcharge) + Discrepancy 2 ($200 price escalation)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3. SOLUTION</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PO-1001 Discrepancy Deep-Dive: 2 Distinct Vectors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Cell-level mathematical proof for quantity overbilling and contract rate escalation.</a:t>
            </a:r>
            <a:endParaRPr lang="en-US" sz="1250" dirty="0"/>
          </a:p>
        </p:txBody>
      </p:sp>
      <p:sp>
        <p:nvSpPr>
          <p:cNvPr id="12" name="Shape 10"/>
          <p:cNvSpPr/>
          <p:nvPr/>
        </p:nvSpPr>
        <p:spPr>
          <a:xfrm>
            <a:off x="731520" y="1691640"/>
            <a:ext cx="5212080" cy="4526280"/>
          </a:xfrm>
          <a:prstGeom prst="roundRect">
            <a:avLst>
              <a:gd name="adj" fmla="val 2424"/>
            </a:avLst>
          </a:prstGeom>
          <a:solidFill>
            <a:srgbClr val="0B1120"/>
          </a:solidFill>
          <a:ln w="25400">
            <a:solidFill>
              <a:srgbClr val="F43F5E"/>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050" b="1" dirty="0">
                <a:solidFill>
                  <a:srgbClr val="F43F5E"/>
                </a:solidFill>
                <a:latin typeface="Calibri" pitchFamily="34" charset="0"/>
                <a:ea typeface="Calibri" pitchFamily="34" charset="-122"/>
                <a:cs typeface="Calibri" pitchFamily="34" charset="-120"/>
              </a:rPr>
              <a:t>DISCREPANCY 1: QUANTITY OVERBILLING</a:t>
            </a:r>
            <a:endParaRPr lang="en-US" sz="105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+$1,000.00 Overcharge</a:t>
            </a:r>
            <a:endParaRPr lang="en-US" sz="1800" dirty="0"/>
          </a:p>
        </p:txBody>
      </p:sp>
      <p:sp>
        <p:nvSpPr>
          <p:cNvPr id="15" name="Text 13"/>
          <p:cNvSpPr/>
          <p:nvPr/>
        </p:nvSpPr>
        <p:spPr>
          <a:xfrm>
            <a:off x="1005840" y="2697480"/>
            <a:ext cx="4663440" cy="320040"/>
          </a:xfrm>
          <a:prstGeom prst="rect">
            <a:avLst/>
          </a:prstGeom>
          <a:noFill/>
          <a:ln/>
        </p:spPr>
        <p:txBody>
          <a:bodyPr wrap="square" rtlCol="0" anchor="t"/>
          <a:lstStyle/>
          <a:p>
            <a:pPr indent="0" marL="0">
              <a:buNone/>
            </a:pPr>
            <a:r>
              <a:rPr lang="en-US" sz="1050" dirty="0">
                <a:solidFill>
                  <a:srgbClr val="F43F5E"/>
                </a:solidFill>
                <a:latin typeface="Calibri" pitchFamily="34" charset="0"/>
                <a:ea typeface="Calibri" pitchFamily="34" charset="-122"/>
                <a:cs typeface="Calibri" pitchFamily="34" charset="-120"/>
              </a:rPr>
              <a:t>Invoiced 120 units vs Delivered 100 units (20 units × $50.00)</a:t>
            </a:r>
            <a:endParaRPr lang="en-US" sz="1050" dirty="0"/>
          </a:p>
        </p:txBody>
      </p:sp>
      <p:sp>
        <p:nvSpPr>
          <p:cNvPr id="16" name="Shape 14"/>
          <p:cNvSpPr/>
          <p:nvPr/>
        </p:nvSpPr>
        <p:spPr>
          <a:xfrm>
            <a:off x="1005840" y="3108960"/>
            <a:ext cx="4663440" cy="502920"/>
          </a:xfrm>
          <a:prstGeom prst="roundRect">
            <a:avLst>
              <a:gd name="adj" fmla="val 14545"/>
            </a:avLst>
          </a:prstGeom>
          <a:solidFill>
            <a:srgbClr val="0F172A"/>
          </a:solidFill>
          <a:ln w="12700">
            <a:solidFill>
              <a:srgbClr val="1E293B"/>
            </a:solidFill>
            <a:prstDash val="solid"/>
          </a:ln>
        </p:spPr>
      </p:sp>
      <p:sp>
        <p:nvSpPr>
          <p:cNvPr id="17" name="Text 15"/>
          <p:cNvSpPr/>
          <p:nvPr/>
        </p:nvSpPr>
        <p:spPr>
          <a:xfrm>
            <a:off x="1188720" y="324612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Invoiced Quantity (INV-9001)</a:t>
            </a:r>
            <a:endParaRPr lang="en-US" sz="950" dirty="0"/>
          </a:p>
        </p:txBody>
      </p:sp>
      <p:sp>
        <p:nvSpPr>
          <p:cNvPr id="18" name="Text 16"/>
          <p:cNvSpPr/>
          <p:nvPr/>
        </p:nvSpPr>
        <p:spPr>
          <a:xfrm>
            <a:off x="3840480" y="324612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120 units</a:t>
            </a:r>
            <a:endParaRPr lang="en-US" sz="1000" dirty="0"/>
          </a:p>
        </p:txBody>
      </p:sp>
      <p:sp>
        <p:nvSpPr>
          <p:cNvPr id="19" name="Shape 17"/>
          <p:cNvSpPr/>
          <p:nvPr/>
        </p:nvSpPr>
        <p:spPr>
          <a:xfrm>
            <a:off x="1005840" y="3703320"/>
            <a:ext cx="4663440" cy="502920"/>
          </a:xfrm>
          <a:prstGeom prst="roundRect">
            <a:avLst>
              <a:gd name="adj" fmla="val 14545"/>
            </a:avLst>
          </a:prstGeom>
          <a:solidFill>
            <a:srgbClr val="0F172A"/>
          </a:solidFill>
          <a:ln w="12700">
            <a:solidFill>
              <a:srgbClr val="1E293B"/>
            </a:solidFill>
            <a:prstDash val="solid"/>
          </a:ln>
        </p:spPr>
      </p:sp>
      <p:sp>
        <p:nvSpPr>
          <p:cNvPr id="20" name="Text 18"/>
          <p:cNvSpPr/>
          <p:nvPr/>
        </p:nvSpPr>
        <p:spPr>
          <a:xfrm>
            <a:off x="1188720" y="384048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Warehouse Delivered (DN-045)</a:t>
            </a:r>
            <a:endParaRPr lang="en-US" sz="950" dirty="0"/>
          </a:p>
        </p:txBody>
      </p:sp>
      <p:sp>
        <p:nvSpPr>
          <p:cNvPr id="21" name="Text 19"/>
          <p:cNvSpPr/>
          <p:nvPr/>
        </p:nvSpPr>
        <p:spPr>
          <a:xfrm>
            <a:off x="3840480" y="384048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100 units</a:t>
            </a:r>
            <a:endParaRPr lang="en-US" sz="1000" dirty="0"/>
          </a:p>
        </p:txBody>
      </p:sp>
      <p:sp>
        <p:nvSpPr>
          <p:cNvPr id="22" name="Shape 20"/>
          <p:cNvSpPr/>
          <p:nvPr/>
        </p:nvSpPr>
        <p:spPr>
          <a:xfrm>
            <a:off x="1005840" y="4297680"/>
            <a:ext cx="4663440" cy="502920"/>
          </a:xfrm>
          <a:prstGeom prst="roundRect">
            <a:avLst>
              <a:gd name="adj" fmla="val 14545"/>
            </a:avLst>
          </a:prstGeom>
          <a:solidFill>
            <a:srgbClr val="0F172A"/>
          </a:solidFill>
          <a:ln w="12700">
            <a:solidFill>
              <a:srgbClr val="1E293B"/>
            </a:solidFill>
            <a:prstDash val="solid"/>
          </a:ln>
        </p:spPr>
      </p:sp>
      <p:sp>
        <p:nvSpPr>
          <p:cNvPr id="23" name="Text 21"/>
          <p:cNvSpPr/>
          <p:nvPr/>
        </p:nvSpPr>
        <p:spPr>
          <a:xfrm>
            <a:off x="1188720" y="443484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Unreceived Billed Units</a:t>
            </a:r>
            <a:endParaRPr lang="en-US" sz="950" dirty="0"/>
          </a:p>
        </p:txBody>
      </p:sp>
      <p:sp>
        <p:nvSpPr>
          <p:cNvPr id="24" name="Text 22"/>
          <p:cNvSpPr/>
          <p:nvPr/>
        </p:nvSpPr>
        <p:spPr>
          <a:xfrm>
            <a:off x="3840480" y="443484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20 units</a:t>
            </a:r>
            <a:endParaRPr lang="en-US" sz="1000" dirty="0"/>
          </a:p>
        </p:txBody>
      </p:sp>
      <p:sp>
        <p:nvSpPr>
          <p:cNvPr id="25" name="Shape 23"/>
          <p:cNvSpPr/>
          <p:nvPr/>
        </p:nvSpPr>
        <p:spPr>
          <a:xfrm>
            <a:off x="1005840" y="4892040"/>
            <a:ext cx="4663440" cy="502920"/>
          </a:xfrm>
          <a:prstGeom prst="roundRect">
            <a:avLst>
              <a:gd name="adj" fmla="val 14545"/>
            </a:avLst>
          </a:prstGeom>
          <a:solidFill>
            <a:srgbClr val="0F172A"/>
          </a:solidFill>
          <a:ln w="12700">
            <a:solidFill>
              <a:srgbClr val="1E293B"/>
            </a:solidFill>
            <a:prstDash val="solid"/>
          </a:ln>
        </p:spPr>
      </p:sp>
      <p:sp>
        <p:nvSpPr>
          <p:cNvPr id="26" name="Text 24"/>
          <p:cNvSpPr/>
          <p:nvPr/>
        </p:nvSpPr>
        <p:spPr>
          <a:xfrm>
            <a:off x="1188720" y="502920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Variance Math</a:t>
            </a:r>
            <a:endParaRPr lang="en-US" sz="950" dirty="0"/>
          </a:p>
        </p:txBody>
      </p:sp>
      <p:sp>
        <p:nvSpPr>
          <p:cNvPr id="27" name="Text 25"/>
          <p:cNvSpPr/>
          <p:nvPr/>
        </p:nvSpPr>
        <p:spPr>
          <a:xfrm>
            <a:off x="3840480" y="502920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20 × $50.00 = $1,000.00</a:t>
            </a:r>
            <a:endParaRPr lang="en-US" sz="1000" dirty="0"/>
          </a:p>
        </p:txBody>
      </p:sp>
      <p:sp>
        <p:nvSpPr>
          <p:cNvPr id="28" name="Text 26"/>
          <p:cNvSpPr/>
          <p:nvPr/>
        </p:nvSpPr>
        <p:spPr>
          <a:xfrm>
            <a:off x="1005840" y="5669280"/>
            <a:ext cx="4663440" cy="365760"/>
          </a:xfrm>
          <a:prstGeom prst="rect">
            <a:avLst/>
          </a:prstGeom>
          <a:noFill/>
          <a:ln/>
        </p:spPr>
        <p:txBody>
          <a:bodyPr wrap="square" rtlCol="0" anchor="t"/>
          <a:lstStyle/>
          <a:p>
            <a:pPr indent="0" marL="0">
              <a:buNone/>
            </a:pPr>
            <a:r>
              <a:rPr lang="en-US" sz="900" b="1" dirty="0">
                <a:solidFill>
                  <a:srgbClr val="38BDF8"/>
                </a:solidFill>
                <a:latin typeface="Calibri" pitchFamily="34" charset="0"/>
                <a:ea typeface="Calibri" pitchFamily="34" charset="-122"/>
                <a:cs typeface="Calibri" pitchFamily="34" charset="-120"/>
              </a:rPr>
              <a:t>Evidence Citations: invoices.csv:Row 2:Col 3 | deliveries.csv:Row 2:Col 3</a:t>
            </a:r>
            <a:endParaRPr lang="en-US" sz="900" dirty="0"/>
          </a:p>
        </p:txBody>
      </p:sp>
      <p:sp>
        <p:nvSpPr>
          <p:cNvPr id="29" name="Shape 27"/>
          <p:cNvSpPr/>
          <p:nvPr/>
        </p:nvSpPr>
        <p:spPr>
          <a:xfrm>
            <a:off x="6217920" y="1691640"/>
            <a:ext cx="5212080" cy="4526280"/>
          </a:xfrm>
          <a:prstGeom prst="roundRect">
            <a:avLst>
              <a:gd name="adj" fmla="val 2424"/>
            </a:avLst>
          </a:prstGeom>
          <a:solidFill>
            <a:srgbClr val="0F172A"/>
          </a:solidFill>
          <a:ln w="25400">
            <a:solidFill>
              <a:srgbClr val="F59E0B"/>
            </a:solidFill>
            <a:prstDash val="solid"/>
          </a:ln>
        </p:spPr>
      </p:sp>
      <p:sp>
        <p:nvSpPr>
          <p:cNvPr id="30" name="Text 28"/>
          <p:cNvSpPr/>
          <p:nvPr/>
        </p:nvSpPr>
        <p:spPr>
          <a:xfrm>
            <a:off x="6492240" y="1920240"/>
            <a:ext cx="4663440" cy="274320"/>
          </a:xfrm>
          <a:prstGeom prst="rect">
            <a:avLst/>
          </a:prstGeom>
          <a:noFill/>
          <a:ln/>
        </p:spPr>
        <p:txBody>
          <a:bodyPr wrap="square" rtlCol="0" anchor="t"/>
          <a:lstStyle/>
          <a:p>
            <a:pPr indent="0" marL="0">
              <a:buNone/>
            </a:pPr>
            <a:r>
              <a:rPr lang="en-US" sz="1050" b="1" dirty="0">
                <a:solidFill>
                  <a:srgbClr val="F59E0B"/>
                </a:solidFill>
                <a:latin typeface="Calibri" pitchFamily="34" charset="0"/>
                <a:ea typeface="Calibri" pitchFamily="34" charset="-122"/>
                <a:cs typeface="Calibri" pitchFamily="34" charset="-120"/>
              </a:rPr>
              <a:t>DISCREPANCY 2: CONTRACT RATE ESCALATION</a:t>
            </a:r>
            <a:endParaRPr lang="en-US" sz="1050" dirty="0"/>
          </a:p>
        </p:txBody>
      </p:sp>
      <p:sp>
        <p:nvSpPr>
          <p:cNvPr id="31" name="Text 29"/>
          <p:cNvSpPr/>
          <p:nvPr/>
        </p:nvSpPr>
        <p:spPr>
          <a:xfrm>
            <a:off x="6492240" y="2240280"/>
            <a:ext cx="4663440" cy="41148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+$200.00 Overcharge</a:t>
            </a:r>
            <a:endParaRPr lang="en-US" sz="1800" dirty="0"/>
          </a:p>
        </p:txBody>
      </p:sp>
      <p:sp>
        <p:nvSpPr>
          <p:cNvPr id="32" name="Text 30"/>
          <p:cNvSpPr/>
          <p:nvPr/>
        </p:nvSpPr>
        <p:spPr>
          <a:xfrm>
            <a:off x="6492240" y="2697480"/>
            <a:ext cx="4663440" cy="320040"/>
          </a:xfrm>
          <a:prstGeom prst="rect">
            <a:avLst/>
          </a:prstGeom>
          <a:noFill/>
          <a:ln/>
        </p:spPr>
        <p:txBody>
          <a:bodyPr wrap="square" rtlCol="0" anchor="t"/>
          <a:lstStyle/>
          <a:p>
            <a:pPr indent="0" marL="0">
              <a:buNone/>
            </a:pPr>
            <a:r>
              <a:rPr lang="en-US" sz="1050" dirty="0">
                <a:solidFill>
                  <a:srgbClr val="F59E0B"/>
                </a:solidFill>
                <a:latin typeface="Calibri" pitchFamily="34" charset="0"/>
                <a:ea typeface="Calibri" pitchFamily="34" charset="-122"/>
                <a:cs typeface="Calibri" pitchFamily="34" charset="-120"/>
              </a:rPr>
              <a:t>Billed $50.00/unit vs Contract $48.00/unit ($2.00 rate creep on 100 units)</a:t>
            </a:r>
            <a:endParaRPr lang="en-US" sz="1050" dirty="0"/>
          </a:p>
        </p:txBody>
      </p:sp>
      <p:sp>
        <p:nvSpPr>
          <p:cNvPr id="33" name="Shape 31"/>
          <p:cNvSpPr/>
          <p:nvPr/>
        </p:nvSpPr>
        <p:spPr>
          <a:xfrm>
            <a:off x="6492240" y="3108960"/>
            <a:ext cx="4663440" cy="502920"/>
          </a:xfrm>
          <a:prstGeom prst="roundRect">
            <a:avLst>
              <a:gd name="adj" fmla="val 14545"/>
            </a:avLst>
          </a:prstGeom>
          <a:solidFill>
            <a:srgbClr val="0B1120"/>
          </a:solidFill>
          <a:ln w="12700">
            <a:solidFill>
              <a:srgbClr val="1E293B"/>
            </a:solidFill>
            <a:prstDash val="solid"/>
          </a:ln>
        </p:spPr>
      </p:sp>
      <p:sp>
        <p:nvSpPr>
          <p:cNvPr id="34" name="Text 32"/>
          <p:cNvSpPr/>
          <p:nvPr/>
        </p:nvSpPr>
        <p:spPr>
          <a:xfrm>
            <a:off x="6675120" y="324612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Billed Unit Price (INV-9001)</a:t>
            </a:r>
            <a:endParaRPr lang="en-US" sz="950" dirty="0"/>
          </a:p>
        </p:txBody>
      </p:sp>
      <p:sp>
        <p:nvSpPr>
          <p:cNvPr id="35" name="Text 33"/>
          <p:cNvSpPr/>
          <p:nvPr/>
        </p:nvSpPr>
        <p:spPr>
          <a:xfrm>
            <a:off x="9326880" y="324612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$50.00 / unit</a:t>
            </a:r>
            <a:endParaRPr lang="en-US" sz="1000" dirty="0"/>
          </a:p>
        </p:txBody>
      </p:sp>
      <p:sp>
        <p:nvSpPr>
          <p:cNvPr id="36" name="Shape 34"/>
          <p:cNvSpPr/>
          <p:nvPr/>
        </p:nvSpPr>
        <p:spPr>
          <a:xfrm>
            <a:off x="6492240" y="3703320"/>
            <a:ext cx="4663440" cy="502920"/>
          </a:xfrm>
          <a:prstGeom prst="roundRect">
            <a:avLst>
              <a:gd name="adj" fmla="val 14545"/>
            </a:avLst>
          </a:prstGeom>
          <a:solidFill>
            <a:srgbClr val="0B1120"/>
          </a:solidFill>
          <a:ln w="12700">
            <a:solidFill>
              <a:srgbClr val="1E293B"/>
            </a:solidFill>
            <a:prstDash val="solid"/>
          </a:ln>
        </p:spPr>
      </p:sp>
      <p:sp>
        <p:nvSpPr>
          <p:cNvPr id="37" name="Text 35"/>
          <p:cNvSpPr/>
          <p:nvPr/>
        </p:nvSpPr>
        <p:spPr>
          <a:xfrm>
            <a:off x="6675120" y="384048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Contract Rate Cap (Schedule A)</a:t>
            </a:r>
            <a:endParaRPr lang="en-US" sz="950" dirty="0"/>
          </a:p>
        </p:txBody>
      </p:sp>
      <p:sp>
        <p:nvSpPr>
          <p:cNvPr id="38" name="Text 36"/>
          <p:cNvSpPr/>
          <p:nvPr/>
        </p:nvSpPr>
        <p:spPr>
          <a:xfrm>
            <a:off x="9326880" y="384048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$48.00 / unit</a:t>
            </a:r>
            <a:endParaRPr lang="en-US" sz="1000" dirty="0"/>
          </a:p>
        </p:txBody>
      </p:sp>
      <p:sp>
        <p:nvSpPr>
          <p:cNvPr id="39" name="Shape 37"/>
          <p:cNvSpPr/>
          <p:nvPr/>
        </p:nvSpPr>
        <p:spPr>
          <a:xfrm>
            <a:off x="6492240" y="4297680"/>
            <a:ext cx="4663440" cy="502920"/>
          </a:xfrm>
          <a:prstGeom prst="roundRect">
            <a:avLst>
              <a:gd name="adj" fmla="val 14545"/>
            </a:avLst>
          </a:prstGeom>
          <a:solidFill>
            <a:srgbClr val="0B1120"/>
          </a:solidFill>
          <a:ln w="12700">
            <a:solidFill>
              <a:srgbClr val="1E293B"/>
            </a:solidFill>
            <a:prstDash val="solid"/>
          </a:ln>
        </p:spPr>
      </p:sp>
      <p:sp>
        <p:nvSpPr>
          <p:cNvPr id="40" name="Text 38"/>
          <p:cNvSpPr/>
          <p:nvPr/>
        </p:nvSpPr>
        <p:spPr>
          <a:xfrm>
            <a:off x="6675120" y="443484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Rate Creep per Unit</a:t>
            </a:r>
            <a:endParaRPr lang="en-US" sz="950" dirty="0"/>
          </a:p>
        </p:txBody>
      </p:sp>
      <p:sp>
        <p:nvSpPr>
          <p:cNvPr id="41" name="Text 39"/>
          <p:cNvSpPr/>
          <p:nvPr/>
        </p:nvSpPr>
        <p:spPr>
          <a:xfrm>
            <a:off x="9326880" y="443484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+$2.00 / unit</a:t>
            </a:r>
            <a:endParaRPr lang="en-US" sz="1000" dirty="0"/>
          </a:p>
        </p:txBody>
      </p:sp>
      <p:sp>
        <p:nvSpPr>
          <p:cNvPr id="42" name="Shape 40"/>
          <p:cNvSpPr/>
          <p:nvPr/>
        </p:nvSpPr>
        <p:spPr>
          <a:xfrm>
            <a:off x="6492240" y="4892040"/>
            <a:ext cx="4663440" cy="502920"/>
          </a:xfrm>
          <a:prstGeom prst="roundRect">
            <a:avLst>
              <a:gd name="adj" fmla="val 14545"/>
            </a:avLst>
          </a:prstGeom>
          <a:solidFill>
            <a:srgbClr val="0B1120"/>
          </a:solidFill>
          <a:ln w="12700">
            <a:solidFill>
              <a:srgbClr val="1E293B"/>
            </a:solidFill>
            <a:prstDash val="solid"/>
          </a:ln>
        </p:spPr>
      </p:sp>
      <p:sp>
        <p:nvSpPr>
          <p:cNvPr id="43" name="Text 41"/>
          <p:cNvSpPr/>
          <p:nvPr/>
        </p:nvSpPr>
        <p:spPr>
          <a:xfrm>
            <a:off x="6675120" y="5029200"/>
            <a:ext cx="2926080" cy="228600"/>
          </a:xfrm>
          <a:prstGeom prst="rect">
            <a:avLst/>
          </a:prstGeom>
          <a:noFill/>
          <a:ln/>
        </p:spPr>
        <p:txBody>
          <a:bodyPr wrap="square" rtlCol="0" anchor="t"/>
          <a:lstStyle/>
          <a:p>
            <a:pPr indent="0" marL="0">
              <a:buNone/>
            </a:pPr>
            <a:r>
              <a:rPr lang="en-US" sz="950" dirty="0">
                <a:solidFill>
                  <a:srgbClr val="94A3B8"/>
                </a:solidFill>
                <a:latin typeface="Calibri" pitchFamily="34" charset="0"/>
                <a:ea typeface="Calibri" pitchFamily="34" charset="-122"/>
                <a:cs typeface="Calibri" pitchFamily="34" charset="-120"/>
              </a:rPr>
              <a:t>Variance Math</a:t>
            </a:r>
            <a:endParaRPr lang="en-US" sz="950" dirty="0"/>
          </a:p>
        </p:txBody>
      </p:sp>
      <p:sp>
        <p:nvSpPr>
          <p:cNvPr id="44" name="Text 42"/>
          <p:cNvSpPr/>
          <p:nvPr/>
        </p:nvSpPr>
        <p:spPr>
          <a:xfrm>
            <a:off x="9326880" y="5029200"/>
            <a:ext cx="1645920" cy="228600"/>
          </a:xfrm>
          <a:prstGeom prst="rect">
            <a:avLst/>
          </a:prstGeom>
          <a:noFill/>
          <a:ln/>
        </p:spPr>
        <p:txBody>
          <a:bodyPr wrap="square" rtlCol="0" anchor="t"/>
          <a:lstStyle/>
          <a:p>
            <a:pPr algn="r" indent="0" marL="0">
              <a:buNone/>
            </a:pPr>
            <a:r>
              <a:rPr lang="en-US" sz="1000" b="1" dirty="0">
                <a:solidFill>
                  <a:srgbClr val="FFFFFF"/>
                </a:solidFill>
                <a:latin typeface="Calibri" pitchFamily="34" charset="0"/>
                <a:ea typeface="Calibri" pitchFamily="34" charset="-122"/>
                <a:cs typeface="Calibri" pitchFamily="34" charset="-120"/>
              </a:rPr>
              <a:t>100 units × $2.00 = $200.00</a:t>
            </a:r>
            <a:endParaRPr lang="en-US" sz="1000" dirty="0"/>
          </a:p>
        </p:txBody>
      </p:sp>
      <p:sp>
        <p:nvSpPr>
          <p:cNvPr id="45" name="Text 43"/>
          <p:cNvSpPr/>
          <p:nvPr/>
        </p:nvSpPr>
        <p:spPr>
          <a:xfrm>
            <a:off x="6492240" y="5669280"/>
            <a:ext cx="4663440" cy="365760"/>
          </a:xfrm>
          <a:prstGeom prst="rect">
            <a:avLst/>
          </a:prstGeom>
          <a:noFill/>
          <a:ln/>
        </p:spPr>
        <p:txBody>
          <a:bodyPr wrap="square" rtlCol="0" anchor="t"/>
          <a:lstStyle/>
          <a:p>
            <a:pPr indent="0" marL="0">
              <a:buNone/>
            </a:pPr>
            <a:r>
              <a:rPr lang="en-US" sz="900" b="1" dirty="0">
                <a:solidFill>
                  <a:srgbClr val="38BDF8"/>
                </a:solidFill>
                <a:latin typeface="Calibri" pitchFamily="34" charset="0"/>
                <a:ea typeface="Calibri" pitchFamily="34" charset="-122"/>
                <a:cs typeface="Calibri" pitchFamily="34" charset="-120"/>
              </a:rPr>
              <a:t>Evidence Citations: invoices.csv:Row 2:Col 4 | contract_prices.csv:Row 2:Col 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3. SOLUTION</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18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Zero False Positive Benchmark: Clean Order PO-1002</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Proving system credibility: clean orders produce zero false alarms and 100% concordance.</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6366F1"/>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6366F1"/>
                </a:solidFill>
                <a:latin typeface="Calibri" pitchFamily="34" charset="0"/>
                <a:ea typeface="Calibri" pitchFamily="34" charset="-122"/>
                <a:cs typeface="Calibri" pitchFamily="34" charset="-120"/>
              </a:rPr>
              <a:t>BENCHMARK ORDER PO-1002</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Clean Transaction Validation</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Order ID: PO-1002 | Supplier: Beacon Industrial (SUP-18)</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Ordered: 50 units @ $20.00/unit ($1,000.00 authorized)</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Received: 50 units verified at dock (DN-048)</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Invoiced: 50 units @ $20.00/unit (INV-9002)</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Contract Schedule: $20.00/unit agreed contract cap</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Audit Latency: 162 milliseconds across 4 virtual tables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System Assessment: CLEAN TRANSACTION — DISBURSEMENT APPROVED</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10B981"/>
                </a:solidFill>
                <a:latin typeface="Calibri" pitchFamily="34" charset="0"/>
                <a:ea typeface="Calibri" pitchFamily="34" charset="-122"/>
                <a:cs typeface="Calibri" pitchFamily="34" charset="-120"/>
              </a:rPr>
              <a:t>CREDIBILITY &amp; FALSE-POSITIVE DEFENSE</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Zero False Alarms (100% Concordance)</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100" dirty="0">
                <a:solidFill>
                  <a:srgbClr val="F8FAFC"/>
                </a:solidFill>
                <a:latin typeface="Calibri" pitchFamily="34" charset="0"/>
                <a:ea typeface="Calibri" pitchFamily="34" charset="-122"/>
                <a:cs typeface="Calibri" pitchFamily="34" charset="-120"/>
              </a:rPr>
              <a:t>• Zero Hallucinated Claims: The system does not invent overcharges where none exist.</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100% Quantity Concordance: Ordered (50) == Delivered (50) == Billed (50).</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100% Rate Compliance: Billed rate ($20.00) matches contract cap ($20.00).</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Frictionless Clearance: Clean invoices pass straight through to automated AP payment clearance with zero auditor intervention required.</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Critical Proof: An enterprise spend agent is only as good as its precision; zero false alarms build trusted operational adoption.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F59E0B"/>
            </a:solidFill>
            <a:prstDash val="solid"/>
          </a:ln>
        </p:spPr>
      </p:sp>
      <p:sp>
        <p:nvSpPr>
          <p:cNvPr id="3" name="Shape 1"/>
          <p:cNvSpPr/>
          <p:nvPr/>
        </p:nvSpPr>
        <p:spPr>
          <a:xfrm>
            <a:off x="1188720" y="1188720"/>
            <a:ext cx="2926080" cy="347472"/>
          </a:xfrm>
          <a:prstGeom prst="roundRect">
            <a:avLst>
              <a:gd name="adj" fmla="val 50000"/>
            </a:avLst>
          </a:prstGeom>
          <a:solidFill>
            <a:srgbClr val="1E1B4B"/>
          </a:solidFill>
          <a:ln w="19050">
            <a:solidFill>
              <a:srgbClr val="F59E0B"/>
            </a:solidFill>
            <a:prstDash val="solid"/>
          </a:ln>
        </p:spPr>
      </p:sp>
      <p:sp>
        <p:nvSpPr>
          <p:cNvPr id="4" name="Text 2"/>
          <p:cNvSpPr/>
          <p:nvPr/>
        </p:nvSpPr>
        <p:spPr>
          <a:xfrm>
            <a:off x="1188720" y="1188720"/>
            <a:ext cx="2926080" cy="347472"/>
          </a:xfrm>
          <a:prstGeom prst="rect">
            <a:avLst/>
          </a:prstGeom>
          <a:noFill/>
          <a:ln/>
        </p:spPr>
        <p:txBody>
          <a:bodyPr wrap="square" rtlCol="0" anchor="ctr"/>
          <a:lstStyle/>
          <a:p>
            <a:pPr algn="ctr" indent="0" marL="0">
              <a:buNone/>
            </a:pPr>
            <a:r>
              <a:rPr lang="en-US" sz="1100" b="1" dirty="0">
                <a:solidFill>
                  <a:srgbClr val="F59E0B"/>
                </a:solidFill>
                <a:latin typeface="Calibri" pitchFamily="34" charset="0"/>
                <a:ea typeface="Calibri" pitchFamily="34" charset="-122"/>
                <a:cs typeface="Calibri" pitchFamily="34" charset="-120"/>
              </a:rPr>
              <a:t>SECTION 04 / 05</a:t>
            </a:r>
            <a:endParaRPr lang="en-US" sz="1100" dirty="0"/>
          </a:p>
        </p:txBody>
      </p:sp>
      <p:sp>
        <p:nvSpPr>
          <p:cNvPr id="5" name="Text 3"/>
          <p:cNvSpPr/>
          <p:nvPr/>
        </p:nvSpPr>
        <p:spPr>
          <a:xfrm>
            <a:off x="1188720" y="1691640"/>
            <a:ext cx="978408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System Architecture &amp; Audit Governance</a:t>
            </a:r>
            <a:endParaRPr lang="en-US" sz="3600" dirty="0"/>
          </a:p>
        </p:txBody>
      </p:sp>
      <p:sp>
        <p:nvSpPr>
          <p:cNvPr id="6" name="Text 4"/>
          <p:cNvSpPr/>
          <p:nvPr/>
        </p:nvSpPr>
        <p:spPr>
          <a:xfrm>
            <a:off x="1188720" y="2514600"/>
            <a:ext cx="9784080" cy="457200"/>
          </a:xfrm>
          <a:prstGeom prst="rect">
            <a:avLst/>
          </a:prstGeom>
          <a:noFill/>
          <a:ln/>
        </p:spPr>
        <p:txBody>
          <a:bodyPr wrap="square" rtlCol="0" anchor="t"/>
          <a:lstStyle/>
          <a:p>
            <a:pPr indent="0" marL="0">
              <a:buNone/>
            </a:pPr>
            <a:r>
              <a:rPr lang="en-US" sz="1400" dirty="0">
                <a:solidFill>
                  <a:srgbClr val="CBD5E1"/>
                </a:solidFill>
                <a:latin typeface="Calibri" pitchFamily="34" charset="0"/>
                <a:ea typeface="Calibri" pitchFamily="34" charset="-122"/>
                <a:cs typeface="Calibri" pitchFamily="34" charset="-120"/>
              </a:rPr>
              <a:t>High-performance 4-tier pipeline combining data virtualization, agent orchestration, and immutable provenance.</a:t>
            </a:r>
            <a:endParaRPr lang="en-US" sz="1400" dirty="0"/>
          </a:p>
        </p:txBody>
      </p:sp>
      <p:sp>
        <p:nvSpPr>
          <p:cNvPr id="7" name="Shape 5"/>
          <p:cNvSpPr/>
          <p:nvPr/>
        </p:nvSpPr>
        <p:spPr>
          <a:xfrm>
            <a:off x="1188720" y="3200400"/>
            <a:ext cx="3108960" cy="2560320"/>
          </a:xfrm>
          <a:prstGeom prst="roundRect">
            <a:avLst>
              <a:gd name="adj" fmla="val 4286"/>
            </a:avLst>
          </a:prstGeom>
          <a:solidFill>
            <a:srgbClr val="0F172A"/>
          </a:solidFill>
          <a:ln w="15240">
            <a:solidFill>
              <a:srgbClr val="1E293B"/>
            </a:solidFill>
            <a:prstDash val="solid"/>
          </a:ln>
        </p:spPr>
      </p:sp>
      <p:sp>
        <p:nvSpPr>
          <p:cNvPr id="8" name="Text 6"/>
          <p:cNvSpPr/>
          <p:nvPr/>
        </p:nvSpPr>
        <p:spPr>
          <a:xfrm>
            <a:off x="1417320" y="3429000"/>
            <a:ext cx="2651760" cy="320040"/>
          </a:xfrm>
          <a:prstGeom prst="rect">
            <a:avLst/>
          </a:prstGeom>
          <a:noFill/>
          <a:ln/>
        </p:spPr>
        <p:txBody>
          <a:bodyPr wrap="square" rtlCol="0" anchor="t"/>
          <a:lstStyle/>
          <a:p>
            <a:pPr indent="0" marL="0">
              <a:buNone/>
            </a:pPr>
            <a:r>
              <a:rPr lang="en-US" sz="1600" b="1" dirty="0">
                <a:solidFill>
                  <a:srgbClr val="F59E0B"/>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141732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Virtualization Tier</a:t>
            </a:r>
            <a:endParaRPr lang="en-US" sz="1400" dirty="0"/>
          </a:p>
        </p:txBody>
      </p:sp>
      <p:sp>
        <p:nvSpPr>
          <p:cNvPr id="10" name="Text 8"/>
          <p:cNvSpPr/>
          <p:nvPr/>
        </p:nvSpPr>
        <p:spPr>
          <a:xfrm>
            <a:off x="141732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Zetaris federated SQL engine querying across SAP ERP, WMS, and contracts in place with zero data movement.</a:t>
            </a:r>
            <a:endParaRPr lang="en-US" sz="1100" dirty="0"/>
          </a:p>
        </p:txBody>
      </p:sp>
      <p:sp>
        <p:nvSpPr>
          <p:cNvPr id="11" name="Shape 9"/>
          <p:cNvSpPr/>
          <p:nvPr/>
        </p:nvSpPr>
        <p:spPr>
          <a:xfrm>
            <a:off x="4526280" y="3200400"/>
            <a:ext cx="3108960" cy="2560320"/>
          </a:xfrm>
          <a:prstGeom prst="roundRect">
            <a:avLst>
              <a:gd name="adj" fmla="val 4286"/>
            </a:avLst>
          </a:prstGeom>
          <a:solidFill>
            <a:srgbClr val="0F172A"/>
          </a:solidFill>
          <a:ln w="15240">
            <a:solidFill>
              <a:srgbClr val="1E293B"/>
            </a:solidFill>
            <a:prstDash val="solid"/>
          </a:ln>
        </p:spPr>
      </p:sp>
      <p:sp>
        <p:nvSpPr>
          <p:cNvPr id="12" name="Text 10"/>
          <p:cNvSpPr/>
          <p:nvPr/>
        </p:nvSpPr>
        <p:spPr>
          <a:xfrm>
            <a:off x="4754880" y="3429000"/>
            <a:ext cx="2651760" cy="320040"/>
          </a:xfrm>
          <a:prstGeom prst="rect">
            <a:avLst/>
          </a:prstGeom>
          <a:noFill/>
          <a:ln/>
        </p:spPr>
        <p:txBody>
          <a:bodyPr wrap="square" rtlCol="0" anchor="t"/>
          <a:lstStyle/>
          <a:p>
            <a:pPr indent="0" marL="0">
              <a:buNone/>
            </a:pPr>
            <a:r>
              <a:rPr lang="en-US" sz="1600" b="1" dirty="0">
                <a:solidFill>
                  <a:srgbClr val="F59E0B"/>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475488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Agent Orchestration</a:t>
            </a:r>
            <a:endParaRPr lang="en-US" sz="1400" dirty="0"/>
          </a:p>
        </p:txBody>
      </p:sp>
      <p:sp>
        <p:nvSpPr>
          <p:cNvPr id="14" name="Text 12"/>
          <p:cNvSpPr/>
          <p:nvPr/>
        </p:nvSpPr>
        <p:spPr>
          <a:xfrm>
            <a:off x="475488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Meterless mission architecture orchestrating Scout intent parsing, Relay routing, and Nightshift AI.</a:t>
            </a:r>
            <a:endParaRPr lang="en-US" sz="1100" dirty="0"/>
          </a:p>
        </p:txBody>
      </p:sp>
      <p:sp>
        <p:nvSpPr>
          <p:cNvPr id="15" name="Shape 13"/>
          <p:cNvSpPr/>
          <p:nvPr/>
        </p:nvSpPr>
        <p:spPr>
          <a:xfrm>
            <a:off x="7863840" y="3200400"/>
            <a:ext cx="3108960" cy="2560320"/>
          </a:xfrm>
          <a:prstGeom prst="roundRect">
            <a:avLst>
              <a:gd name="adj" fmla="val 4286"/>
            </a:avLst>
          </a:prstGeom>
          <a:solidFill>
            <a:srgbClr val="0F172A"/>
          </a:solidFill>
          <a:ln w="15240">
            <a:solidFill>
              <a:srgbClr val="1E293B"/>
            </a:solidFill>
            <a:prstDash val="solid"/>
          </a:ln>
        </p:spPr>
      </p:sp>
      <p:sp>
        <p:nvSpPr>
          <p:cNvPr id="16" name="Text 14"/>
          <p:cNvSpPr/>
          <p:nvPr/>
        </p:nvSpPr>
        <p:spPr>
          <a:xfrm>
            <a:off x="8092440" y="3429000"/>
            <a:ext cx="2651760" cy="320040"/>
          </a:xfrm>
          <a:prstGeom prst="rect">
            <a:avLst/>
          </a:prstGeom>
          <a:noFill/>
          <a:ln/>
        </p:spPr>
        <p:txBody>
          <a:bodyPr wrap="square" rtlCol="0" anchor="t"/>
          <a:lstStyle/>
          <a:p>
            <a:pPr indent="0" marL="0">
              <a:buNone/>
            </a:pPr>
            <a:r>
              <a:rPr lang="en-US" sz="1600" b="1" dirty="0">
                <a:solidFill>
                  <a:srgbClr val="F59E0B"/>
                </a:solidFill>
                <a:latin typeface="Calibri" pitchFamily="34" charset="0"/>
                <a:ea typeface="Calibri" pitchFamily="34" charset="-122"/>
                <a:cs typeface="Calibri" pitchFamily="34" charset="-120"/>
              </a:rPr>
              <a:t>03</a:t>
            </a:r>
            <a:endParaRPr lang="en-US" sz="1600" dirty="0"/>
          </a:p>
        </p:txBody>
      </p:sp>
      <p:sp>
        <p:nvSpPr>
          <p:cNvPr id="17" name="Text 15"/>
          <p:cNvSpPr/>
          <p:nvPr/>
        </p:nvSpPr>
        <p:spPr>
          <a:xfrm>
            <a:off x="809244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Defensible Governance</a:t>
            </a:r>
            <a:endParaRPr lang="en-US" sz="1400" dirty="0"/>
          </a:p>
        </p:txBody>
      </p:sp>
      <p:sp>
        <p:nvSpPr>
          <p:cNvPr id="18" name="Text 16"/>
          <p:cNvSpPr/>
          <p:nvPr/>
        </p:nvSpPr>
        <p:spPr>
          <a:xfrm>
            <a:off x="809244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Cell-level citation provenance index, cryptographic audit certificates, and human approval workflow.</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4. ARCHITECTURE</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20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End-to-End Enterprise System Architecture</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 4-tier pipeline combining data virtualization, agent orchestration, and audit governance.</a:t>
            </a:r>
            <a:endParaRPr lang="en-US" sz="1250" dirty="0"/>
          </a:p>
        </p:txBody>
      </p:sp>
      <p:sp>
        <p:nvSpPr>
          <p:cNvPr id="12" name="Shape 10"/>
          <p:cNvSpPr/>
          <p:nvPr/>
        </p:nvSpPr>
        <p:spPr>
          <a:xfrm>
            <a:off x="731520" y="1691640"/>
            <a:ext cx="10725912" cy="1051560"/>
          </a:xfrm>
          <a:prstGeom prst="roundRect">
            <a:avLst>
              <a:gd name="adj" fmla="val 8696"/>
            </a:avLst>
          </a:prstGeom>
          <a:solidFill>
            <a:srgbClr val="0B1120"/>
          </a:solidFill>
          <a:ln w="19050">
            <a:solidFill>
              <a:srgbClr val="38BDF8"/>
            </a:solidFill>
            <a:prstDash val="solid"/>
          </a:ln>
        </p:spPr>
      </p:sp>
      <p:sp>
        <p:nvSpPr>
          <p:cNvPr id="13" name="Text 11"/>
          <p:cNvSpPr/>
          <p:nvPr/>
        </p:nvSpPr>
        <p:spPr>
          <a:xfrm>
            <a:off x="1005840" y="1828800"/>
            <a:ext cx="1371600" cy="32004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TIER 1</a:t>
            </a:r>
            <a:endParaRPr lang="en-US" sz="1000" dirty="0"/>
          </a:p>
        </p:txBody>
      </p:sp>
      <p:sp>
        <p:nvSpPr>
          <p:cNvPr id="14" name="Text 12"/>
          <p:cNvSpPr/>
          <p:nvPr/>
        </p:nvSpPr>
        <p:spPr>
          <a:xfrm>
            <a:off x="2560320" y="1801368"/>
            <a:ext cx="502920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Data Virtualization Layer (Zetaris Engine)</a:t>
            </a:r>
            <a:endParaRPr lang="en-US" sz="1300" dirty="0"/>
          </a:p>
        </p:txBody>
      </p:sp>
      <p:sp>
        <p:nvSpPr>
          <p:cNvPr id="15" name="Text 13"/>
          <p:cNvSpPr/>
          <p:nvPr/>
        </p:nvSpPr>
        <p:spPr>
          <a:xfrm>
            <a:off x="7772400" y="1801368"/>
            <a:ext cx="3474720" cy="320040"/>
          </a:xfrm>
          <a:prstGeom prst="rect">
            <a:avLst/>
          </a:prstGeom>
          <a:noFill/>
          <a:ln/>
        </p:spPr>
        <p:txBody>
          <a:bodyPr wrap="square" rtlCol="0" anchor="t"/>
          <a:lstStyle/>
          <a:p>
            <a:pPr algn="r" indent="0" marL="0">
              <a:buNone/>
            </a:pPr>
            <a:r>
              <a:rPr lang="en-US" sz="950" b="1" dirty="0">
                <a:solidFill>
                  <a:srgbClr val="38BDF8"/>
                </a:solidFill>
                <a:latin typeface="Calibri" pitchFamily="34" charset="0"/>
                <a:ea typeface="Calibri" pitchFamily="34" charset="-122"/>
                <a:cs typeface="Calibri" pitchFamily="34" charset="-120"/>
              </a:rPr>
              <a:t>Zetaris Federated SQL • SQLite Mock • Zero ETL</a:t>
            </a:r>
            <a:endParaRPr lang="en-US" sz="950" dirty="0"/>
          </a:p>
        </p:txBody>
      </p:sp>
      <p:sp>
        <p:nvSpPr>
          <p:cNvPr id="16" name="Text 14"/>
          <p:cNvSpPr/>
          <p:nvPr/>
        </p:nvSpPr>
        <p:spPr>
          <a:xfrm>
            <a:off x="2560320" y="2130552"/>
            <a:ext cx="8686800" cy="548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Queries SAP ERP, WMS Logistics, AP Invoices, and Legal Contracts in place. Eliminates data copying and staging databases with 12ms query response.</a:t>
            </a:r>
            <a:endParaRPr lang="en-US" sz="1000" dirty="0"/>
          </a:p>
        </p:txBody>
      </p:sp>
      <p:sp>
        <p:nvSpPr>
          <p:cNvPr id="17" name="Shape 15"/>
          <p:cNvSpPr/>
          <p:nvPr/>
        </p:nvSpPr>
        <p:spPr>
          <a:xfrm>
            <a:off x="731520" y="2834640"/>
            <a:ext cx="10725912" cy="1051560"/>
          </a:xfrm>
          <a:prstGeom prst="roundRect">
            <a:avLst>
              <a:gd name="adj" fmla="val 8696"/>
            </a:avLst>
          </a:prstGeom>
          <a:solidFill>
            <a:srgbClr val="0B1120"/>
          </a:solidFill>
          <a:ln w="19050">
            <a:solidFill>
              <a:srgbClr val="10B981"/>
            </a:solidFill>
            <a:prstDash val="solid"/>
          </a:ln>
        </p:spPr>
      </p:sp>
      <p:sp>
        <p:nvSpPr>
          <p:cNvPr id="18" name="Text 16"/>
          <p:cNvSpPr/>
          <p:nvPr/>
        </p:nvSpPr>
        <p:spPr>
          <a:xfrm>
            <a:off x="1005840" y="2971800"/>
            <a:ext cx="1371600" cy="320040"/>
          </a:xfrm>
          <a:prstGeom prst="rect">
            <a:avLst/>
          </a:prstGeom>
          <a:noFill/>
          <a:ln/>
        </p:spPr>
        <p:txBody>
          <a:bodyPr wrap="square" rtlCol="0" anchor="t"/>
          <a:lstStyle/>
          <a:p>
            <a:pPr indent="0" marL="0">
              <a:buNone/>
            </a:pPr>
            <a:r>
              <a:rPr lang="en-US" sz="1000" b="1" dirty="0">
                <a:solidFill>
                  <a:srgbClr val="10B981"/>
                </a:solidFill>
                <a:latin typeface="Calibri" pitchFamily="34" charset="0"/>
                <a:ea typeface="Calibri" pitchFamily="34" charset="-122"/>
                <a:cs typeface="Calibri" pitchFamily="34" charset="-120"/>
              </a:rPr>
              <a:t>TIER 2</a:t>
            </a:r>
            <a:endParaRPr lang="en-US" sz="1000" dirty="0"/>
          </a:p>
        </p:txBody>
      </p:sp>
      <p:sp>
        <p:nvSpPr>
          <p:cNvPr id="19" name="Text 17"/>
          <p:cNvSpPr/>
          <p:nvPr/>
        </p:nvSpPr>
        <p:spPr>
          <a:xfrm>
            <a:off x="2560320" y="2944368"/>
            <a:ext cx="502920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Agent Orchestration Pipeline (Meterless Architecture)</a:t>
            </a:r>
            <a:endParaRPr lang="en-US" sz="1300" dirty="0"/>
          </a:p>
        </p:txBody>
      </p:sp>
      <p:sp>
        <p:nvSpPr>
          <p:cNvPr id="20" name="Text 18"/>
          <p:cNvSpPr/>
          <p:nvPr/>
        </p:nvSpPr>
        <p:spPr>
          <a:xfrm>
            <a:off x="7772400" y="2944368"/>
            <a:ext cx="3474720" cy="320040"/>
          </a:xfrm>
          <a:prstGeom prst="rect">
            <a:avLst/>
          </a:prstGeom>
          <a:noFill/>
          <a:ln/>
        </p:spPr>
        <p:txBody>
          <a:bodyPr wrap="square" rtlCol="0" anchor="t"/>
          <a:lstStyle/>
          <a:p>
            <a:pPr algn="r" indent="0" marL="0">
              <a:buNone/>
            </a:pPr>
            <a:r>
              <a:rPr lang="en-US" sz="950" b="1" dirty="0">
                <a:solidFill>
                  <a:srgbClr val="10B981"/>
                </a:solidFill>
                <a:latin typeface="Calibri" pitchFamily="34" charset="0"/>
                <a:ea typeface="Calibri" pitchFamily="34" charset="-122"/>
                <a:cs typeface="Calibri" pitchFamily="34" charset="-120"/>
              </a:rPr>
              <a:t>Scout Intent • Relay Router • Nightshift AI • Gaia H-MEM</a:t>
            </a:r>
            <a:endParaRPr lang="en-US" sz="950" dirty="0"/>
          </a:p>
        </p:txBody>
      </p:sp>
      <p:sp>
        <p:nvSpPr>
          <p:cNvPr id="21" name="Text 19"/>
          <p:cNvSpPr/>
          <p:nvPr/>
        </p:nvSpPr>
        <p:spPr>
          <a:xfrm>
            <a:off x="2560320" y="3273552"/>
            <a:ext cx="8686800" cy="548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5-stage autonomous mission execution: Scout establishes rules, Relay executes tools, Reconciliation quantifies variance, and Nightshift AI reasons locally.</a:t>
            </a:r>
            <a:endParaRPr lang="en-US" sz="1000" dirty="0"/>
          </a:p>
        </p:txBody>
      </p:sp>
      <p:sp>
        <p:nvSpPr>
          <p:cNvPr id="22" name="Shape 20"/>
          <p:cNvSpPr/>
          <p:nvPr/>
        </p:nvSpPr>
        <p:spPr>
          <a:xfrm>
            <a:off x="731520" y="3977640"/>
            <a:ext cx="10725912" cy="1051560"/>
          </a:xfrm>
          <a:prstGeom prst="roundRect">
            <a:avLst>
              <a:gd name="adj" fmla="val 8696"/>
            </a:avLst>
          </a:prstGeom>
          <a:solidFill>
            <a:srgbClr val="0B1120"/>
          </a:solidFill>
          <a:ln w="19050">
            <a:solidFill>
              <a:srgbClr val="F59E0B"/>
            </a:solidFill>
            <a:prstDash val="solid"/>
          </a:ln>
        </p:spPr>
      </p:sp>
      <p:sp>
        <p:nvSpPr>
          <p:cNvPr id="23" name="Text 21"/>
          <p:cNvSpPr/>
          <p:nvPr/>
        </p:nvSpPr>
        <p:spPr>
          <a:xfrm>
            <a:off x="1005840" y="4114800"/>
            <a:ext cx="1371600" cy="320040"/>
          </a:xfrm>
          <a:prstGeom prst="rect">
            <a:avLst/>
          </a:prstGeom>
          <a:noFill/>
          <a:ln/>
        </p:spPr>
        <p:txBody>
          <a:bodyPr wrap="square" rtlCol="0" anchor="t"/>
          <a:lstStyle/>
          <a:p>
            <a:pPr indent="0" marL="0">
              <a:buNone/>
            </a:pPr>
            <a:r>
              <a:rPr lang="en-US" sz="1000" b="1" dirty="0">
                <a:solidFill>
                  <a:srgbClr val="F59E0B"/>
                </a:solidFill>
                <a:latin typeface="Calibri" pitchFamily="34" charset="0"/>
                <a:ea typeface="Calibri" pitchFamily="34" charset="-122"/>
                <a:cs typeface="Calibri" pitchFamily="34" charset="-120"/>
              </a:rPr>
              <a:t>TIER 3</a:t>
            </a:r>
            <a:endParaRPr lang="en-US" sz="1000" dirty="0"/>
          </a:p>
        </p:txBody>
      </p:sp>
      <p:sp>
        <p:nvSpPr>
          <p:cNvPr id="24" name="Text 22"/>
          <p:cNvSpPr/>
          <p:nvPr/>
        </p:nvSpPr>
        <p:spPr>
          <a:xfrm>
            <a:off x="2560320" y="4087368"/>
            <a:ext cx="502920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Evidence Index &amp; Dispute Synthesis</a:t>
            </a:r>
            <a:endParaRPr lang="en-US" sz="1300" dirty="0"/>
          </a:p>
        </p:txBody>
      </p:sp>
      <p:sp>
        <p:nvSpPr>
          <p:cNvPr id="25" name="Text 23"/>
          <p:cNvSpPr/>
          <p:nvPr/>
        </p:nvSpPr>
        <p:spPr>
          <a:xfrm>
            <a:off x="7772400" y="4087368"/>
            <a:ext cx="3474720" cy="320040"/>
          </a:xfrm>
          <a:prstGeom prst="rect">
            <a:avLst/>
          </a:prstGeom>
          <a:noFill/>
          <a:ln/>
        </p:spPr>
        <p:txBody>
          <a:bodyPr wrap="square" rtlCol="0" anchor="t"/>
          <a:lstStyle/>
          <a:p>
            <a:pPr algn="r" indent="0" marL="0">
              <a:buNone/>
            </a:pPr>
            <a:r>
              <a:rPr lang="en-US" sz="950" b="1" dirty="0">
                <a:solidFill>
                  <a:srgbClr val="F59E0B"/>
                </a:solidFill>
                <a:latin typeface="Calibri" pitchFamily="34" charset="0"/>
                <a:ea typeface="Calibri" pitchFamily="34" charset="-122"/>
                <a:cs typeface="Calibri" pitchFamily="34" charset="-120"/>
              </a:rPr>
              <a:t>Cell Citation Index • Dispute Formatter • Audit Certificates</a:t>
            </a:r>
            <a:endParaRPr lang="en-US" sz="950" dirty="0"/>
          </a:p>
        </p:txBody>
      </p:sp>
      <p:sp>
        <p:nvSpPr>
          <p:cNvPr id="26" name="Text 24"/>
          <p:cNvSpPr/>
          <p:nvPr/>
        </p:nvSpPr>
        <p:spPr>
          <a:xfrm>
            <a:off x="2560320" y="4416552"/>
            <a:ext cx="8686800" cy="548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Indexes cell coordinates {file, row, col, value} with 100% defensibility. Synthesizes formal supplier dispute claim packets with contractual references.</a:t>
            </a:r>
            <a:endParaRPr lang="en-US" sz="1000" dirty="0"/>
          </a:p>
        </p:txBody>
      </p:sp>
      <p:sp>
        <p:nvSpPr>
          <p:cNvPr id="27" name="Shape 25"/>
          <p:cNvSpPr/>
          <p:nvPr/>
        </p:nvSpPr>
        <p:spPr>
          <a:xfrm>
            <a:off x="731520" y="5120640"/>
            <a:ext cx="10725912" cy="1051560"/>
          </a:xfrm>
          <a:prstGeom prst="roundRect">
            <a:avLst>
              <a:gd name="adj" fmla="val 8696"/>
            </a:avLst>
          </a:prstGeom>
          <a:solidFill>
            <a:srgbClr val="0B1120"/>
          </a:solidFill>
          <a:ln w="19050">
            <a:solidFill>
              <a:srgbClr val="A855F7"/>
            </a:solidFill>
            <a:prstDash val="solid"/>
          </a:ln>
        </p:spPr>
      </p:sp>
      <p:sp>
        <p:nvSpPr>
          <p:cNvPr id="28" name="Text 26"/>
          <p:cNvSpPr/>
          <p:nvPr/>
        </p:nvSpPr>
        <p:spPr>
          <a:xfrm>
            <a:off x="1005840" y="5257800"/>
            <a:ext cx="1371600" cy="320040"/>
          </a:xfrm>
          <a:prstGeom prst="rect">
            <a:avLst/>
          </a:prstGeom>
          <a:noFill/>
          <a:ln/>
        </p:spPr>
        <p:txBody>
          <a:bodyPr wrap="square" rtlCol="0" anchor="t"/>
          <a:lstStyle/>
          <a:p>
            <a:pPr indent="0" marL="0">
              <a:buNone/>
            </a:pPr>
            <a:r>
              <a:rPr lang="en-US" sz="1000" b="1" dirty="0">
                <a:solidFill>
                  <a:srgbClr val="A855F7"/>
                </a:solidFill>
                <a:latin typeface="Calibri" pitchFamily="34" charset="0"/>
                <a:ea typeface="Calibri" pitchFamily="34" charset="-122"/>
                <a:cs typeface="Calibri" pitchFamily="34" charset="-120"/>
              </a:rPr>
              <a:t>TIER 4</a:t>
            </a:r>
            <a:endParaRPr lang="en-US" sz="1000" dirty="0"/>
          </a:p>
        </p:txBody>
      </p:sp>
      <p:sp>
        <p:nvSpPr>
          <p:cNvPr id="29" name="Text 27"/>
          <p:cNvSpPr/>
          <p:nvPr/>
        </p:nvSpPr>
        <p:spPr>
          <a:xfrm>
            <a:off x="2560320" y="5230368"/>
            <a:ext cx="5029200" cy="32004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Human-in-the-Loop Audit Workspace</a:t>
            </a:r>
            <a:endParaRPr lang="en-US" sz="1300" dirty="0"/>
          </a:p>
        </p:txBody>
      </p:sp>
      <p:sp>
        <p:nvSpPr>
          <p:cNvPr id="30" name="Text 28"/>
          <p:cNvSpPr/>
          <p:nvPr/>
        </p:nvSpPr>
        <p:spPr>
          <a:xfrm>
            <a:off x="7772400" y="5230368"/>
            <a:ext cx="3474720" cy="320040"/>
          </a:xfrm>
          <a:prstGeom prst="rect">
            <a:avLst/>
          </a:prstGeom>
          <a:noFill/>
          <a:ln/>
        </p:spPr>
        <p:txBody>
          <a:bodyPr wrap="square" rtlCol="0" anchor="t"/>
          <a:lstStyle/>
          <a:p>
            <a:pPr algn="r" indent="0" marL="0">
              <a:buNone/>
            </a:pPr>
            <a:r>
              <a:rPr lang="en-US" sz="950" b="1" dirty="0">
                <a:solidFill>
                  <a:srgbClr val="A855F7"/>
                </a:solidFill>
                <a:latin typeface="Calibri" pitchFamily="34" charset="0"/>
                <a:ea typeface="Calibri" pitchFamily="34" charset="-122"/>
                <a:cs typeface="Calibri" pitchFamily="34" charset="-120"/>
              </a:rPr>
              <a:t>React 18 • TypeScript • Tailwind CSS • Vite Dashboard</a:t>
            </a:r>
            <a:endParaRPr lang="en-US" sz="950" dirty="0"/>
          </a:p>
        </p:txBody>
      </p:sp>
      <p:sp>
        <p:nvSpPr>
          <p:cNvPr id="31" name="Text 29"/>
          <p:cNvSpPr/>
          <p:nvPr/>
        </p:nvSpPr>
        <p:spPr>
          <a:xfrm>
            <a:off x="2560320" y="5559552"/>
            <a:ext cx="8686800" cy="548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Auditor command center with spend metrics, 4-way evidence explorer, 2-minute demo video walkthrough, and 1-click claim approval modal.</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4. ARCHITECTURE</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21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The 5-Stage Meterless Mission Pipeline</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From audit intent extraction to local AI reasoning and dispute generation.</a:t>
            </a:r>
            <a:endParaRPr lang="en-US" sz="1250" dirty="0"/>
          </a:p>
        </p:txBody>
      </p:sp>
      <p:sp>
        <p:nvSpPr>
          <p:cNvPr id="12" name="Shape 10"/>
          <p:cNvSpPr/>
          <p:nvPr/>
        </p:nvSpPr>
        <p:spPr>
          <a:xfrm>
            <a:off x="731520" y="1691640"/>
            <a:ext cx="10725912" cy="786384"/>
          </a:xfrm>
          <a:prstGeom prst="roundRect">
            <a:avLst>
              <a:gd name="adj" fmla="val 11628"/>
            </a:avLst>
          </a:prstGeom>
          <a:solidFill>
            <a:srgbClr val="0B1120"/>
          </a:solidFill>
          <a:ln w="19050">
            <a:solidFill>
              <a:srgbClr val="6366F1"/>
            </a:solidFill>
            <a:prstDash val="solid"/>
          </a:ln>
        </p:spPr>
      </p:sp>
      <p:sp>
        <p:nvSpPr>
          <p:cNvPr id="13" name="Text 11"/>
          <p:cNvSpPr/>
          <p:nvPr/>
        </p:nvSpPr>
        <p:spPr>
          <a:xfrm>
            <a:off x="1005840" y="1828800"/>
            <a:ext cx="1371600" cy="274320"/>
          </a:xfrm>
          <a:prstGeom prst="rect">
            <a:avLst/>
          </a:prstGeom>
          <a:noFill/>
          <a:ln/>
        </p:spPr>
        <p:txBody>
          <a:bodyPr wrap="square" rtlCol="0" anchor="t"/>
          <a:lstStyle/>
          <a:p>
            <a:pPr indent="0" marL="0">
              <a:buNone/>
            </a:pPr>
            <a:r>
              <a:rPr lang="en-US" sz="1000" b="1" dirty="0">
                <a:solidFill>
                  <a:srgbClr val="6366F1"/>
                </a:solidFill>
                <a:latin typeface="Calibri" pitchFamily="34" charset="0"/>
                <a:ea typeface="Calibri" pitchFamily="34" charset="-122"/>
                <a:cs typeface="Calibri" pitchFamily="34" charset="-120"/>
              </a:rPr>
              <a:t>STAGE 1</a:t>
            </a:r>
            <a:endParaRPr lang="en-US" sz="1000" dirty="0"/>
          </a:p>
        </p:txBody>
      </p:sp>
      <p:sp>
        <p:nvSpPr>
          <p:cNvPr id="14" name="Text 12"/>
          <p:cNvSpPr/>
          <p:nvPr/>
        </p:nvSpPr>
        <p:spPr>
          <a:xfrm>
            <a:off x="2560320" y="1801368"/>
            <a:ext cx="411480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Scout Intent</a:t>
            </a:r>
            <a:endParaRPr lang="en-US" sz="1300" dirty="0"/>
          </a:p>
        </p:txBody>
      </p:sp>
      <p:sp>
        <p:nvSpPr>
          <p:cNvPr id="15" name="Text 13"/>
          <p:cNvSpPr/>
          <p:nvPr/>
        </p:nvSpPr>
        <p:spPr>
          <a:xfrm>
            <a:off x="8961120" y="1801368"/>
            <a:ext cx="2286000" cy="274320"/>
          </a:xfrm>
          <a:prstGeom prst="rect">
            <a:avLst/>
          </a:prstGeom>
          <a:noFill/>
          <a:ln/>
        </p:spPr>
        <p:txBody>
          <a:bodyPr wrap="square" rtlCol="0" anchor="t"/>
          <a:lstStyle/>
          <a:p>
            <a:pPr algn="r" indent="0" marL="0">
              <a:buNone/>
            </a:pPr>
            <a:r>
              <a:rPr lang="en-US" sz="1000" b="1" dirty="0">
                <a:solidFill>
                  <a:srgbClr val="6366F1"/>
                </a:solidFill>
                <a:latin typeface="Calibri" pitchFamily="34" charset="0"/>
                <a:ea typeface="Calibri" pitchFamily="34" charset="-122"/>
                <a:cs typeface="Calibri" pitchFamily="34" charset="-120"/>
              </a:rPr>
              <a:t>Latency: 12ms</a:t>
            </a:r>
            <a:endParaRPr lang="en-US" sz="1000" dirty="0"/>
          </a:p>
        </p:txBody>
      </p:sp>
      <p:sp>
        <p:nvSpPr>
          <p:cNvPr id="16" name="Text 14"/>
          <p:cNvSpPr/>
          <p:nvPr/>
        </p:nvSpPr>
        <p:spPr>
          <a:xfrm>
            <a:off x="2560320" y="2093976"/>
            <a:ext cx="8686800" cy="347472"/>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Parses audit parameters, sets $0 discrepancy tolerance threshold, and identifies required data entities.</a:t>
            </a:r>
            <a:endParaRPr lang="en-US" sz="950" dirty="0"/>
          </a:p>
        </p:txBody>
      </p:sp>
      <p:sp>
        <p:nvSpPr>
          <p:cNvPr id="17" name="Shape 15"/>
          <p:cNvSpPr/>
          <p:nvPr/>
        </p:nvSpPr>
        <p:spPr>
          <a:xfrm>
            <a:off x="731520" y="2560320"/>
            <a:ext cx="10725912" cy="786384"/>
          </a:xfrm>
          <a:prstGeom prst="roundRect">
            <a:avLst>
              <a:gd name="adj" fmla="val 11628"/>
            </a:avLst>
          </a:prstGeom>
          <a:solidFill>
            <a:srgbClr val="0B1120"/>
          </a:solidFill>
          <a:ln w="19050">
            <a:solidFill>
              <a:srgbClr val="38BDF8"/>
            </a:solidFill>
            <a:prstDash val="solid"/>
          </a:ln>
        </p:spPr>
      </p:sp>
      <p:sp>
        <p:nvSpPr>
          <p:cNvPr id="18" name="Text 16"/>
          <p:cNvSpPr/>
          <p:nvPr/>
        </p:nvSpPr>
        <p:spPr>
          <a:xfrm>
            <a:off x="1005840" y="2697480"/>
            <a:ext cx="1371600" cy="27432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STAGE 2</a:t>
            </a:r>
            <a:endParaRPr lang="en-US" sz="1000" dirty="0"/>
          </a:p>
        </p:txBody>
      </p:sp>
      <p:sp>
        <p:nvSpPr>
          <p:cNvPr id="19" name="Text 17"/>
          <p:cNvSpPr/>
          <p:nvPr/>
        </p:nvSpPr>
        <p:spPr>
          <a:xfrm>
            <a:off x="2560320" y="2670048"/>
            <a:ext cx="411480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Relay Zetaris</a:t>
            </a:r>
            <a:endParaRPr lang="en-US" sz="1300" dirty="0"/>
          </a:p>
        </p:txBody>
      </p:sp>
      <p:sp>
        <p:nvSpPr>
          <p:cNvPr id="20" name="Text 18"/>
          <p:cNvSpPr/>
          <p:nvPr/>
        </p:nvSpPr>
        <p:spPr>
          <a:xfrm>
            <a:off x="8961120" y="2670048"/>
            <a:ext cx="2286000" cy="274320"/>
          </a:xfrm>
          <a:prstGeom prst="rect">
            <a:avLst/>
          </a:prstGeom>
          <a:noFill/>
          <a:ln/>
        </p:spPr>
        <p:txBody>
          <a:bodyPr wrap="square" rtlCol="0" anchor="t"/>
          <a:lstStyle/>
          <a:p>
            <a:pPr algn="r" indent="0" marL="0">
              <a:buNone/>
            </a:pPr>
            <a:r>
              <a:rPr lang="en-US" sz="1000" b="1" dirty="0">
                <a:solidFill>
                  <a:srgbClr val="38BDF8"/>
                </a:solidFill>
                <a:latin typeface="Calibri" pitchFamily="34" charset="0"/>
                <a:ea typeface="Calibri" pitchFamily="34" charset="-122"/>
                <a:cs typeface="Calibri" pitchFamily="34" charset="-120"/>
              </a:rPr>
              <a:t>Latency: 18ms</a:t>
            </a:r>
            <a:endParaRPr lang="en-US" sz="1000" dirty="0"/>
          </a:p>
        </p:txBody>
      </p:sp>
      <p:sp>
        <p:nvSpPr>
          <p:cNvPr id="21" name="Text 19"/>
          <p:cNvSpPr/>
          <p:nvPr/>
        </p:nvSpPr>
        <p:spPr>
          <a:xfrm>
            <a:off x="2560320" y="2962656"/>
            <a:ext cx="8686800" cy="347472"/>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Dispatches federated SQL queries across ERP, warehouse, invoices, and contracts via Zetaris virtualization.</a:t>
            </a:r>
            <a:endParaRPr lang="en-US" sz="950" dirty="0"/>
          </a:p>
        </p:txBody>
      </p:sp>
      <p:sp>
        <p:nvSpPr>
          <p:cNvPr id="22" name="Shape 20"/>
          <p:cNvSpPr/>
          <p:nvPr/>
        </p:nvSpPr>
        <p:spPr>
          <a:xfrm>
            <a:off x="731520" y="3429000"/>
            <a:ext cx="10725912" cy="786384"/>
          </a:xfrm>
          <a:prstGeom prst="roundRect">
            <a:avLst>
              <a:gd name="adj" fmla="val 11628"/>
            </a:avLst>
          </a:prstGeom>
          <a:solidFill>
            <a:srgbClr val="0B1120"/>
          </a:solidFill>
          <a:ln w="19050">
            <a:solidFill>
              <a:srgbClr val="F59E0B"/>
            </a:solidFill>
            <a:prstDash val="solid"/>
          </a:ln>
        </p:spPr>
      </p:sp>
      <p:sp>
        <p:nvSpPr>
          <p:cNvPr id="23" name="Text 21"/>
          <p:cNvSpPr/>
          <p:nvPr/>
        </p:nvSpPr>
        <p:spPr>
          <a:xfrm>
            <a:off x="1005840" y="3566160"/>
            <a:ext cx="1371600" cy="274320"/>
          </a:xfrm>
          <a:prstGeom prst="rect">
            <a:avLst/>
          </a:prstGeom>
          <a:noFill/>
          <a:ln/>
        </p:spPr>
        <p:txBody>
          <a:bodyPr wrap="square" rtlCol="0" anchor="t"/>
          <a:lstStyle/>
          <a:p>
            <a:pPr indent="0" marL="0">
              <a:buNone/>
            </a:pPr>
            <a:r>
              <a:rPr lang="en-US" sz="1000" b="1" dirty="0">
                <a:solidFill>
                  <a:srgbClr val="F59E0B"/>
                </a:solidFill>
                <a:latin typeface="Calibri" pitchFamily="34" charset="0"/>
                <a:ea typeface="Calibri" pitchFamily="34" charset="-122"/>
                <a:cs typeface="Calibri" pitchFamily="34" charset="-120"/>
              </a:rPr>
              <a:t>STAGE 3</a:t>
            </a:r>
            <a:endParaRPr lang="en-US" sz="1000" dirty="0"/>
          </a:p>
        </p:txBody>
      </p:sp>
      <p:sp>
        <p:nvSpPr>
          <p:cNvPr id="24" name="Text 22"/>
          <p:cNvSpPr/>
          <p:nvPr/>
        </p:nvSpPr>
        <p:spPr>
          <a:xfrm>
            <a:off x="2560320" y="3538728"/>
            <a:ext cx="411480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Reconciliation</a:t>
            </a:r>
            <a:endParaRPr lang="en-US" sz="1300" dirty="0"/>
          </a:p>
        </p:txBody>
      </p:sp>
      <p:sp>
        <p:nvSpPr>
          <p:cNvPr id="25" name="Text 23"/>
          <p:cNvSpPr/>
          <p:nvPr/>
        </p:nvSpPr>
        <p:spPr>
          <a:xfrm>
            <a:off x="8961120" y="3538728"/>
            <a:ext cx="2286000" cy="274320"/>
          </a:xfrm>
          <a:prstGeom prst="rect">
            <a:avLst/>
          </a:prstGeom>
          <a:noFill/>
          <a:ln/>
        </p:spPr>
        <p:txBody>
          <a:bodyPr wrap="square" rtlCol="0" anchor="t"/>
          <a:lstStyle/>
          <a:p>
            <a:pPr algn="r" indent="0" marL="0">
              <a:buNone/>
            </a:pPr>
            <a:r>
              <a:rPr lang="en-US" sz="1000" b="1" dirty="0">
                <a:solidFill>
                  <a:srgbClr val="F59E0B"/>
                </a:solidFill>
                <a:latin typeface="Calibri" pitchFamily="34" charset="0"/>
                <a:ea typeface="Calibri" pitchFamily="34" charset="-122"/>
                <a:cs typeface="Calibri" pitchFamily="34" charset="-120"/>
              </a:rPr>
              <a:t>Latency: 8ms</a:t>
            </a:r>
            <a:endParaRPr lang="en-US" sz="1000" dirty="0"/>
          </a:p>
        </p:txBody>
      </p:sp>
      <p:sp>
        <p:nvSpPr>
          <p:cNvPr id="26" name="Text 24"/>
          <p:cNvSpPr/>
          <p:nvPr/>
        </p:nvSpPr>
        <p:spPr>
          <a:xfrm>
            <a:off x="2560320" y="3831336"/>
            <a:ext cx="8686800" cy="347472"/>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Executes deterministic 4-way matching algorithms to quantify quantity, rate, fee, and duplicate variances.</a:t>
            </a:r>
            <a:endParaRPr lang="en-US" sz="950" dirty="0"/>
          </a:p>
        </p:txBody>
      </p:sp>
      <p:sp>
        <p:nvSpPr>
          <p:cNvPr id="27" name="Shape 25"/>
          <p:cNvSpPr/>
          <p:nvPr/>
        </p:nvSpPr>
        <p:spPr>
          <a:xfrm>
            <a:off x="731520" y="4297680"/>
            <a:ext cx="10725912" cy="786384"/>
          </a:xfrm>
          <a:prstGeom prst="roundRect">
            <a:avLst>
              <a:gd name="adj" fmla="val 11628"/>
            </a:avLst>
          </a:prstGeom>
          <a:solidFill>
            <a:srgbClr val="0B1120"/>
          </a:solidFill>
          <a:ln w="19050">
            <a:solidFill>
              <a:srgbClr val="10B981"/>
            </a:solidFill>
            <a:prstDash val="solid"/>
          </a:ln>
        </p:spPr>
      </p:sp>
      <p:sp>
        <p:nvSpPr>
          <p:cNvPr id="28" name="Text 26"/>
          <p:cNvSpPr/>
          <p:nvPr/>
        </p:nvSpPr>
        <p:spPr>
          <a:xfrm>
            <a:off x="1005840" y="4434840"/>
            <a:ext cx="1371600" cy="274320"/>
          </a:xfrm>
          <a:prstGeom prst="rect">
            <a:avLst/>
          </a:prstGeom>
          <a:noFill/>
          <a:ln/>
        </p:spPr>
        <p:txBody>
          <a:bodyPr wrap="square" rtlCol="0" anchor="t"/>
          <a:lstStyle/>
          <a:p>
            <a:pPr indent="0" marL="0">
              <a:buNone/>
            </a:pPr>
            <a:r>
              <a:rPr lang="en-US" sz="1000" b="1" dirty="0">
                <a:solidFill>
                  <a:srgbClr val="10B981"/>
                </a:solidFill>
                <a:latin typeface="Calibri" pitchFamily="34" charset="0"/>
                <a:ea typeface="Calibri" pitchFamily="34" charset="-122"/>
                <a:cs typeface="Calibri" pitchFamily="34" charset="-120"/>
              </a:rPr>
              <a:t>STAGE 4</a:t>
            </a:r>
            <a:endParaRPr lang="en-US" sz="1000" dirty="0"/>
          </a:p>
        </p:txBody>
      </p:sp>
      <p:sp>
        <p:nvSpPr>
          <p:cNvPr id="29" name="Text 27"/>
          <p:cNvSpPr/>
          <p:nvPr/>
        </p:nvSpPr>
        <p:spPr>
          <a:xfrm>
            <a:off x="2560320" y="4407408"/>
            <a:ext cx="411480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Confidence Score</a:t>
            </a:r>
            <a:endParaRPr lang="en-US" sz="1300" dirty="0"/>
          </a:p>
        </p:txBody>
      </p:sp>
      <p:sp>
        <p:nvSpPr>
          <p:cNvPr id="30" name="Text 28"/>
          <p:cNvSpPr/>
          <p:nvPr/>
        </p:nvSpPr>
        <p:spPr>
          <a:xfrm>
            <a:off x="8961120" y="4407408"/>
            <a:ext cx="2286000" cy="274320"/>
          </a:xfrm>
          <a:prstGeom prst="rect">
            <a:avLst/>
          </a:prstGeom>
          <a:noFill/>
          <a:ln/>
        </p:spPr>
        <p:txBody>
          <a:bodyPr wrap="square" rtlCol="0" anchor="t"/>
          <a:lstStyle/>
          <a:p>
            <a:pPr algn="r" indent="0" marL="0">
              <a:buNone/>
            </a:pPr>
            <a:r>
              <a:rPr lang="en-US" sz="1000" b="1" dirty="0">
                <a:solidFill>
                  <a:srgbClr val="10B981"/>
                </a:solidFill>
                <a:latin typeface="Calibri" pitchFamily="34" charset="0"/>
                <a:ea typeface="Calibri" pitchFamily="34" charset="-122"/>
                <a:cs typeface="Calibri" pitchFamily="34" charset="-120"/>
              </a:rPr>
              <a:t>Latency: 14ms</a:t>
            </a:r>
            <a:endParaRPr lang="en-US" sz="1000" dirty="0"/>
          </a:p>
        </p:txBody>
      </p:sp>
      <p:sp>
        <p:nvSpPr>
          <p:cNvPr id="31" name="Text 29"/>
          <p:cNvSpPr/>
          <p:nvPr/>
        </p:nvSpPr>
        <p:spPr>
          <a:xfrm>
            <a:off x="2560320" y="4700016"/>
            <a:ext cx="8686800" cy="347472"/>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Evaluates cross-source corroboration strength, generating a calibrated confidence score (96.5% on PO-1001).</a:t>
            </a:r>
            <a:endParaRPr lang="en-US" sz="950" dirty="0"/>
          </a:p>
        </p:txBody>
      </p:sp>
      <p:sp>
        <p:nvSpPr>
          <p:cNvPr id="32" name="Shape 30"/>
          <p:cNvSpPr/>
          <p:nvPr/>
        </p:nvSpPr>
        <p:spPr>
          <a:xfrm>
            <a:off x="731520" y="5166360"/>
            <a:ext cx="10725912" cy="786384"/>
          </a:xfrm>
          <a:prstGeom prst="roundRect">
            <a:avLst>
              <a:gd name="adj" fmla="val 11628"/>
            </a:avLst>
          </a:prstGeom>
          <a:solidFill>
            <a:srgbClr val="0B1120"/>
          </a:solidFill>
          <a:ln w="19050">
            <a:solidFill>
              <a:srgbClr val="A855F7"/>
            </a:solidFill>
            <a:prstDash val="solid"/>
          </a:ln>
        </p:spPr>
      </p:sp>
      <p:sp>
        <p:nvSpPr>
          <p:cNvPr id="33" name="Text 31"/>
          <p:cNvSpPr/>
          <p:nvPr/>
        </p:nvSpPr>
        <p:spPr>
          <a:xfrm>
            <a:off x="1005840" y="5303520"/>
            <a:ext cx="1371600" cy="274320"/>
          </a:xfrm>
          <a:prstGeom prst="rect">
            <a:avLst/>
          </a:prstGeom>
          <a:noFill/>
          <a:ln/>
        </p:spPr>
        <p:txBody>
          <a:bodyPr wrap="square" rtlCol="0" anchor="t"/>
          <a:lstStyle/>
          <a:p>
            <a:pPr indent="0" marL="0">
              <a:buNone/>
            </a:pPr>
            <a:r>
              <a:rPr lang="en-US" sz="1000" b="1" dirty="0">
                <a:solidFill>
                  <a:srgbClr val="A855F7"/>
                </a:solidFill>
                <a:latin typeface="Calibri" pitchFamily="34" charset="0"/>
                <a:ea typeface="Calibri" pitchFamily="34" charset="-122"/>
                <a:cs typeface="Calibri" pitchFamily="34" charset="-120"/>
              </a:rPr>
              <a:t>STAGE 5</a:t>
            </a:r>
            <a:endParaRPr lang="en-US" sz="1000" dirty="0"/>
          </a:p>
        </p:txBody>
      </p:sp>
      <p:sp>
        <p:nvSpPr>
          <p:cNvPr id="34" name="Text 32"/>
          <p:cNvSpPr/>
          <p:nvPr/>
        </p:nvSpPr>
        <p:spPr>
          <a:xfrm>
            <a:off x="2560320" y="5276088"/>
            <a:ext cx="4114800" cy="274320"/>
          </a:xfrm>
          <a:prstGeom prst="rect">
            <a:avLst/>
          </a:prstGeom>
          <a:noFill/>
          <a:ln/>
        </p:spPr>
        <p:txBody>
          <a:bodyPr wrap="square"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Meterless Nightshift</a:t>
            </a:r>
            <a:endParaRPr lang="en-US" sz="1300" dirty="0"/>
          </a:p>
        </p:txBody>
      </p:sp>
      <p:sp>
        <p:nvSpPr>
          <p:cNvPr id="35" name="Text 33"/>
          <p:cNvSpPr/>
          <p:nvPr/>
        </p:nvSpPr>
        <p:spPr>
          <a:xfrm>
            <a:off x="8961120" y="5276088"/>
            <a:ext cx="2286000" cy="274320"/>
          </a:xfrm>
          <a:prstGeom prst="rect">
            <a:avLst/>
          </a:prstGeom>
          <a:noFill/>
          <a:ln/>
        </p:spPr>
        <p:txBody>
          <a:bodyPr wrap="square" rtlCol="0" anchor="t"/>
          <a:lstStyle/>
          <a:p>
            <a:pPr algn="r" indent="0" marL="0">
              <a:buNone/>
            </a:pPr>
            <a:r>
              <a:rPr lang="en-US" sz="1000" b="1" dirty="0">
                <a:solidFill>
                  <a:srgbClr val="A855F7"/>
                </a:solidFill>
                <a:latin typeface="Calibri" pitchFamily="34" charset="0"/>
                <a:ea typeface="Calibri" pitchFamily="34" charset="-122"/>
                <a:cs typeface="Calibri" pitchFamily="34" charset="-120"/>
              </a:rPr>
              <a:t>Latency: 42ms</a:t>
            </a:r>
            <a:endParaRPr lang="en-US" sz="1000" dirty="0"/>
          </a:p>
        </p:txBody>
      </p:sp>
      <p:sp>
        <p:nvSpPr>
          <p:cNvPr id="36" name="Text 34"/>
          <p:cNvSpPr/>
          <p:nvPr/>
        </p:nvSpPr>
        <p:spPr>
          <a:xfrm>
            <a:off x="2560320" y="5568696"/>
            <a:ext cx="8686800" cy="347472"/>
          </a:xfrm>
          <a:prstGeom prst="rect">
            <a:avLst/>
          </a:prstGeom>
          <a:noFill/>
          <a:ln/>
        </p:spPr>
        <p:txBody>
          <a:bodyPr wrap="square" rtlCol="0" anchor="t"/>
          <a:lstStyle/>
          <a:p>
            <a:pPr indent="0" marL="0">
              <a:buNone/>
            </a:pPr>
            <a:r>
              <a:rPr lang="en-US" sz="950" dirty="0">
                <a:solidFill>
                  <a:srgbClr val="CBD5E1"/>
                </a:solidFill>
                <a:latin typeface="Calibri" pitchFamily="34" charset="0"/>
                <a:ea typeface="Calibri" pitchFamily="34" charset="-122"/>
                <a:cs typeface="Calibri" pitchFamily="34" charset="-120"/>
              </a:rPr>
              <a:t>Executes Race/Judge/Verify/Generate local AI reasoning cycle; outputs cryptographic receipt at $0 token cost.</a:t>
            </a:r>
            <a:endParaRPr lang="en-US" sz="950" dirty="0"/>
          </a:p>
        </p:txBody>
      </p:sp>
      <p:sp>
        <p:nvSpPr>
          <p:cNvPr id="37" name="Shape 35"/>
          <p:cNvSpPr/>
          <p:nvPr/>
        </p:nvSpPr>
        <p:spPr>
          <a:xfrm>
            <a:off x="731520" y="6172200"/>
            <a:ext cx="10725912" cy="384048"/>
          </a:xfrm>
          <a:prstGeom prst="roundRect">
            <a:avLst>
              <a:gd name="adj" fmla="val 19048"/>
            </a:avLst>
          </a:prstGeom>
          <a:solidFill>
            <a:srgbClr val="0F172A"/>
          </a:solidFill>
          <a:ln w="12700">
            <a:solidFill>
              <a:srgbClr val="334155"/>
            </a:solidFill>
            <a:prstDash val="solid"/>
          </a:ln>
        </p:spPr>
      </p:sp>
      <p:sp>
        <p:nvSpPr>
          <p:cNvPr id="38" name="Text 36"/>
          <p:cNvSpPr/>
          <p:nvPr/>
        </p:nvSpPr>
        <p:spPr>
          <a:xfrm>
            <a:off x="914400" y="6172200"/>
            <a:ext cx="10360152" cy="384048"/>
          </a:xfrm>
          <a:prstGeom prst="rect">
            <a:avLst/>
          </a:prstGeom>
          <a:noFill/>
          <a:ln/>
        </p:spPr>
        <p:txBody>
          <a:bodyPr wrap="square" rtlCol="0" anchor="ctr"/>
          <a:lstStyle/>
          <a:p>
            <a:pPr algn="ctr" indent="0" marL="0">
              <a:buNone/>
            </a:pPr>
            <a:r>
              <a:rPr lang="en-US" sz="950" b="1" dirty="0">
                <a:solidFill>
                  <a:srgbClr val="10B981"/>
                </a:solidFill>
                <a:latin typeface="Calibri" pitchFamily="34" charset="0"/>
                <a:ea typeface="Calibri" pitchFamily="34" charset="-122"/>
                <a:cs typeface="Calibri" pitchFamily="34" charset="-120"/>
              </a:rPr>
              <a:t>TOTAL PIPELINE DURATION: 184ms   |   CLOUD TOKENS CONSUMED: 0   |   IMMUTABLE AUDIT RECEIPT: ns-rcpt-8f3a9e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4. ARCHITECTURE</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22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Cell-Level Evidence Provenance Index</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Absolute audit proof: every financial claim is anchored in {file, row, col, value}.</a:t>
            </a:r>
            <a:endParaRPr lang="en-US" sz="1250" dirty="0"/>
          </a:p>
        </p:txBody>
      </p:sp>
      <p:sp>
        <p:nvSpPr>
          <p:cNvPr id="12" name="Shape 10"/>
          <p:cNvSpPr/>
          <p:nvPr/>
        </p:nvSpPr>
        <p:spPr>
          <a:xfrm>
            <a:off x="731520" y="1691640"/>
            <a:ext cx="5285232" cy="2148840"/>
          </a:xfrm>
          <a:prstGeom prst="roundRect">
            <a:avLst>
              <a:gd name="adj" fmla="val 5106"/>
            </a:avLst>
          </a:prstGeom>
          <a:solidFill>
            <a:srgbClr val="0B1120"/>
          </a:solidFill>
          <a:ln w="19050">
            <a:solidFill>
              <a:srgbClr val="38BDF8"/>
            </a:solidFill>
            <a:prstDash val="solid"/>
          </a:ln>
        </p:spPr>
      </p:sp>
      <p:sp>
        <p:nvSpPr>
          <p:cNvPr id="13" name="Text 11"/>
          <p:cNvSpPr/>
          <p:nvPr/>
        </p:nvSpPr>
        <p:spPr>
          <a:xfrm>
            <a:off x="914400" y="1828800"/>
            <a:ext cx="4846320" cy="320040"/>
          </a:xfrm>
          <a:prstGeom prst="rect">
            <a:avLst/>
          </a:prstGeom>
          <a:noFill/>
          <a:ln/>
        </p:spPr>
        <p:txBody>
          <a:bodyPr wrap="square" rtlCol="0" anchor="t"/>
          <a:lstStyle/>
          <a:p>
            <a:pPr indent="0" marL="0">
              <a:buNone/>
            </a:pPr>
            <a:r>
              <a:rPr lang="en-US" sz="1350" b="1" dirty="0">
                <a:solidFill>
                  <a:srgbClr val="38BDF8"/>
                </a:solidFill>
                <a:latin typeface="Calibri" pitchFamily="34" charset="0"/>
                <a:ea typeface="Calibri" pitchFamily="34" charset="-122"/>
                <a:cs typeface="Calibri" pitchFamily="34" charset="-120"/>
              </a:rPr>
              <a:t>Precise Coordinate Citations</a:t>
            </a:r>
            <a:endParaRPr lang="en-US" sz="1350" dirty="0"/>
          </a:p>
        </p:txBody>
      </p:sp>
      <p:sp>
        <p:nvSpPr>
          <p:cNvPr id="14" name="Text 12"/>
          <p:cNvSpPr/>
          <p:nvPr/>
        </p:nvSpPr>
        <p:spPr>
          <a:xfrm>
            <a:off x="914400" y="2194560"/>
            <a:ext cx="4846320" cy="15087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Every single variance is tied directly to an immutable data cell coordinate:</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Discrepancy 1: invoices.csv:Row 2:Col 3 (invoiced_qty = 120)</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Corroborating: deliveries.csv:Row 2:Col 3 (delivered_qty = 100)</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Discrepancy 2: invoices.csv:Row 2:Col 4 (unit_price = $50.00)</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Corroborating: contract_prices.csv:Row 2:Col 3 (contract_unit_price = $48.00)</a:t>
            </a:r>
            <a:endParaRPr lang="en-US" sz="1000" dirty="0"/>
          </a:p>
        </p:txBody>
      </p:sp>
      <p:sp>
        <p:nvSpPr>
          <p:cNvPr id="15" name="Shape 13"/>
          <p:cNvSpPr/>
          <p:nvPr/>
        </p:nvSpPr>
        <p:spPr>
          <a:xfrm>
            <a:off x="6172200" y="1691640"/>
            <a:ext cx="5285232" cy="2148840"/>
          </a:xfrm>
          <a:prstGeom prst="roundRect">
            <a:avLst>
              <a:gd name="adj" fmla="val 5106"/>
            </a:avLst>
          </a:prstGeom>
          <a:solidFill>
            <a:srgbClr val="0B1120"/>
          </a:solidFill>
          <a:ln w="19050">
            <a:solidFill>
              <a:srgbClr val="10B981"/>
            </a:solidFill>
            <a:prstDash val="solid"/>
          </a:ln>
        </p:spPr>
      </p:sp>
      <p:sp>
        <p:nvSpPr>
          <p:cNvPr id="16" name="Text 14"/>
          <p:cNvSpPr/>
          <p:nvPr/>
        </p:nvSpPr>
        <p:spPr>
          <a:xfrm>
            <a:off x="6355080" y="1828800"/>
            <a:ext cx="4846320" cy="320040"/>
          </a:xfrm>
          <a:prstGeom prst="rect">
            <a:avLst/>
          </a:prstGeom>
          <a:noFill/>
          <a:ln/>
        </p:spPr>
        <p:txBody>
          <a:bodyPr wrap="square"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Cryptographic Audit Certificate</a:t>
            </a:r>
            <a:endParaRPr lang="en-US" sz="1350" dirty="0"/>
          </a:p>
        </p:txBody>
      </p:sp>
      <p:sp>
        <p:nvSpPr>
          <p:cNvPr id="17" name="Text 15"/>
          <p:cNvSpPr/>
          <p:nvPr/>
        </p:nvSpPr>
        <p:spPr>
          <a:xfrm>
            <a:off x="6355080" y="2194560"/>
            <a:ext cx="4846320" cy="15087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When an audit completes, TraceBack AI generates an immutable audit receipt:</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Cryptographic receipt hash: sha256:8f3a9e...21b0</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Timestamped with zero-tamper verification</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Bound to auditor digital signature upon approval</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Directly exportable for internal SOX controllers and external Big 4 audit review</a:t>
            </a:r>
            <a:endParaRPr lang="en-US" sz="1000" dirty="0"/>
          </a:p>
        </p:txBody>
      </p:sp>
      <p:sp>
        <p:nvSpPr>
          <p:cNvPr id="18" name="Shape 16"/>
          <p:cNvSpPr/>
          <p:nvPr/>
        </p:nvSpPr>
        <p:spPr>
          <a:xfrm>
            <a:off x="731520" y="3931920"/>
            <a:ext cx="5285232" cy="2148840"/>
          </a:xfrm>
          <a:prstGeom prst="roundRect">
            <a:avLst>
              <a:gd name="adj" fmla="val 5106"/>
            </a:avLst>
          </a:prstGeom>
          <a:solidFill>
            <a:srgbClr val="0B1120"/>
          </a:solidFill>
          <a:ln w="19050">
            <a:solidFill>
              <a:srgbClr val="F59E0B"/>
            </a:solidFill>
            <a:prstDash val="solid"/>
          </a:ln>
        </p:spPr>
      </p:sp>
      <p:sp>
        <p:nvSpPr>
          <p:cNvPr id="19" name="Text 17"/>
          <p:cNvSpPr/>
          <p:nvPr/>
        </p:nvSpPr>
        <p:spPr>
          <a:xfrm>
            <a:off x="914400" y="4069080"/>
            <a:ext cx="4846320" cy="320040"/>
          </a:xfrm>
          <a:prstGeom prst="rect">
            <a:avLst/>
          </a:prstGeom>
          <a:noFill/>
          <a:ln/>
        </p:spPr>
        <p:txBody>
          <a:bodyPr wrap="square" rtlCol="0" anchor="t"/>
          <a:lstStyle/>
          <a:p>
            <a:pPr indent="0" marL="0">
              <a:buNone/>
            </a:pPr>
            <a:r>
              <a:rPr lang="en-US" sz="1350" b="1" dirty="0">
                <a:solidFill>
                  <a:srgbClr val="F59E0B"/>
                </a:solidFill>
                <a:latin typeface="Calibri" pitchFamily="34" charset="0"/>
                <a:ea typeface="Calibri" pitchFamily="34" charset="-122"/>
                <a:cs typeface="Calibri" pitchFamily="34" charset="-120"/>
              </a:rPr>
              <a:t>Mathematical Defensibility</a:t>
            </a:r>
            <a:endParaRPr lang="en-US" sz="1350" dirty="0"/>
          </a:p>
        </p:txBody>
      </p:sp>
      <p:sp>
        <p:nvSpPr>
          <p:cNvPr id="20" name="Text 18"/>
          <p:cNvSpPr/>
          <p:nvPr/>
        </p:nvSpPr>
        <p:spPr>
          <a:xfrm>
            <a:off x="914400" y="4434840"/>
            <a:ext cx="4846320" cy="15087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No black-box probability or hallucinated calculations:</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Overcharge amounts are calculated via deterministic integer/float arithmetic</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Variance = (invoiced_qty - delivered_qty) * unit_price</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Rate Creep = delivered_qty * (invoiced_price - contract_price)</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100% reproducible and legally binding</a:t>
            </a:r>
            <a:endParaRPr lang="en-US" sz="1000" dirty="0"/>
          </a:p>
        </p:txBody>
      </p:sp>
      <p:sp>
        <p:nvSpPr>
          <p:cNvPr id="21" name="Shape 19"/>
          <p:cNvSpPr/>
          <p:nvPr/>
        </p:nvSpPr>
        <p:spPr>
          <a:xfrm>
            <a:off x="6172200" y="3931920"/>
            <a:ext cx="5285232" cy="2148840"/>
          </a:xfrm>
          <a:prstGeom prst="roundRect">
            <a:avLst>
              <a:gd name="adj" fmla="val 5106"/>
            </a:avLst>
          </a:prstGeom>
          <a:solidFill>
            <a:srgbClr val="0B1120"/>
          </a:solidFill>
          <a:ln w="19050">
            <a:solidFill>
              <a:srgbClr val="A855F7"/>
            </a:solidFill>
            <a:prstDash val="solid"/>
          </a:ln>
        </p:spPr>
      </p:sp>
      <p:sp>
        <p:nvSpPr>
          <p:cNvPr id="22" name="Text 20"/>
          <p:cNvSpPr/>
          <p:nvPr/>
        </p:nvSpPr>
        <p:spPr>
          <a:xfrm>
            <a:off x="6355080" y="4069080"/>
            <a:ext cx="4846320" cy="320040"/>
          </a:xfrm>
          <a:prstGeom prst="rect">
            <a:avLst/>
          </a:prstGeom>
          <a:noFill/>
          <a:ln/>
        </p:spPr>
        <p:txBody>
          <a:bodyPr wrap="square" rtlCol="0" anchor="t"/>
          <a:lstStyle/>
          <a:p>
            <a:pPr indent="0" marL="0">
              <a:buNone/>
            </a:pPr>
            <a:r>
              <a:rPr lang="en-US" sz="1350" b="1" dirty="0">
                <a:solidFill>
                  <a:srgbClr val="A855F7"/>
                </a:solidFill>
                <a:latin typeface="Calibri" pitchFamily="34" charset="0"/>
                <a:ea typeface="Calibri" pitchFamily="34" charset="-122"/>
                <a:cs typeface="Calibri" pitchFamily="34" charset="-120"/>
              </a:rPr>
              <a:t>Supplier Dispute Package</a:t>
            </a:r>
            <a:endParaRPr lang="en-US" sz="1350" dirty="0"/>
          </a:p>
        </p:txBody>
      </p:sp>
      <p:sp>
        <p:nvSpPr>
          <p:cNvPr id="23" name="Text 21"/>
          <p:cNvSpPr/>
          <p:nvPr/>
        </p:nvSpPr>
        <p:spPr>
          <a:xfrm>
            <a:off x="6355080" y="4434840"/>
            <a:ext cx="4846320" cy="150876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Dispute notices are not generic complaints:</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Fully synthesized supplier letter generated in seconds</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Formatted with exact contract clause citations (Section 4.2)</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Cross-referenced with warehouse dock note numbers (DN-045)</a:t>
            </a:r>
            <a:endParaRPr lang="en-US" sz="1000" dirty="0"/>
          </a:p>
          <a:p>
            <a:pPr indent="0" marL="0">
              <a:buNone/>
            </a:pPr>
            <a:r>
              <a:rPr lang="en-US" sz="1000" dirty="0">
                <a:solidFill>
                  <a:srgbClr val="CBD5E1"/>
                </a:solidFill>
                <a:latin typeface="Calibri" pitchFamily="34" charset="0"/>
                <a:ea typeface="Calibri" pitchFamily="34" charset="-122"/>
                <a:cs typeface="Calibri" pitchFamily="34" charset="-120"/>
              </a:rPr>
              <a:t>• Ready for immediate dispatch to vendor accounts team</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4. ARCHITECTURE</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23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Human-in-the-Loop Governance &amp; Dispute Synthesis</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Empowering human auditors with 1-click approvals and automated supplier notices.</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A855F7"/>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A855F7"/>
                </a:solidFill>
                <a:latin typeface="Calibri" pitchFamily="34" charset="0"/>
                <a:ea typeface="Calibri" pitchFamily="34" charset="-122"/>
                <a:cs typeface="Calibri" pitchFamily="34" charset="-120"/>
              </a:rPr>
              <a:t>HUMAN GOVERNANCE WORKFLOW</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Auditor In Full Control</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AI as Copilot, Human as Authority: Agents discover and corroborate discrepancies, but human auditors hold final claim approval authority.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1-Click Decision Actions: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1. APPROVE CLAIM: Endorses $1,200.00 recovery and generates formal dispute notice.</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2. OVERRIDE TOLERANCE: Flags transaction as acceptable commercial concession.</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3. REQUEST RE-AUDIT: Triggers re-verification against updated vendor notes.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10B981"/>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10B981"/>
                </a:solidFill>
                <a:latin typeface="Calibri" pitchFamily="34" charset="0"/>
                <a:ea typeface="Calibri" pitchFamily="34" charset="-122"/>
                <a:cs typeface="Calibri" pitchFamily="34" charset="-120"/>
              </a:rPr>
              <a:t>SYNTHESIZED DISPUTE NOTICE</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Ready-to-Dispatch Supplier Email</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000" dirty="0">
                <a:solidFill>
                  <a:srgbClr val="F8FAFC"/>
                </a:solidFill>
                <a:latin typeface="Calibri" pitchFamily="34" charset="0"/>
                <a:ea typeface="Calibri" pitchFamily="34" charset="-122"/>
                <a:cs typeface="Calibri" pitchFamily="34" charset="-120"/>
              </a:rPr>
              <a:t>Subject: Notice of Invoice Discrepancy — PO-1001 / INV-9001</a:t>
            </a:r>
            <a:endParaRPr lang="en-US" sz="1000" dirty="0"/>
          </a:p>
          <a:p>
            <a:pPr indent="0" marL="0">
              <a:buNone/>
            </a:pPr>
            <a:endParaRPr lang="en-US" sz="1000" dirty="0"/>
          </a:p>
          <a:p>
            <a:pPr indent="0" marL="0">
              <a:buNone/>
            </a:pPr>
            <a:r>
              <a:rPr lang="en-US" sz="1000" dirty="0">
                <a:solidFill>
                  <a:srgbClr val="F8FAFC"/>
                </a:solidFill>
                <a:latin typeface="Calibri" pitchFamily="34" charset="0"/>
                <a:ea typeface="Calibri" pitchFamily="34" charset="-122"/>
                <a:cs typeface="Calibri" pitchFamily="34" charset="-120"/>
              </a:rPr>
              <a:t>Dear Apex Industrial Accounts Team,</a:t>
            </a:r>
            <a:endParaRPr lang="en-US" sz="1000" dirty="0"/>
          </a:p>
          <a:p>
            <a:pPr indent="0" marL="0">
              <a:buNone/>
            </a:pPr>
            <a:endParaRPr lang="en-US" sz="1000" dirty="0"/>
          </a:p>
          <a:p>
            <a:pPr indent="0" marL="0">
              <a:buNone/>
            </a:pPr>
            <a:r>
              <a:rPr lang="en-US" sz="1000" dirty="0">
                <a:solidFill>
                  <a:srgbClr val="F8FAFC"/>
                </a:solidFill>
                <a:latin typeface="Calibri" pitchFamily="34" charset="0"/>
                <a:ea typeface="Calibri" pitchFamily="34" charset="-122"/>
                <a:cs typeface="Calibri" pitchFamily="34" charset="-120"/>
              </a:rPr>
              <a:t>Our automated audit of PO-1001 has identified $1,200.00 in discrepancies requiring adjustment prior to payment:</a:t>
            </a:r>
            <a:endParaRPr lang="en-US" sz="1000" dirty="0"/>
          </a:p>
          <a:p>
            <a:pPr indent="0" marL="0">
              <a:buNone/>
            </a:pPr>
            <a:r>
              <a:rPr lang="en-US" sz="1000" dirty="0">
                <a:solidFill>
                  <a:srgbClr val="F8FAFC"/>
                </a:solidFill>
                <a:latin typeface="Calibri" pitchFamily="34" charset="0"/>
                <a:ea typeface="Calibri" pitchFamily="34" charset="-122"/>
                <a:cs typeface="Calibri" pitchFamily="34" charset="-120"/>
              </a:rPr>
              <a:t>1. Quantity Overbilling ($1,000.00): Invoiced 120 units; warehouse dock note DN-045 logged 100 units physically received.</a:t>
            </a:r>
            <a:endParaRPr lang="en-US" sz="1000" dirty="0"/>
          </a:p>
          <a:p>
            <a:pPr indent="0" marL="0">
              <a:buNone/>
            </a:pPr>
            <a:r>
              <a:rPr lang="en-US" sz="1000" dirty="0">
                <a:solidFill>
                  <a:srgbClr val="F8FAFC"/>
                </a:solidFill>
                <a:latin typeface="Calibri" pitchFamily="34" charset="0"/>
                <a:ea typeface="Calibri" pitchFamily="34" charset="-122"/>
                <a:cs typeface="Calibri" pitchFamily="34" charset="-120"/>
              </a:rPr>
              <a:t>2. Rate Escalation ($200.00): Invoiced unit price of $50.00 exceeds Master Agreement ceiling of $48.00 (Section 4.2).</a:t>
            </a:r>
            <a:endParaRPr lang="en-US" sz="1000" dirty="0"/>
          </a:p>
          <a:p>
            <a:pPr indent="0" marL="0">
              <a:buNone/>
            </a:pPr>
            <a:endParaRPr lang="en-US" sz="1000" dirty="0"/>
          </a:p>
          <a:p>
            <a:pPr indent="0" marL="0">
              <a:buNone/>
            </a:pPr>
            <a:r>
              <a:rPr lang="en-US" sz="1000" dirty="0">
                <a:solidFill>
                  <a:srgbClr val="F8FAFC"/>
                </a:solidFill>
                <a:latin typeface="Calibri" pitchFamily="34" charset="0"/>
                <a:ea typeface="Calibri" pitchFamily="34" charset="-122"/>
                <a:cs typeface="Calibri" pitchFamily="34" charset="-120"/>
              </a:rPr>
              <a:t>Please issue an amended invoice or credit memo for $1,200.00.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731520"/>
            <a:ext cx="10725912" cy="5394960"/>
          </a:xfrm>
          <a:prstGeom prst="roundRect">
            <a:avLst>
              <a:gd name="adj" fmla="val 3390"/>
            </a:avLst>
          </a:prstGeom>
          <a:solidFill>
            <a:srgbClr val="0B1120"/>
          </a:solidFill>
          <a:ln w="25400">
            <a:solidFill>
              <a:srgbClr val="A855F7"/>
            </a:solidFill>
            <a:prstDash val="solid"/>
          </a:ln>
        </p:spPr>
      </p:sp>
      <p:sp>
        <p:nvSpPr>
          <p:cNvPr id="3" name="Shape 1"/>
          <p:cNvSpPr/>
          <p:nvPr/>
        </p:nvSpPr>
        <p:spPr>
          <a:xfrm>
            <a:off x="1188720" y="1188720"/>
            <a:ext cx="2926080" cy="347472"/>
          </a:xfrm>
          <a:prstGeom prst="roundRect">
            <a:avLst>
              <a:gd name="adj" fmla="val 50000"/>
            </a:avLst>
          </a:prstGeom>
          <a:solidFill>
            <a:srgbClr val="1E1B4B"/>
          </a:solidFill>
          <a:ln w="19050">
            <a:solidFill>
              <a:srgbClr val="A855F7"/>
            </a:solidFill>
            <a:prstDash val="solid"/>
          </a:ln>
        </p:spPr>
      </p:sp>
      <p:sp>
        <p:nvSpPr>
          <p:cNvPr id="4" name="Text 2"/>
          <p:cNvSpPr/>
          <p:nvPr/>
        </p:nvSpPr>
        <p:spPr>
          <a:xfrm>
            <a:off x="1188720" y="1188720"/>
            <a:ext cx="2926080" cy="347472"/>
          </a:xfrm>
          <a:prstGeom prst="rect">
            <a:avLst/>
          </a:prstGeom>
          <a:noFill/>
          <a:ln/>
        </p:spPr>
        <p:txBody>
          <a:bodyPr wrap="square" rtlCol="0" anchor="ctr"/>
          <a:lstStyle/>
          <a:p>
            <a:pPr algn="ctr" indent="0" marL="0">
              <a:buNone/>
            </a:pPr>
            <a:r>
              <a:rPr lang="en-US" sz="1100" b="1" dirty="0">
                <a:solidFill>
                  <a:srgbClr val="A855F7"/>
                </a:solidFill>
                <a:latin typeface="Calibri" pitchFamily="34" charset="0"/>
                <a:ea typeface="Calibri" pitchFamily="34" charset="-122"/>
                <a:cs typeface="Calibri" pitchFamily="34" charset="-120"/>
              </a:rPr>
              <a:t>SECTION 05 / 05</a:t>
            </a:r>
            <a:endParaRPr lang="en-US" sz="1100" dirty="0"/>
          </a:p>
        </p:txBody>
      </p:sp>
      <p:sp>
        <p:nvSpPr>
          <p:cNvPr id="5" name="Text 3"/>
          <p:cNvSpPr/>
          <p:nvPr/>
        </p:nvSpPr>
        <p:spPr>
          <a:xfrm>
            <a:off x="1188720" y="1691640"/>
            <a:ext cx="9784080" cy="77724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Sponsor Tech Integration: Zetaris &amp; Meterless</a:t>
            </a:r>
            <a:endParaRPr lang="en-US" sz="3600" dirty="0"/>
          </a:p>
        </p:txBody>
      </p:sp>
      <p:sp>
        <p:nvSpPr>
          <p:cNvPr id="6" name="Text 4"/>
          <p:cNvSpPr/>
          <p:nvPr/>
        </p:nvSpPr>
        <p:spPr>
          <a:xfrm>
            <a:off x="1188720" y="2514600"/>
            <a:ext cx="9784080" cy="457200"/>
          </a:xfrm>
          <a:prstGeom prst="rect">
            <a:avLst/>
          </a:prstGeom>
          <a:noFill/>
          <a:ln/>
        </p:spPr>
        <p:txBody>
          <a:bodyPr wrap="square" rtlCol="0" anchor="t"/>
          <a:lstStyle/>
          <a:p>
            <a:pPr indent="0" marL="0">
              <a:buNone/>
            </a:pPr>
            <a:r>
              <a:rPr lang="en-US" sz="1400" dirty="0">
                <a:solidFill>
                  <a:srgbClr val="CBD5E1"/>
                </a:solidFill>
                <a:latin typeface="Calibri" pitchFamily="34" charset="0"/>
                <a:ea typeface="Calibri" pitchFamily="34" charset="-122"/>
                <a:cs typeface="Calibri" pitchFamily="34" charset="-120"/>
              </a:rPr>
              <a:t>How cutting-edge virtualization and agent infrastructure power TraceBack AI core capabilities.</a:t>
            </a:r>
            <a:endParaRPr lang="en-US" sz="1400" dirty="0"/>
          </a:p>
        </p:txBody>
      </p:sp>
      <p:sp>
        <p:nvSpPr>
          <p:cNvPr id="7" name="Shape 5"/>
          <p:cNvSpPr/>
          <p:nvPr/>
        </p:nvSpPr>
        <p:spPr>
          <a:xfrm>
            <a:off x="1188720" y="3200400"/>
            <a:ext cx="3108960" cy="2560320"/>
          </a:xfrm>
          <a:prstGeom prst="roundRect">
            <a:avLst>
              <a:gd name="adj" fmla="val 4286"/>
            </a:avLst>
          </a:prstGeom>
          <a:solidFill>
            <a:srgbClr val="0F172A"/>
          </a:solidFill>
          <a:ln w="15240">
            <a:solidFill>
              <a:srgbClr val="1E293B"/>
            </a:solidFill>
            <a:prstDash val="solid"/>
          </a:ln>
        </p:spPr>
      </p:sp>
      <p:sp>
        <p:nvSpPr>
          <p:cNvPr id="8" name="Text 6"/>
          <p:cNvSpPr/>
          <p:nvPr/>
        </p:nvSpPr>
        <p:spPr>
          <a:xfrm>
            <a:off x="1417320" y="3429000"/>
            <a:ext cx="2651760" cy="320040"/>
          </a:xfrm>
          <a:prstGeom prst="rect">
            <a:avLst/>
          </a:prstGeom>
          <a:noFill/>
          <a:ln/>
        </p:spPr>
        <p:txBody>
          <a:bodyPr wrap="square" rtlCol="0" anchor="t"/>
          <a:lstStyle/>
          <a:p>
            <a:pPr indent="0" marL="0">
              <a:buNone/>
            </a:pPr>
            <a:r>
              <a:rPr lang="en-US" sz="1600" b="1" dirty="0">
                <a:solidFill>
                  <a:srgbClr val="A855F7"/>
                </a:solidFill>
                <a:latin typeface="Calibri" pitchFamily="34" charset="0"/>
                <a:ea typeface="Calibri" pitchFamily="34" charset="-122"/>
                <a:cs typeface="Calibri" pitchFamily="34" charset="-120"/>
              </a:rPr>
              <a:t>01</a:t>
            </a:r>
            <a:endParaRPr lang="en-US" sz="1600" dirty="0"/>
          </a:p>
        </p:txBody>
      </p:sp>
      <p:sp>
        <p:nvSpPr>
          <p:cNvPr id="9" name="Text 7"/>
          <p:cNvSpPr/>
          <p:nvPr/>
        </p:nvSpPr>
        <p:spPr>
          <a:xfrm>
            <a:off x="141732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Zetaris Virtualization</a:t>
            </a:r>
            <a:endParaRPr lang="en-US" sz="1400" dirty="0"/>
          </a:p>
        </p:txBody>
      </p:sp>
      <p:sp>
        <p:nvSpPr>
          <p:cNvPr id="10" name="Text 8"/>
          <p:cNvSpPr/>
          <p:nvPr/>
        </p:nvSpPr>
        <p:spPr>
          <a:xfrm>
            <a:off x="141732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Zero-ETL federated queries executing across 4 enterprise datasets in 12ms without pipelines or data movement.</a:t>
            </a:r>
            <a:endParaRPr lang="en-US" sz="1100" dirty="0"/>
          </a:p>
        </p:txBody>
      </p:sp>
      <p:sp>
        <p:nvSpPr>
          <p:cNvPr id="11" name="Shape 9"/>
          <p:cNvSpPr/>
          <p:nvPr/>
        </p:nvSpPr>
        <p:spPr>
          <a:xfrm>
            <a:off x="4526280" y="3200400"/>
            <a:ext cx="3108960" cy="2560320"/>
          </a:xfrm>
          <a:prstGeom prst="roundRect">
            <a:avLst>
              <a:gd name="adj" fmla="val 4286"/>
            </a:avLst>
          </a:prstGeom>
          <a:solidFill>
            <a:srgbClr val="0F172A"/>
          </a:solidFill>
          <a:ln w="15240">
            <a:solidFill>
              <a:srgbClr val="1E293B"/>
            </a:solidFill>
            <a:prstDash val="solid"/>
          </a:ln>
        </p:spPr>
      </p:sp>
      <p:sp>
        <p:nvSpPr>
          <p:cNvPr id="12" name="Text 10"/>
          <p:cNvSpPr/>
          <p:nvPr/>
        </p:nvSpPr>
        <p:spPr>
          <a:xfrm>
            <a:off x="4754880" y="3429000"/>
            <a:ext cx="2651760" cy="320040"/>
          </a:xfrm>
          <a:prstGeom prst="rect">
            <a:avLst/>
          </a:prstGeom>
          <a:noFill/>
          <a:ln/>
        </p:spPr>
        <p:txBody>
          <a:bodyPr wrap="square" rtlCol="0" anchor="t"/>
          <a:lstStyle/>
          <a:p>
            <a:pPr indent="0" marL="0">
              <a:buNone/>
            </a:pPr>
            <a:r>
              <a:rPr lang="en-US" sz="1600" b="1" dirty="0">
                <a:solidFill>
                  <a:srgbClr val="A855F7"/>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475488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Meterless Engine</a:t>
            </a:r>
            <a:endParaRPr lang="en-US" sz="1400" dirty="0"/>
          </a:p>
        </p:txBody>
      </p:sp>
      <p:sp>
        <p:nvSpPr>
          <p:cNvPr id="14" name="Text 12"/>
          <p:cNvSpPr/>
          <p:nvPr/>
        </p:nvSpPr>
        <p:spPr>
          <a:xfrm>
            <a:off x="475488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Scout intent parsing, Relay asynchronous routing, and Gaia H-MEM persistent working memory.</a:t>
            </a:r>
            <a:endParaRPr lang="en-US" sz="1100" dirty="0"/>
          </a:p>
        </p:txBody>
      </p:sp>
      <p:sp>
        <p:nvSpPr>
          <p:cNvPr id="15" name="Shape 13"/>
          <p:cNvSpPr/>
          <p:nvPr/>
        </p:nvSpPr>
        <p:spPr>
          <a:xfrm>
            <a:off x="7863840" y="3200400"/>
            <a:ext cx="3108960" cy="2560320"/>
          </a:xfrm>
          <a:prstGeom prst="roundRect">
            <a:avLst>
              <a:gd name="adj" fmla="val 4286"/>
            </a:avLst>
          </a:prstGeom>
          <a:solidFill>
            <a:srgbClr val="0F172A"/>
          </a:solidFill>
          <a:ln w="15240">
            <a:solidFill>
              <a:srgbClr val="1E293B"/>
            </a:solidFill>
            <a:prstDash val="solid"/>
          </a:ln>
        </p:spPr>
      </p:sp>
      <p:sp>
        <p:nvSpPr>
          <p:cNvPr id="16" name="Text 14"/>
          <p:cNvSpPr/>
          <p:nvPr/>
        </p:nvSpPr>
        <p:spPr>
          <a:xfrm>
            <a:off x="8092440" y="3429000"/>
            <a:ext cx="2651760" cy="320040"/>
          </a:xfrm>
          <a:prstGeom prst="rect">
            <a:avLst/>
          </a:prstGeom>
          <a:noFill/>
          <a:ln/>
        </p:spPr>
        <p:txBody>
          <a:bodyPr wrap="square" rtlCol="0" anchor="t"/>
          <a:lstStyle/>
          <a:p>
            <a:pPr indent="0" marL="0">
              <a:buNone/>
            </a:pPr>
            <a:r>
              <a:rPr lang="en-US" sz="1600" b="1" dirty="0">
                <a:solidFill>
                  <a:srgbClr val="A855F7"/>
                </a:solidFill>
                <a:latin typeface="Calibri" pitchFamily="34" charset="0"/>
                <a:ea typeface="Calibri" pitchFamily="34" charset="-122"/>
                <a:cs typeface="Calibri" pitchFamily="34" charset="-120"/>
              </a:rPr>
              <a:t>03</a:t>
            </a:r>
            <a:endParaRPr lang="en-US" sz="1600" dirty="0"/>
          </a:p>
        </p:txBody>
      </p:sp>
      <p:sp>
        <p:nvSpPr>
          <p:cNvPr id="17" name="Text 15"/>
          <p:cNvSpPr/>
          <p:nvPr/>
        </p:nvSpPr>
        <p:spPr>
          <a:xfrm>
            <a:off x="8092440" y="3794760"/>
            <a:ext cx="2651760" cy="411480"/>
          </a:xfrm>
          <a:prstGeom prst="rect">
            <a:avLst/>
          </a:prstGeom>
          <a:noFill/>
          <a:ln/>
        </p:spPr>
        <p:txBody>
          <a:bodyPr wrap="square"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Meterless Nightshift AI</a:t>
            </a:r>
            <a:endParaRPr lang="en-US" sz="1400" dirty="0"/>
          </a:p>
        </p:txBody>
      </p:sp>
      <p:sp>
        <p:nvSpPr>
          <p:cNvPr id="18" name="Text 16"/>
          <p:cNvSpPr/>
          <p:nvPr/>
        </p:nvSpPr>
        <p:spPr>
          <a:xfrm>
            <a:off x="8092440" y="4251960"/>
            <a:ext cx="2651760" cy="1325880"/>
          </a:xfrm>
          <a:prstGeom prst="rect">
            <a:avLst/>
          </a:prstGeom>
          <a:noFill/>
          <a:ln/>
        </p:spPr>
        <p:txBody>
          <a:bodyPr wrap="square" rtlCol="0" anchor="t"/>
          <a:lstStyle/>
          <a:p>
            <a:pPr indent="0" marL="0">
              <a:buNone/>
            </a:pPr>
            <a:r>
              <a:rPr lang="en-US" sz="1100" dirty="0">
                <a:solidFill>
                  <a:srgbClr val="94A3B8"/>
                </a:solidFill>
                <a:latin typeface="Calibri" pitchFamily="34" charset="0"/>
                <a:ea typeface="Calibri" pitchFamily="34" charset="-122"/>
                <a:cs typeface="Calibri" pitchFamily="34" charset="-120"/>
              </a:rPr>
              <a:t>4-stage local reasoning provider (Race, Judge, Verify, Generate) delivering cryptographic receipts at $0.00 cloud token cost.</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5. SPONSOR TECH</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25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Zetaris Data Virtualization: Zero-ETL Federated SQL</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Querying enterprise data where it lives without data movement or pipeline lag.</a:t>
            </a:r>
            <a:endParaRPr lang="en-US" sz="1250" dirty="0"/>
          </a:p>
        </p:txBody>
      </p:sp>
      <p:sp>
        <p:nvSpPr>
          <p:cNvPr id="12" name="Shape 10"/>
          <p:cNvSpPr/>
          <p:nvPr/>
        </p:nvSpPr>
        <p:spPr>
          <a:xfrm>
            <a:off x="731520" y="1691640"/>
            <a:ext cx="5212080" cy="4526280"/>
          </a:xfrm>
          <a:prstGeom prst="roundRect">
            <a:avLst>
              <a:gd name="adj" fmla="val 3030"/>
            </a:avLst>
          </a:prstGeom>
          <a:solidFill>
            <a:srgbClr val="0B1120"/>
          </a:solidFill>
          <a:ln w="25400">
            <a:solidFill>
              <a:srgbClr val="38BDF8"/>
            </a:solidFill>
            <a:prstDash val="solid"/>
          </a:ln>
        </p:spPr>
      </p:sp>
      <p:sp>
        <p:nvSpPr>
          <p:cNvPr id="13" name="Text 11"/>
          <p:cNvSpPr/>
          <p:nvPr/>
        </p:nvSpPr>
        <p:spPr>
          <a:xfrm>
            <a:off x="1005840" y="1920240"/>
            <a:ext cx="4663440" cy="274320"/>
          </a:xfrm>
          <a:prstGeom prst="rect">
            <a:avLst/>
          </a:prstGeom>
          <a:noFill/>
          <a:ln/>
        </p:spPr>
        <p:txBody>
          <a:bodyPr wrap="square" rtlCol="0" anchor="t"/>
          <a:lstStyle/>
          <a:p>
            <a:pPr indent="0" marL="0">
              <a:buNone/>
            </a:pPr>
            <a:r>
              <a:rPr lang="en-US" sz="1100" b="1" dirty="0">
                <a:solidFill>
                  <a:srgbClr val="38BDF8"/>
                </a:solidFill>
                <a:latin typeface="Calibri" pitchFamily="34" charset="0"/>
                <a:ea typeface="Calibri" pitchFamily="34" charset="-122"/>
                <a:cs typeface="Calibri" pitchFamily="34" charset="-120"/>
              </a:rPr>
              <a:t>ZETARIS VIRTUALIZATION ENGINE</a:t>
            </a:r>
            <a:endParaRPr lang="en-US" sz="1100" dirty="0"/>
          </a:p>
        </p:txBody>
      </p:sp>
      <p:sp>
        <p:nvSpPr>
          <p:cNvPr id="14" name="Text 12"/>
          <p:cNvSpPr/>
          <p:nvPr/>
        </p:nvSpPr>
        <p:spPr>
          <a:xfrm>
            <a:off x="10058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Zero-ETL Federated SQL Join</a:t>
            </a:r>
            <a:endParaRPr lang="en-US" sz="1600" dirty="0"/>
          </a:p>
        </p:txBody>
      </p:sp>
      <p:sp>
        <p:nvSpPr>
          <p:cNvPr id="15" name="Text 13"/>
          <p:cNvSpPr/>
          <p:nvPr/>
        </p:nvSpPr>
        <p:spPr>
          <a:xfrm>
            <a:off x="1005840" y="2743200"/>
            <a:ext cx="4663440" cy="3200400"/>
          </a:xfrm>
          <a:prstGeom prst="rect">
            <a:avLst/>
          </a:prstGeom>
          <a:noFill/>
          <a:ln/>
        </p:spPr>
        <p:txBody>
          <a:bodyPr wrap="square" rtlCol="0" anchor="t"/>
          <a:lstStyle/>
          <a:p>
            <a:pPr indent="0" marL="0">
              <a:buNone/>
            </a:pPr>
            <a:r>
              <a:rPr lang="en-US" sz="1100" dirty="0">
                <a:solidFill>
                  <a:srgbClr val="CBD5E1"/>
                </a:solidFill>
                <a:latin typeface="Calibri" pitchFamily="34" charset="0"/>
                <a:ea typeface="Calibri" pitchFamily="34" charset="-122"/>
                <a:cs typeface="Calibri" pitchFamily="34" charset="-120"/>
              </a:rPr>
              <a:t>• Direct Virtualization: Zetaris connects directly to SAP ERP tables, WMS dock logs, AP invoices, and contract schedules.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12ms Query Latency: Executes cross-table joins on the fly across heterogeneous schemas without staging databases.</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Zero Data Duplication: Financial and banking data never leaves its original security perimeter, satisfying enterprise data residency.</a:t>
            </a:r>
            <a:endParaRPr lang="en-US" sz="1100" dirty="0"/>
          </a:p>
          <a:p>
            <a:pPr indent="0" marL="0">
              <a:buNone/>
            </a:pPr>
            <a:r>
              <a:rPr lang="en-US" sz="1100" dirty="0">
                <a:solidFill>
                  <a:srgbClr val="CBD5E1"/>
                </a:solidFill>
                <a:latin typeface="Calibri" pitchFamily="34" charset="0"/>
                <a:ea typeface="Calibri" pitchFamily="34" charset="-122"/>
                <a:cs typeface="Calibri" pitchFamily="34" charset="-120"/>
              </a:rPr>
              <a:t>• Zero Pipeline Maintenance: Eliminates brittle ETL jobs that break whenever a schema changes.</a:t>
            </a:r>
            <a:endParaRPr lang="en-US" sz="1100" dirty="0"/>
          </a:p>
        </p:txBody>
      </p:sp>
      <p:sp>
        <p:nvSpPr>
          <p:cNvPr id="16" name="Shape 14"/>
          <p:cNvSpPr/>
          <p:nvPr/>
        </p:nvSpPr>
        <p:spPr>
          <a:xfrm>
            <a:off x="6217920" y="1691640"/>
            <a:ext cx="5212080" cy="4526280"/>
          </a:xfrm>
          <a:prstGeom prst="roundRect">
            <a:avLst>
              <a:gd name="adj" fmla="val 3030"/>
            </a:avLst>
          </a:prstGeom>
          <a:solidFill>
            <a:srgbClr val="0F172A"/>
          </a:solidFill>
          <a:ln w="25400">
            <a:solidFill>
              <a:srgbClr val="38BDF8"/>
            </a:solidFill>
            <a:prstDash val="solid"/>
          </a:ln>
        </p:spPr>
      </p:sp>
      <p:sp>
        <p:nvSpPr>
          <p:cNvPr id="17" name="Text 15"/>
          <p:cNvSpPr/>
          <p:nvPr/>
        </p:nvSpPr>
        <p:spPr>
          <a:xfrm>
            <a:off x="6492240" y="1920240"/>
            <a:ext cx="4663440" cy="274320"/>
          </a:xfrm>
          <a:prstGeom prst="rect">
            <a:avLst/>
          </a:prstGeom>
          <a:noFill/>
          <a:ln/>
        </p:spPr>
        <p:txBody>
          <a:bodyPr wrap="square" rtlCol="0" anchor="t"/>
          <a:lstStyle/>
          <a:p>
            <a:pPr indent="0" marL="0">
              <a:buNone/>
            </a:pPr>
            <a:r>
              <a:rPr lang="en-US" sz="1100" b="1" dirty="0">
                <a:solidFill>
                  <a:srgbClr val="38BDF8"/>
                </a:solidFill>
                <a:latin typeface="Calibri" pitchFamily="34" charset="0"/>
                <a:ea typeface="Calibri" pitchFamily="34" charset="-122"/>
                <a:cs typeface="Calibri" pitchFamily="34" charset="-120"/>
              </a:rPr>
              <a:t>ENTERPRISE RESILIENCE &amp; HYBRID MODE</a:t>
            </a:r>
            <a:endParaRPr lang="en-US" sz="1100" dirty="0"/>
          </a:p>
        </p:txBody>
      </p:sp>
      <p:sp>
        <p:nvSpPr>
          <p:cNvPr id="18" name="Text 16"/>
          <p:cNvSpPr/>
          <p:nvPr/>
        </p:nvSpPr>
        <p:spPr>
          <a:xfrm>
            <a:off x="6492240" y="2240280"/>
            <a:ext cx="466344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Seamless Cloud &amp; Offline Fallback</a:t>
            </a:r>
            <a:endParaRPr lang="en-US" sz="1600" dirty="0"/>
          </a:p>
        </p:txBody>
      </p:sp>
      <p:sp>
        <p:nvSpPr>
          <p:cNvPr id="19" name="Text 17"/>
          <p:cNvSpPr/>
          <p:nvPr/>
        </p:nvSpPr>
        <p:spPr>
          <a:xfrm>
            <a:off x="6492240" y="2743200"/>
            <a:ext cx="4663440" cy="3200400"/>
          </a:xfrm>
          <a:prstGeom prst="rect">
            <a:avLst/>
          </a:prstGeom>
          <a:noFill/>
          <a:ln/>
        </p:spPr>
        <p:txBody>
          <a:bodyPr wrap="square" rtlCol="0" anchor="t"/>
          <a:lstStyle/>
          <a:p>
            <a:pPr indent="0" marL="0">
              <a:buNone/>
            </a:pPr>
            <a:r>
              <a:rPr lang="en-US" sz="1100" dirty="0">
                <a:solidFill>
                  <a:srgbClr val="F8FAFC"/>
                </a:solidFill>
                <a:latin typeface="Calibri" pitchFamily="34" charset="0"/>
                <a:ea typeface="Calibri" pitchFamily="34" charset="-122"/>
                <a:cs typeface="Calibri" pitchFamily="34" charset="-120"/>
              </a:rPr>
              <a:t>• Live Cloud Connection: When Zetaris endpoints are available, queries route through the enterprise virtualization gateway.</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In-Memory SQLite Fallback: When offline or in air-gapped dev environments, our SQLite mock replicates identical SQL federation semantics.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100% High Availability: Financial audits never fail due to network interruptions.</a:t>
            </a:r>
            <a:endParaRPr lang="en-US" sz="1100" dirty="0"/>
          </a:p>
          <a:p>
            <a:pPr indent="0" marL="0">
              <a:buNone/>
            </a:pPr>
            <a:r>
              <a:rPr lang="en-US" sz="1100" dirty="0">
                <a:solidFill>
                  <a:srgbClr val="F8FAFC"/>
                </a:solidFill>
                <a:latin typeface="Calibri" pitchFamily="34" charset="0"/>
                <a:ea typeface="Calibri" pitchFamily="34" charset="-122"/>
                <a:cs typeface="Calibri" pitchFamily="34" charset="-120"/>
              </a:rPr>
              <a:t>• Verifiable Telemetry: Every query returns latency metrics and data lineage logs for full operational observability.</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5. SPONSOR TECH</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26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Meterless Engine Architecture: Scout, Relay &amp; H-MEM</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Autonomous multi-agent orchestration, intent parsing, and hierarchical memory.</a:t>
            </a:r>
            <a:endParaRPr lang="en-US" sz="1250" dirty="0"/>
          </a:p>
        </p:txBody>
      </p:sp>
      <p:sp>
        <p:nvSpPr>
          <p:cNvPr id="12" name="Shape 10"/>
          <p:cNvSpPr/>
          <p:nvPr/>
        </p:nvSpPr>
        <p:spPr>
          <a:xfrm>
            <a:off x="731520" y="1691640"/>
            <a:ext cx="3474720" cy="4526280"/>
          </a:xfrm>
          <a:prstGeom prst="roundRect">
            <a:avLst>
              <a:gd name="adj" fmla="val 3947"/>
            </a:avLst>
          </a:prstGeom>
          <a:solidFill>
            <a:srgbClr val="0B1120"/>
          </a:solidFill>
          <a:ln w="25400">
            <a:solidFill>
              <a:srgbClr val="6366F1"/>
            </a:solidFill>
            <a:prstDash val="solid"/>
          </a:ln>
        </p:spPr>
      </p:sp>
      <p:sp>
        <p:nvSpPr>
          <p:cNvPr id="13" name="Text 11"/>
          <p:cNvSpPr/>
          <p:nvPr/>
        </p:nvSpPr>
        <p:spPr>
          <a:xfrm>
            <a:off x="914400" y="1920240"/>
            <a:ext cx="3108960" cy="274320"/>
          </a:xfrm>
          <a:prstGeom prst="rect">
            <a:avLst/>
          </a:prstGeom>
          <a:noFill/>
          <a:ln/>
        </p:spPr>
        <p:txBody>
          <a:bodyPr wrap="square" rtlCol="0" anchor="t"/>
          <a:lstStyle/>
          <a:p>
            <a:pPr indent="0" marL="0">
              <a:buNone/>
            </a:pPr>
            <a:r>
              <a:rPr lang="en-US" sz="1000" b="1" dirty="0">
                <a:solidFill>
                  <a:srgbClr val="6366F1"/>
                </a:solidFill>
                <a:latin typeface="Calibri" pitchFamily="34" charset="0"/>
                <a:ea typeface="Calibri" pitchFamily="34" charset="-122"/>
                <a:cs typeface="Calibri" pitchFamily="34" charset="-120"/>
              </a:rPr>
              <a:t>SCOUT INTENT</a:t>
            </a:r>
            <a:endParaRPr lang="en-US" sz="1000" dirty="0"/>
          </a:p>
        </p:txBody>
      </p:sp>
      <p:sp>
        <p:nvSpPr>
          <p:cNvPr id="14" name="Text 12"/>
          <p:cNvSpPr/>
          <p:nvPr/>
        </p:nvSpPr>
        <p:spPr>
          <a:xfrm>
            <a:off x="914400" y="2240280"/>
            <a:ext cx="3108960" cy="41148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Meterless Scout Engine</a:t>
            </a:r>
            <a:endParaRPr lang="en-US" sz="1500" dirty="0"/>
          </a:p>
        </p:txBody>
      </p:sp>
      <p:sp>
        <p:nvSpPr>
          <p:cNvPr id="15" name="Shape 13"/>
          <p:cNvSpPr/>
          <p:nvPr/>
        </p:nvSpPr>
        <p:spPr>
          <a:xfrm>
            <a:off x="914400" y="2697480"/>
            <a:ext cx="3108960" cy="320040"/>
          </a:xfrm>
          <a:prstGeom prst="roundRect">
            <a:avLst>
              <a:gd name="adj" fmla="val 22857"/>
            </a:avLst>
          </a:prstGeom>
          <a:solidFill>
            <a:srgbClr val="0F172A"/>
          </a:solidFill>
          <a:ln w="12700">
            <a:solidFill>
              <a:srgbClr val="6366F1"/>
            </a:solidFill>
            <a:prstDash val="solid"/>
          </a:ln>
        </p:spPr>
      </p:sp>
      <p:sp>
        <p:nvSpPr>
          <p:cNvPr id="16" name="Text 14"/>
          <p:cNvSpPr/>
          <p:nvPr/>
        </p:nvSpPr>
        <p:spPr>
          <a:xfrm>
            <a:off x="914400" y="2697480"/>
            <a:ext cx="3108960" cy="320040"/>
          </a:xfrm>
          <a:prstGeom prst="rect">
            <a:avLst/>
          </a:prstGeom>
          <a:noFill/>
          <a:ln/>
        </p:spPr>
        <p:txBody>
          <a:bodyPr wrap="square" rtlCol="0" anchor="ctr"/>
          <a:lstStyle/>
          <a:p>
            <a:pPr algn="ctr" indent="0" marL="0">
              <a:buNone/>
            </a:pPr>
            <a:r>
              <a:rPr lang="en-US" sz="1000" b="1" dirty="0">
                <a:solidFill>
                  <a:srgbClr val="6366F1"/>
                </a:solidFill>
                <a:latin typeface="Calibri" pitchFamily="34" charset="0"/>
                <a:ea typeface="Calibri" pitchFamily="34" charset="-122"/>
                <a:cs typeface="Calibri" pitchFamily="34" charset="-120"/>
              </a:rPr>
              <a:t>12ms Latency</a:t>
            </a:r>
            <a:endParaRPr lang="en-US" sz="1000" dirty="0"/>
          </a:p>
        </p:txBody>
      </p:sp>
      <p:sp>
        <p:nvSpPr>
          <p:cNvPr id="17" name="Text 15"/>
          <p:cNvSpPr/>
          <p:nvPr/>
        </p:nvSpPr>
        <p:spPr>
          <a:xfrm>
            <a:off x="914400" y="3154680"/>
            <a:ext cx="3108960" cy="283464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Analyzes user prompts, audit directives, and compliance policies. Configures audit tolerances ($0 threshold) and translates natural language queries into structured execution plans.</a:t>
            </a:r>
            <a:endParaRPr lang="en-US" sz="1050" dirty="0"/>
          </a:p>
        </p:txBody>
      </p:sp>
      <p:sp>
        <p:nvSpPr>
          <p:cNvPr id="18" name="Shape 16"/>
          <p:cNvSpPr/>
          <p:nvPr/>
        </p:nvSpPr>
        <p:spPr>
          <a:xfrm>
            <a:off x="4370832" y="1691640"/>
            <a:ext cx="3474720" cy="4526280"/>
          </a:xfrm>
          <a:prstGeom prst="roundRect">
            <a:avLst>
              <a:gd name="adj" fmla="val 3947"/>
            </a:avLst>
          </a:prstGeom>
          <a:solidFill>
            <a:srgbClr val="0B1120"/>
          </a:solidFill>
          <a:ln w="25400">
            <a:solidFill>
              <a:srgbClr val="38BDF8"/>
            </a:solidFill>
            <a:prstDash val="solid"/>
          </a:ln>
        </p:spPr>
      </p:sp>
      <p:sp>
        <p:nvSpPr>
          <p:cNvPr id="19" name="Text 17"/>
          <p:cNvSpPr/>
          <p:nvPr/>
        </p:nvSpPr>
        <p:spPr>
          <a:xfrm>
            <a:off x="4553712" y="1920240"/>
            <a:ext cx="3108960" cy="27432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RELAY ENGINE</a:t>
            </a:r>
            <a:endParaRPr lang="en-US" sz="1000" dirty="0"/>
          </a:p>
        </p:txBody>
      </p:sp>
      <p:sp>
        <p:nvSpPr>
          <p:cNvPr id="20" name="Text 18"/>
          <p:cNvSpPr/>
          <p:nvPr/>
        </p:nvSpPr>
        <p:spPr>
          <a:xfrm>
            <a:off x="4553712" y="2240280"/>
            <a:ext cx="3108960" cy="41148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Meterless Relay Router</a:t>
            </a:r>
            <a:endParaRPr lang="en-US" sz="1500" dirty="0"/>
          </a:p>
        </p:txBody>
      </p:sp>
      <p:sp>
        <p:nvSpPr>
          <p:cNvPr id="21" name="Shape 19"/>
          <p:cNvSpPr/>
          <p:nvPr/>
        </p:nvSpPr>
        <p:spPr>
          <a:xfrm>
            <a:off x="4553712" y="2697480"/>
            <a:ext cx="3108960" cy="320040"/>
          </a:xfrm>
          <a:prstGeom prst="roundRect">
            <a:avLst>
              <a:gd name="adj" fmla="val 22857"/>
            </a:avLst>
          </a:prstGeom>
          <a:solidFill>
            <a:srgbClr val="0F172A"/>
          </a:solidFill>
          <a:ln w="12700">
            <a:solidFill>
              <a:srgbClr val="38BDF8"/>
            </a:solidFill>
            <a:prstDash val="solid"/>
          </a:ln>
        </p:spPr>
      </p:sp>
      <p:sp>
        <p:nvSpPr>
          <p:cNvPr id="22" name="Text 20"/>
          <p:cNvSpPr/>
          <p:nvPr/>
        </p:nvSpPr>
        <p:spPr>
          <a:xfrm>
            <a:off x="4553712" y="2697480"/>
            <a:ext cx="3108960" cy="320040"/>
          </a:xfrm>
          <a:prstGeom prst="rect">
            <a:avLst/>
          </a:prstGeom>
          <a:noFill/>
          <a:ln/>
        </p:spPr>
        <p:txBody>
          <a:bodyPr wrap="square"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18ms Latency</a:t>
            </a:r>
            <a:endParaRPr lang="en-US" sz="1000" dirty="0"/>
          </a:p>
        </p:txBody>
      </p:sp>
      <p:sp>
        <p:nvSpPr>
          <p:cNvPr id="23" name="Text 21"/>
          <p:cNvSpPr/>
          <p:nvPr/>
        </p:nvSpPr>
        <p:spPr>
          <a:xfrm>
            <a:off x="4553712" y="3154680"/>
            <a:ext cx="3108960" cy="283464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Asynchronous multi-agent dispatcher that coordinates tool execution. Routes queries to Zetaris, triggers reconciliation algorithms, and monitors execution telemetry.</a:t>
            </a:r>
            <a:endParaRPr lang="en-US" sz="1050" dirty="0"/>
          </a:p>
        </p:txBody>
      </p:sp>
      <p:sp>
        <p:nvSpPr>
          <p:cNvPr id="24" name="Shape 22"/>
          <p:cNvSpPr/>
          <p:nvPr/>
        </p:nvSpPr>
        <p:spPr>
          <a:xfrm>
            <a:off x="8010144" y="1691640"/>
            <a:ext cx="3474720" cy="4526280"/>
          </a:xfrm>
          <a:prstGeom prst="roundRect">
            <a:avLst>
              <a:gd name="adj" fmla="val 3947"/>
            </a:avLst>
          </a:prstGeom>
          <a:solidFill>
            <a:srgbClr val="0B1120"/>
          </a:solidFill>
          <a:ln w="25400">
            <a:solidFill>
              <a:srgbClr val="A855F7"/>
            </a:solidFill>
            <a:prstDash val="solid"/>
          </a:ln>
        </p:spPr>
      </p:sp>
      <p:sp>
        <p:nvSpPr>
          <p:cNvPr id="25" name="Text 23"/>
          <p:cNvSpPr/>
          <p:nvPr/>
        </p:nvSpPr>
        <p:spPr>
          <a:xfrm>
            <a:off x="8193024" y="1920240"/>
            <a:ext cx="3108960" cy="274320"/>
          </a:xfrm>
          <a:prstGeom prst="rect">
            <a:avLst/>
          </a:prstGeom>
          <a:noFill/>
          <a:ln/>
        </p:spPr>
        <p:txBody>
          <a:bodyPr wrap="square" rtlCol="0" anchor="t"/>
          <a:lstStyle/>
          <a:p>
            <a:pPr indent="0" marL="0">
              <a:buNone/>
            </a:pPr>
            <a:r>
              <a:rPr lang="en-US" sz="1000" b="1" dirty="0">
                <a:solidFill>
                  <a:srgbClr val="A855F7"/>
                </a:solidFill>
                <a:latin typeface="Calibri" pitchFamily="34" charset="0"/>
                <a:ea typeface="Calibri" pitchFamily="34" charset="-122"/>
                <a:cs typeface="Calibri" pitchFamily="34" charset="-120"/>
              </a:rPr>
              <a:t>GAIA H-MEM</a:t>
            </a:r>
            <a:endParaRPr lang="en-US" sz="1000" dirty="0"/>
          </a:p>
        </p:txBody>
      </p:sp>
      <p:sp>
        <p:nvSpPr>
          <p:cNvPr id="26" name="Text 24"/>
          <p:cNvSpPr/>
          <p:nvPr/>
        </p:nvSpPr>
        <p:spPr>
          <a:xfrm>
            <a:off x="8193024" y="2240280"/>
            <a:ext cx="3108960" cy="411480"/>
          </a:xfrm>
          <a:prstGeom prst="rect">
            <a:avLst/>
          </a:prstGeom>
          <a:noFill/>
          <a:ln/>
        </p:spPr>
        <p:txBody>
          <a:bodyPr wrap="square"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Hierarchical Working Memory</a:t>
            </a:r>
            <a:endParaRPr lang="en-US" sz="1500" dirty="0"/>
          </a:p>
        </p:txBody>
      </p:sp>
      <p:sp>
        <p:nvSpPr>
          <p:cNvPr id="27" name="Shape 25"/>
          <p:cNvSpPr/>
          <p:nvPr/>
        </p:nvSpPr>
        <p:spPr>
          <a:xfrm>
            <a:off x="8193024" y="2697480"/>
            <a:ext cx="3108960" cy="320040"/>
          </a:xfrm>
          <a:prstGeom prst="roundRect">
            <a:avLst>
              <a:gd name="adj" fmla="val 22857"/>
            </a:avLst>
          </a:prstGeom>
          <a:solidFill>
            <a:srgbClr val="0F172A"/>
          </a:solidFill>
          <a:ln w="12700">
            <a:solidFill>
              <a:srgbClr val="A855F7"/>
            </a:solidFill>
            <a:prstDash val="solid"/>
          </a:ln>
        </p:spPr>
      </p:sp>
      <p:sp>
        <p:nvSpPr>
          <p:cNvPr id="28" name="Text 26"/>
          <p:cNvSpPr/>
          <p:nvPr/>
        </p:nvSpPr>
        <p:spPr>
          <a:xfrm>
            <a:off x="8193024" y="2697480"/>
            <a:ext cx="3108960" cy="320040"/>
          </a:xfrm>
          <a:prstGeom prst="rect">
            <a:avLst/>
          </a:prstGeom>
          <a:noFill/>
          <a:ln/>
        </p:spPr>
        <p:txBody>
          <a:bodyPr wrap="square" rtlCol="0" anchor="ctr"/>
          <a:lstStyle/>
          <a:p>
            <a:pPr algn="ctr" indent="0" marL="0">
              <a:buNone/>
            </a:pPr>
            <a:r>
              <a:rPr lang="en-US" sz="1000" b="1" dirty="0">
                <a:solidFill>
                  <a:srgbClr val="A855F7"/>
                </a:solidFill>
                <a:latin typeface="Calibri" pitchFamily="34" charset="0"/>
                <a:ea typeface="Calibri" pitchFamily="34" charset="-122"/>
                <a:cs typeface="Calibri" pitchFamily="34" charset="-120"/>
              </a:rPr>
              <a:t>Persistent State</a:t>
            </a:r>
            <a:endParaRPr lang="en-US" sz="1000" dirty="0"/>
          </a:p>
        </p:txBody>
      </p:sp>
      <p:sp>
        <p:nvSpPr>
          <p:cNvPr id="29" name="Text 27"/>
          <p:cNvSpPr/>
          <p:nvPr/>
        </p:nvSpPr>
        <p:spPr>
          <a:xfrm>
            <a:off x="8193024" y="3154680"/>
            <a:ext cx="3108960" cy="2834640"/>
          </a:xfrm>
          <a:prstGeom prst="rect">
            <a:avLst/>
          </a:prstGeom>
          <a:noFill/>
          <a:ln/>
        </p:spPr>
        <p:txBody>
          <a:bodyPr wrap="square" rtlCol="0" anchor="t"/>
          <a:lstStyle/>
          <a:p>
            <a:pPr indent="0" marL="0">
              <a:buNone/>
            </a:pPr>
            <a:r>
              <a:rPr lang="en-US" sz="1050" dirty="0">
                <a:solidFill>
                  <a:srgbClr val="CBD5E1"/>
                </a:solidFill>
                <a:latin typeface="Calibri" pitchFamily="34" charset="0"/>
                <a:ea typeface="Calibri" pitchFamily="34" charset="-122"/>
                <a:cs typeface="Calibri" pitchFamily="34" charset="-120"/>
              </a:rPr>
              <a:t>Meterless Gaia H-MEM maintains multi-turn context across audit sessions. Persists investigation checkpoints, dispute correspondence, and historical auditor decisions.</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5. SPONSOR TECH</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27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Meterless Nightshift AI: $0.00 Token Compute Provider</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Local AI reasoning cycle: Race, Judge, Verify, and Generate.</a:t>
            </a:r>
            <a:endParaRPr lang="en-US" sz="1250" dirty="0"/>
          </a:p>
        </p:txBody>
      </p:sp>
      <p:sp>
        <p:nvSpPr>
          <p:cNvPr id="12" name="Shape 10"/>
          <p:cNvSpPr/>
          <p:nvPr/>
        </p:nvSpPr>
        <p:spPr>
          <a:xfrm>
            <a:off x="731520" y="1691640"/>
            <a:ext cx="2560320" cy="4526280"/>
          </a:xfrm>
          <a:prstGeom prst="roundRect">
            <a:avLst>
              <a:gd name="adj" fmla="val 4286"/>
            </a:avLst>
          </a:prstGeom>
          <a:solidFill>
            <a:srgbClr val="0B1120"/>
          </a:solidFill>
          <a:ln w="19050">
            <a:solidFill>
              <a:srgbClr val="38BDF8"/>
            </a:solidFill>
            <a:prstDash val="solid"/>
          </a:ln>
        </p:spPr>
      </p:sp>
      <p:sp>
        <p:nvSpPr>
          <p:cNvPr id="13" name="Text 11"/>
          <p:cNvSpPr/>
          <p:nvPr/>
        </p:nvSpPr>
        <p:spPr>
          <a:xfrm>
            <a:off x="868680" y="1920240"/>
            <a:ext cx="2286000" cy="274320"/>
          </a:xfrm>
          <a:prstGeom prst="rect">
            <a:avLst/>
          </a:prstGeom>
          <a:noFill/>
          <a:ln/>
        </p:spPr>
        <p:txBody>
          <a:bodyPr wrap="square" rtlCol="0" anchor="t"/>
          <a:lstStyle/>
          <a:p>
            <a:pPr indent="0" marL="0">
              <a:buNone/>
            </a:pPr>
            <a:r>
              <a:rPr lang="en-US" sz="1000" b="1" dirty="0">
                <a:solidFill>
                  <a:srgbClr val="38BDF8"/>
                </a:solidFill>
                <a:latin typeface="Calibri" pitchFamily="34" charset="0"/>
                <a:ea typeface="Calibri" pitchFamily="34" charset="-122"/>
                <a:cs typeface="Calibri" pitchFamily="34" charset="-120"/>
              </a:rPr>
              <a:t>STAGE 1</a:t>
            </a:r>
            <a:endParaRPr lang="en-US" sz="1000" dirty="0"/>
          </a:p>
        </p:txBody>
      </p:sp>
      <p:sp>
        <p:nvSpPr>
          <p:cNvPr id="14" name="Text 12"/>
          <p:cNvSpPr/>
          <p:nvPr/>
        </p:nvSpPr>
        <p:spPr>
          <a:xfrm>
            <a:off x="868680" y="2240280"/>
            <a:ext cx="228600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RACE</a:t>
            </a:r>
            <a:endParaRPr lang="en-US" sz="1600" dirty="0"/>
          </a:p>
        </p:txBody>
      </p:sp>
      <p:sp>
        <p:nvSpPr>
          <p:cNvPr id="15" name="Shape 13"/>
          <p:cNvSpPr/>
          <p:nvPr/>
        </p:nvSpPr>
        <p:spPr>
          <a:xfrm>
            <a:off x="868680" y="2697480"/>
            <a:ext cx="2286000" cy="320040"/>
          </a:xfrm>
          <a:prstGeom prst="roundRect">
            <a:avLst>
              <a:gd name="adj" fmla="val 22857"/>
            </a:avLst>
          </a:prstGeom>
          <a:solidFill>
            <a:srgbClr val="0F172A"/>
          </a:solidFill>
          <a:ln w="12700">
            <a:solidFill>
              <a:srgbClr val="38BDF8"/>
            </a:solidFill>
            <a:prstDash val="solid"/>
          </a:ln>
        </p:spPr>
      </p:sp>
      <p:sp>
        <p:nvSpPr>
          <p:cNvPr id="16" name="Text 14"/>
          <p:cNvSpPr/>
          <p:nvPr/>
        </p:nvSpPr>
        <p:spPr>
          <a:xfrm>
            <a:off x="868680" y="2697480"/>
            <a:ext cx="2286000" cy="320040"/>
          </a:xfrm>
          <a:prstGeom prst="rect">
            <a:avLst/>
          </a:prstGeom>
          <a:noFill/>
          <a:ln/>
        </p:spPr>
        <p:txBody>
          <a:bodyPr wrap="square"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Parallel Run</a:t>
            </a:r>
            <a:endParaRPr lang="en-US" sz="1000" dirty="0"/>
          </a:p>
        </p:txBody>
      </p:sp>
      <p:sp>
        <p:nvSpPr>
          <p:cNvPr id="17" name="Text 15"/>
          <p:cNvSpPr/>
          <p:nvPr/>
        </p:nvSpPr>
        <p:spPr>
          <a:xfrm>
            <a:off x="868680" y="3154680"/>
            <a:ext cx="2286000" cy="2834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Nightshift initiates parallel local inference threads to evaluate discrepancy patterns against enterprise policies.</a:t>
            </a:r>
            <a:endParaRPr lang="en-US" sz="1000" dirty="0"/>
          </a:p>
        </p:txBody>
      </p:sp>
      <p:sp>
        <p:nvSpPr>
          <p:cNvPr id="18" name="Shape 16"/>
          <p:cNvSpPr/>
          <p:nvPr/>
        </p:nvSpPr>
        <p:spPr>
          <a:xfrm>
            <a:off x="3456432" y="1691640"/>
            <a:ext cx="2560320" cy="4526280"/>
          </a:xfrm>
          <a:prstGeom prst="roundRect">
            <a:avLst>
              <a:gd name="adj" fmla="val 4286"/>
            </a:avLst>
          </a:prstGeom>
          <a:solidFill>
            <a:srgbClr val="0B1120"/>
          </a:solidFill>
          <a:ln w="19050">
            <a:solidFill>
              <a:srgbClr val="F59E0B"/>
            </a:solidFill>
            <a:prstDash val="solid"/>
          </a:ln>
        </p:spPr>
      </p:sp>
      <p:sp>
        <p:nvSpPr>
          <p:cNvPr id="19" name="Text 17"/>
          <p:cNvSpPr/>
          <p:nvPr/>
        </p:nvSpPr>
        <p:spPr>
          <a:xfrm>
            <a:off x="3593592" y="1920240"/>
            <a:ext cx="2286000" cy="274320"/>
          </a:xfrm>
          <a:prstGeom prst="rect">
            <a:avLst/>
          </a:prstGeom>
          <a:noFill/>
          <a:ln/>
        </p:spPr>
        <p:txBody>
          <a:bodyPr wrap="square" rtlCol="0" anchor="t"/>
          <a:lstStyle/>
          <a:p>
            <a:pPr indent="0" marL="0">
              <a:buNone/>
            </a:pPr>
            <a:r>
              <a:rPr lang="en-US" sz="1000" b="1" dirty="0">
                <a:solidFill>
                  <a:srgbClr val="F59E0B"/>
                </a:solidFill>
                <a:latin typeface="Calibri" pitchFamily="34" charset="0"/>
                <a:ea typeface="Calibri" pitchFamily="34" charset="-122"/>
                <a:cs typeface="Calibri" pitchFamily="34" charset="-120"/>
              </a:rPr>
              <a:t>STAGE 2</a:t>
            </a:r>
            <a:endParaRPr lang="en-US" sz="1000" dirty="0"/>
          </a:p>
        </p:txBody>
      </p:sp>
      <p:sp>
        <p:nvSpPr>
          <p:cNvPr id="20" name="Text 18"/>
          <p:cNvSpPr/>
          <p:nvPr/>
        </p:nvSpPr>
        <p:spPr>
          <a:xfrm>
            <a:off x="3593592" y="2240280"/>
            <a:ext cx="228600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JUDGE</a:t>
            </a:r>
            <a:endParaRPr lang="en-US" sz="1600" dirty="0"/>
          </a:p>
        </p:txBody>
      </p:sp>
      <p:sp>
        <p:nvSpPr>
          <p:cNvPr id="21" name="Shape 19"/>
          <p:cNvSpPr/>
          <p:nvPr/>
        </p:nvSpPr>
        <p:spPr>
          <a:xfrm>
            <a:off x="3593592" y="2697480"/>
            <a:ext cx="2286000" cy="320040"/>
          </a:xfrm>
          <a:prstGeom prst="roundRect">
            <a:avLst>
              <a:gd name="adj" fmla="val 22857"/>
            </a:avLst>
          </a:prstGeom>
          <a:solidFill>
            <a:srgbClr val="0F172A"/>
          </a:solidFill>
          <a:ln w="12700">
            <a:solidFill>
              <a:srgbClr val="F59E0B"/>
            </a:solidFill>
            <a:prstDash val="solid"/>
          </a:ln>
        </p:spPr>
      </p:sp>
      <p:sp>
        <p:nvSpPr>
          <p:cNvPr id="22" name="Text 20"/>
          <p:cNvSpPr/>
          <p:nvPr/>
        </p:nvSpPr>
        <p:spPr>
          <a:xfrm>
            <a:off x="3593592" y="2697480"/>
            <a:ext cx="2286000" cy="320040"/>
          </a:xfrm>
          <a:prstGeom prst="rect">
            <a:avLst/>
          </a:prstGeom>
          <a:noFill/>
          <a:ln/>
        </p:spPr>
        <p:txBody>
          <a:bodyPr wrap="square" rtlCol="0" anchor="ctr"/>
          <a:lstStyle/>
          <a:p>
            <a:pPr algn="ctr" indent="0" marL="0">
              <a:buNone/>
            </a:pPr>
            <a:r>
              <a:rPr lang="en-US" sz="1000" b="1" dirty="0">
                <a:solidFill>
                  <a:srgbClr val="F59E0B"/>
                </a:solidFill>
                <a:latin typeface="Calibri" pitchFamily="34" charset="0"/>
                <a:ea typeface="Calibri" pitchFamily="34" charset="-122"/>
                <a:cs typeface="Calibri" pitchFamily="34" charset="-120"/>
              </a:rPr>
              <a:t>Tolerance Check</a:t>
            </a:r>
            <a:endParaRPr lang="en-US" sz="1000" dirty="0"/>
          </a:p>
        </p:txBody>
      </p:sp>
      <p:sp>
        <p:nvSpPr>
          <p:cNvPr id="23" name="Text 21"/>
          <p:cNvSpPr/>
          <p:nvPr/>
        </p:nvSpPr>
        <p:spPr>
          <a:xfrm>
            <a:off x="3593592" y="3154680"/>
            <a:ext cx="2286000" cy="2834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Threshold evaluator applies corporate tolerance rules (strict $0 allowance) to eliminate immaterial noise.</a:t>
            </a:r>
            <a:endParaRPr lang="en-US" sz="1000" dirty="0"/>
          </a:p>
        </p:txBody>
      </p:sp>
      <p:sp>
        <p:nvSpPr>
          <p:cNvPr id="24" name="Shape 22"/>
          <p:cNvSpPr/>
          <p:nvPr/>
        </p:nvSpPr>
        <p:spPr>
          <a:xfrm>
            <a:off x="6181344" y="1691640"/>
            <a:ext cx="2560320" cy="4526280"/>
          </a:xfrm>
          <a:prstGeom prst="roundRect">
            <a:avLst>
              <a:gd name="adj" fmla="val 4286"/>
            </a:avLst>
          </a:prstGeom>
          <a:solidFill>
            <a:srgbClr val="0B1120"/>
          </a:solidFill>
          <a:ln w="19050">
            <a:solidFill>
              <a:srgbClr val="10B981"/>
            </a:solidFill>
            <a:prstDash val="solid"/>
          </a:ln>
        </p:spPr>
      </p:sp>
      <p:sp>
        <p:nvSpPr>
          <p:cNvPr id="25" name="Text 23"/>
          <p:cNvSpPr/>
          <p:nvPr/>
        </p:nvSpPr>
        <p:spPr>
          <a:xfrm>
            <a:off x="6318504" y="1920240"/>
            <a:ext cx="2286000" cy="274320"/>
          </a:xfrm>
          <a:prstGeom prst="rect">
            <a:avLst/>
          </a:prstGeom>
          <a:noFill/>
          <a:ln/>
        </p:spPr>
        <p:txBody>
          <a:bodyPr wrap="square" rtlCol="0" anchor="t"/>
          <a:lstStyle/>
          <a:p>
            <a:pPr indent="0" marL="0">
              <a:buNone/>
            </a:pPr>
            <a:r>
              <a:rPr lang="en-US" sz="1000" b="1" dirty="0">
                <a:solidFill>
                  <a:srgbClr val="10B981"/>
                </a:solidFill>
                <a:latin typeface="Calibri" pitchFamily="34" charset="0"/>
                <a:ea typeface="Calibri" pitchFamily="34" charset="-122"/>
                <a:cs typeface="Calibri" pitchFamily="34" charset="-120"/>
              </a:rPr>
              <a:t>STAGE 3</a:t>
            </a:r>
            <a:endParaRPr lang="en-US" sz="1000" dirty="0"/>
          </a:p>
        </p:txBody>
      </p:sp>
      <p:sp>
        <p:nvSpPr>
          <p:cNvPr id="26" name="Text 24"/>
          <p:cNvSpPr/>
          <p:nvPr/>
        </p:nvSpPr>
        <p:spPr>
          <a:xfrm>
            <a:off x="6318504" y="2240280"/>
            <a:ext cx="228600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VERIFY</a:t>
            </a:r>
            <a:endParaRPr lang="en-US" sz="1600" dirty="0"/>
          </a:p>
        </p:txBody>
      </p:sp>
      <p:sp>
        <p:nvSpPr>
          <p:cNvPr id="27" name="Shape 25"/>
          <p:cNvSpPr/>
          <p:nvPr/>
        </p:nvSpPr>
        <p:spPr>
          <a:xfrm>
            <a:off x="6318504" y="2697480"/>
            <a:ext cx="2286000" cy="320040"/>
          </a:xfrm>
          <a:prstGeom prst="roundRect">
            <a:avLst>
              <a:gd name="adj" fmla="val 22857"/>
            </a:avLst>
          </a:prstGeom>
          <a:solidFill>
            <a:srgbClr val="0F172A"/>
          </a:solidFill>
          <a:ln w="12700">
            <a:solidFill>
              <a:srgbClr val="10B981"/>
            </a:solidFill>
            <a:prstDash val="solid"/>
          </a:ln>
        </p:spPr>
      </p:sp>
      <p:sp>
        <p:nvSpPr>
          <p:cNvPr id="28" name="Text 26"/>
          <p:cNvSpPr/>
          <p:nvPr/>
        </p:nvSpPr>
        <p:spPr>
          <a:xfrm>
            <a:off x="6318504" y="2697480"/>
            <a:ext cx="2286000" cy="320040"/>
          </a:xfrm>
          <a:prstGeom prst="rect">
            <a:avLst/>
          </a:prstGeom>
          <a:noFill/>
          <a:ln/>
        </p:spPr>
        <p:txBody>
          <a:bodyPr wrap="square"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Math Prover</a:t>
            </a:r>
            <a:endParaRPr lang="en-US" sz="1000" dirty="0"/>
          </a:p>
        </p:txBody>
      </p:sp>
      <p:sp>
        <p:nvSpPr>
          <p:cNvPr id="29" name="Text 27"/>
          <p:cNvSpPr/>
          <p:nvPr/>
        </p:nvSpPr>
        <p:spPr>
          <a:xfrm>
            <a:off x="6318504" y="3154680"/>
            <a:ext cx="2286000" cy="2834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Deterministic math prover checks calculations: quantity variance, price differential, and invoice sum.</a:t>
            </a:r>
            <a:endParaRPr lang="en-US" sz="1000" dirty="0"/>
          </a:p>
        </p:txBody>
      </p:sp>
      <p:sp>
        <p:nvSpPr>
          <p:cNvPr id="30" name="Shape 28"/>
          <p:cNvSpPr/>
          <p:nvPr/>
        </p:nvSpPr>
        <p:spPr>
          <a:xfrm>
            <a:off x="8906256" y="1691640"/>
            <a:ext cx="2560320" cy="4526280"/>
          </a:xfrm>
          <a:prstGeom prst="roundRect">
            <a:avLst>
              <a:gd name="adj" fmla="val 4286"/>
            </a:avLst>
          </a:prstGeom>
          <a:solidFill>
            <a:srgbClr val="0B1120"/>
          </a:solidFill>
          <a:ln w="19050">
            <a:solidFill>
              <a:srgbClr val="A855F7"/>
            </a:solidFill>
            <a:prstDash val="solid"/>
          </a:ln>
        </p:spPr>
      </p:sp>
      <p:sp>
        <p:nvSpPr>
          <p:cNvPr id="31" name="Text 29"/>
          <p:cNvSpPr/>
          <p:nvPr/>
        </p:nvSpPr>
        <p:spPr>
          <a:xfrm>
            <a:off x="9043416" y="1920240"/>
            <a:ext cx="2286000" cy="274320"/>
          </a:xfrm>
          <a:prstGeom prst="rect">
            <a:avLst/>
          </a:prstGeom>
          <a:noFill/>
          <a:ln/>
        </p:spPr>
        <p:txBody>
          <a:bodyPr wrap="square" rtlCol="0" anchor="t"/>
          <a:lstStyle/>
          <a:p>
            <a:pPr indent="0" marL="0">
              <a:buNone/>
            </a:pPr>
            <a:r>
              <a:rPr lang="en-US" sz="1000" b="1" dirty="0">
                <a:solidFill>
                  <a:srgbClr val="A855F7"/>
                </a:solidFill>
                <a:latin typeface="Calibri" pitchFamily="34" charset="0"/>
                <a:ea typeface="Calibri" pitchFamily="34" charset="-122"/>
                <a:cs typeface="Calibri" pitchFamily="34" charset="-120"/>
              </a:rPr>
              <a:t>STAGE 4</a:t>
            </a:r>
            <a:endParaRPr lang="en-US" sz="1000" dirty="0"/>
          </a:p>
        </p:txBody>
      </p:sp>
      <p:sp>
        <p:nvSpPr>
          <p:cNvPr id="32" name="Text 30"/>
          <p:cNvSpPr/>
          <p:nvPr/>
        </p:nvSpPr>
        <p:spPr>
          <a:xfrm>
            <a:off x="9043416" y="2240280"/>
            <a:ext cx="2286000" cy="411480"/>
          </a:xfrm>
          <a:prstGeom prst="rect">
            <a:avLst/>
          </a:prstGeom>
          <a:noFill/>
          <a:ln/>
        </p:spPr>
        <p:txBody>
          <a:bodyPr wrap="square"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GENERATE</a:t>
            </a:r>
            <a:endParaRPr lang="en-US" sz="1600" dirty="0"/>
          </a:p>
        </p:txBody>
      </p:sp>
      <p:sp>
        <p:nvSpPr>
          <p:cNvPr id="33" name="Shape 31"/>
          <p:cNvSpPr/>
          <p:nvPr/>
        </p:nvSpPr>
        <p:spPr>
          <a:xfrm>
            <a:off x="9043416" y="2697480"/>
            <a:ext cx="2286000" cy="320040"/>
          </a:xfrm>
          <a:prstGeom prst="roundRect">
            <a:avLst>
              <a:gd name="adj" fmla="val 22857"/>
            </a:avLst>
          </a:prstGeom>
          <a:solidFill>
            <a:srgbClr val="0F172A"/>
          </a:solidFill>
          <a:ln w="12700">
            <a:solidFill>
              <a:srgbClr val="A855F7"/>
            </a:solidFill>
            <a:prstDash val="solid"/>
          </a:ln>
        </p:spPr>
      </p:sp>
      <p:sp>
        <p:nvSpPr>
          <p:cNvPr id="34" name="Text 32"/>
          <p:cNvSpPr/>
          <p:nvPr/>
        </p:nvSpPr>
        <p:spPr>
          <a:xfrm>
            <a:off x="9043416" y="2697480"/>
            <a:ext cx="2286000" cy="320040"/>
          </a:xfrm>
          <a:prstGeom prst="rect">
            <a:avLst/>
          </a:prstGeom>
          <a:noFill/>
          <a:ln/>
        </p:spPr>
        <p:txBody>
          <a:bodyPr wrap="square" rtlCol="0" anchor="ctr"/>
          <a:lstStyle/>
          <a:p>
            <a:pPr algn="ctr" indent="0" marL="0">
              <a:buNone/>
            </a:pPr>
            <a:r>
              <a:rPr lang="en-US" sz="1000" b="1" dirty="0">
                <a:solidFill>
                  <a:srgbClr val="A855F7"/>
                </a:solidFill>
                <a:latin typeface="Calibri" pitchFamily="34" charset="0"/>
                <a:ea typeface="Calibri" pitchFamily="34" charset="-122"/>
                <a:cs typeface="Calibri" pitchFamily="34" charset="-120"/>
              </a:rPr>
              <a:t>$0.00 Tokens</a:t>
            </a:r>
            <a:endParaRPr lang="en-US" sz="1000" dirty="0"/>
          </a:p>
        </p:txBody>
      </p:sp>
      <p:sp>
        <p:nvSpPr>
          <p:cNvPr id="35" name="Text 33"/>
          <p:cNvSpPr/>
          <p:nvPr/>
        </p:nvSpPr>
        <p:spPr>
          <a:xfrm>
            <a:off x="9043416" y="3154680"/>
            <a:ext cx="2286000" cy="2834640"/>
          </a:xfrm>
          <a:prstGeom prst="rect">
            <a:avLst/>
          </a:prstGeom>
          <a:noFill/>
          <a:ln/>
        </p:spPr>
        <p:txBody>
          <a:bodyPr wrap="square" rtlCol="0" anchor="t"/>
          <a:lstStyle/>
          <a:p>
            <a:pPr indent="0" marL="0">
              <a:buNone/>
            </a:pPr>
            <a:r>
              <a:rPr lang="en-US" sz="1000" dirty="0">
                <a:solidFill>
                  <a:srgbClr val="CBD5E1"/>
                </a:solidFill>
                <a:latin typeface="Calibri" pitchFamily="34" charset="0"/>
                <a:ea typeface="Calibri" pitchFamily="34" charset="-122"/>
                <a:cs typeface="Calibri" pitchFamily="34" charset="-120"/>
              </a:rPr>
              <a:t>Generates immutable cryptographic audit receipt and dispute letter at zero dollar cloud token cost.</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0617"/>
        </a:solidFill>
      </p:bgPr>
    </p:bg>
    <p:spTree>
      <p:nvGrpSpPr>
        <p:cNvPr id="1" name=""/>
        <p:cNvGrpSpPr/>
        <p:nvPr/>
      </p:nvGrpSpPr>
      <p:grpSpPr>
        <a:xfrm>
          <a:off x="0" y="0"/>
          <a:ext cx="0" cy="0"/>
          <a:chOff x="0" y="0"/>
          <a:chExt cx="0" cy="0"/>
        </a:xfrm>
      </p:grpSpPr>
      <p:sp>
        <p:nvSpPr>
          <p:cNvPr id="2" name="Shape 0"/>
          <p:cNvSpPr/>
          <p:nvPr/>
        </p:nvSpPr>
        <p:spPr>
          <a:xfrm>
            <a:off x="731520" y="384048"/>
            <a:ext cx="2651760" cy="292608"/>
          </a:xfrm>
          <a:prstGeom prst="roundRect">
            <a:avLst>
              <a:gd name="adj" fmla="val 50000"/>
            </a:avLst>
          </a:prstGeom>
          <a:solidFill>
            <a:srgbClr val="1E1B4B"/>
          </a:solidFill>
          <a:ln w="15240">
            <a:solidFill>
              <a:srgbClr val="4338CA"/>
            </a:solidFill>
            <a:prstDash val="solid"/>
          </a:ln>
        </p:spPr>
      </p:sp>
      <p:sp>
        <p:nvSpPr>
          <p:cNvPr id="3" name="Text 1"/>
          <p:cNvSpPr/>
          <p:nvPr/>
        </p:nvSpPr>
        <p:spPr>
          <a:xfrm>
            <a:off x="731520" y="384048"/>
            <a:ext cx="2651760" cy="292608"/>
          </a:xfrm>
          <a:prstGeom prst="rect">
            <a:avLst/>
          </a:prstGeom>
          <a:noFill/>
          <a:ln/>
        </p:spPr>
        <p:txBody>
          <a:bodyPr wrap="square" rtlCol="0" anchor="ctr"/>
          <a:lstStyle/>
          <a:p>
            <a:pPr algn="ctr" indent="0" marL="0">
              <a:buNone/>
            </a:pPr>
            <a:r>
              <a:rPr lang="en-US" sz="950" b="1" dirty="0">
                <a:solidFill>
                  <a:srgbClr val="C7D2FE"/>
                </a:solidFill>
                <a:latin typeface="Calibri" pitchFamily="34" charset="0"/>
                <a:ea typeface="Calibri" pitchFamily="34" charset="-122"/>
                <a:cs typeface="Calibri" pitchFamily="34" charset="-120"/>
              </a:rPr>
              <a:t>5. SPONSOR TECH / CONCLUSION</a:t>
            </a:r>
            <a:endParaRPr lang="en-US" sz="950" dirty="0"/>
          </a:p>
        </p:txBody>
      </p:sp>
      <p:sp>
        <p:nvSpPr>
          <p:cNvPr id="4" name="Shape 2"/>
          <p:cNvSpPr/>
          <p:nvPr/>
        </p:nvSpPr>
        <p:spPr>
          <a:xfrm>
            <a:off x="3520440" y="384048"/>
            <a:ext cx="1371600" cy="292608"/>
          </a:xfrm>
          <a:prstGeom prst="roundRect">
            <a:avLst>
              <a:gd name="adj" fmla="val 50000"/>
            </a:avLst>
          </a:prstGeom>
          <a:solidFill>
            <a:srgbClr val="0F172A"/>
          </a:solidFill>
          <a:ln w="12700">
            <a:solidFill>
              <a:srgbClr val="334155"/>
            </a:solidFill>
            <a:prstDash val="solid"/>
          </a:ln>
        </p:spPr>
      </p:sp>
      <p:sp>
        <p:nvSpPr>
          <p:cNvPr id="5" name="Text 3"/>
          <p:cNvSpPr/>
          <p:nvPr/>
        </p:nvSpPr>
        <p:spPr>
          <a:xfrm>
            <a:off x="3520440" y="384048"/>
            <a:ext cx="1371600" cy="292608"/>
          </a:xfrm>
          <a:prstGeom prst="rect">
            <a:avLst/>
          </a:prstGeom>
          <a:noFill/>
          <a:ln/>
        </p:spPr>
        <p:txBody>
          <a:bodyPr wrap="square" rtlCol="0" anchor="ctr"/>
          <a:lstStyle/>
          <a:p>
            <a:pPr algn="ctr" indent="0" marL="0">
              <a:buNone/>
            </a:pPr>
            <a:r>
              <a:rPr lang="en-US" sz="850" b="1" dirty="0">
                <a:solidFill>
                  <a:srgbClr val="94A3B8"/>
                </a:solidFill>
                <a:latin typeface="Calibri" pitchFamily="34" charset="0"/>
                <a:ea typeface="Calibri" pitchFamily="34" charset="-122"/>
                <a:cs typeface="Calibri" pitchFamily="34" charset="-120"/>
              </a:rPr>
              <a:t>SLIDE 28 OF 28</a:t>
            </a:r>
            <a:endParaRPr lang="en-US" sz="850" dirty="0"/>
          </a:p>
        </p:txBody>
      </p:sp>
      <p:sp>
        <p:nvSpPr>
          <p:cNvPr id="6" name="Shape 4"/>
          <p:cNvSpPr/>
          <p:nvPr/>
        </p:nvSpPr>
        <p:spPr>
          <a:xfrm>
            <a:off x="8138160" y="384048"/>
            <a:ext cx="1645920" cy="292608"/>
          </a:xfrm>
          <a:prstGeom prst="roundRect">
            <a:avLst>
              <a:gd name="adj" fmla="val 50000"/>
            </a:avLst>
          </a:prstGeom>
          <a:solidFill>
            <a:srgbClr val="082F49"/>
          </a:solidFill>
          <a:ln w="12700">
            <a:solidFill>
              <a:srgbClr val="0284C7"/>
            </a:solidFill>
            <a:prstDash val="solid"/>
          </a:ln>
        </p:spPr>
      </p:sp>
      <p:sp>
        <p:nvSpPr>
          <p:cNvPr id="7" name="Text 5"/>
          <p:cNvSpPr/>
          <p:nvPr/>
        </p:nvSpPr>
        <p:spPr>
          <a:xfrm>
            <a:off x="8138160" y="384048"/>
            <a:ext cx="1645920" cy="292608"/>
          </a:xfrm>
          <a:prstGeom prst="rect">
            <a:avLst/>
          </a:prstGeom>
          <a:noFill/>
          <a:ln/>
        </p:spPr>
        <p:txBody>
          <a:bodyPr wrap="square" rtlCol="0" anchor="ctr"/>
          <a:lstStyle/>
          <a:p>
            <a:pPr algn="ctr" indent="0" marL="0">
              <a:buNone/>
            </a:pPr>
            <a:r>
              <a:rPr lang="en-US" sz="850" b="1" dirty="0">
                <a:solidFill>
                  <a:srgbClr val="7DD3FC"/>
                </a:solidFill>
                <a:latin typeface="Calibri" pitchFamily="34" charset="0"/>
                <a:ea typeface="Calibri" pitchFamily="34" charset="-122"/>
                <a:cs typeface="Calibri" pitchFamily="34" charset="-120"/>
              </a:rPr>
              <a:t>ZETARIS FEDERATED</a:t>
            </a:r>
            <a:endParaRPr lang="en-US" sz="850" dirty="0"/>
          </a:p>
        </p:txBody>
      </p:sp>
      <p:sp>
        <p:nvSpPr>
          <p:cNvPr id="8" name="Shape 6"/>
          <p:cNvSpPr/>
          <p:nvPr/>
        </p:nvSpPr>
        <p:spPr>
          <a:xfrm>
            <a:off x="9875520" y="384048"/>
            <a:ext cx="1581912" cy="292608"/>
          </a:xfrm>
          <a:prstGeom prst="roundRect">
            <a:avLst>
              <a:gd name="adj" fmla="val 50000"/>
            </a:avLst>
          </a:prstGeom>
          <a:solidFill>
            <a:srgbClr val="064E3B"/>
          </a:solidFill>
          <a:ln w="12700">
            <a:solidFill>
              <a:srgbClr val="059669"/>
            </a:solidFill>
            <a:prstDash val="solid"/>
          </a:ln>
        </p:spPr>
      </p:sp>
      <p:sp>
        <p:nvSpPr>
          <p:cNvPr id="9" name="Text 7"/>
          <p:cNvSpPr/>
          <p:nvPr/>
        </p:nvSpPr>
        <p:spPr>
          <a:xfrm>
            <a:off x="9875520" y="384048"/>
            <a:ext cx="1581912" cy="292608"/>
          </a:xfrm>
          <a:prstGeom prst="rect">
            <a:avLst/>
          </a:prstGeom>
          <a:noFill/>
          <a:ln/>
        </p:spPr>
        <p:txBody>
          <a:bodyPr wrap="square" rtlCol="0" anchor="ctr"/>
          <a:lstStyle/>
          <a:p>
            <a:pPr algn="ctr" indent="0" marL="0">
              <a:buNone/>
            </a:pPr>
            <a:r>
              <a:rPr lang="en-US" sz="850" b="1" dirty="0">
                <a:solidFill>
                  <a:srgbClr val="6EE7B7"/>
                </a:solidFill>
                <a:latin typeface="Calibri" pitchFamily="34" charset="0"/>
                <a:ea typeface="Calibri" pitchFamily="34" charset="-122"/>
                <a:cs typeface="Calibri" pitchFamily="34" charset="-120"/>
              </a:rPr>
              <a:t>METERLESS NIGHTSHIFT</a:t>
            </a:r>
            <a:endParaRPr lang="en-US" sz="850" dirty="0"/>
          </a:p>
        </p:txBody>
      </p:sp>
      <p:sp>
        <p:nvSpPr>
          <p:cNvPr id="10" name="Text 8"/>
          <p:cNvSpPr/>
          <p:nvPr/>
        </p:nvSpPr>
        <p:spPr>
          <a:xfrm>
            <a:off x="731520" y="749808"/>
            <a:ext cx="10725912" cy="502920"/>
          </a:xfrm>
          <a:prstGeom prst="rect">
            <a:avLst/>
          </a:prstGeom>
          <a:noFill/>
          <a:ln/>
        </p:spPr>
        <p:txBody>
          <a:bodyPr wrap="square"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Summary, Live Demo, and Open-Source Repository</a:t>
            </a:r>
            <a:endParaRPr lang="en-US" sz="2100" dirty="0"/>
          </a:p>
        </p:txBody>
      </p:sp>
      <p:sp>
        <p:nvSpPr>
          <p:cNvPr id="11" name="Text 9"/>
          <p:cNvSpPr/>
          <p:nvPr/>
        </p:nvSpPr>
        <p:spPr>
          <a:xfrm>
            <a:off x="731520" y="1234440"/>
            <a:ext cx="10725912" cy="320040"/>
          </a:xfrm>
          <a:prstGeom prst="rect">
            <a:avLst/>
          </a:prstGeom>
          <a:noFill/>
          <a:ln/>
        </p:spPr>
        <p:txBody>
          <a:bodyPr wrap="square" rtlCol="0" anchor="t"/>
          <a:lstStyle/>
          <a:p>
            <a:pPr indent="0" marL="0">
              <a:buNone/>
            </a:pPr>
            <a:r>
              <a:rPr lang="en-US" sz="1250" dirty="0">
                <a:solidFill>
                  <a:srgbClr val="94A3B8"/>
                </a:solidFill>
                <a:latin typeface="Calibri" pitchFamily="34" charset="0"/>
                <a:ea typeface="Calibri" pitchFamily="34" charset="-122"/>
                <a:cs typeface="Calibri" pitchFamily="34" charset="-120"/>
              </a:rPr>
              <a:t>TraceBack AI turns enterprise procurement leakage into measurable cash recovery.</a:t>
            </a:r>
            <a:endParaRPr lang="en-US" sz="1250" dirty="0"/>
          </a:p>
        </p:txBody>
      </p:sp>
      <p:sp>
        <p:nvSpPr>
          <p:cNvPr id="12" name="Shape 10"/>
          <p:cNvSpPr/>
          <p:nvPr/>
        </p:nvSpPr>
        <p:spPr>
          <a:xfrm>
            <a:off x="731520" y="1691640"/>
            <a:ext cx="10725912" cy="4526280"/>
          </a:xfrm>
          <a:prstGeom prst="roundRect">
            <a:avLst>
              <a:gd name="adj" fmla="val 3030"/>
            </a:avLst>
          </a:prstGeom>
          <a:solidFill>
            <a:srgbClr val="0B1120"/>
          </a:solidFill>
          <a:ln w="25400">
            <a:solidFill>
              <a:srgbClr val="312E81"/>
            </a:solidFill>
            <a:prstDash val="solid"/>
          </a:ln>
        </p:spPr>
      </p:sp>
      <p:sp>
        <p:nvSpPr>
          <p:cNvPr id="13" name="Text 11"/>
          <p:cNvSpPr/>
          <p:nvPr/>
        </p:nvSpPr>
        <p:spPr>
          <a:xfrm>
            <a:off x="1005840" y="1874520"/>
            <a:ext cx="10149840" cy="274320"/>
          </a:xfrm>
          <a:prstGeom prst="rect">
            <a:avLst/>
          </a:prstGeom>
          <a:noFill/>
          <a:ln/>
        </p:spPr>
        <p:txBody>
          <a:bodyPr wrap="square" rtlCol="0" anchor="t"/>
          <a:lstStyle/>
          <a:p>
            <a:pPr indent="0" marL="0">
              <a:buNone/>
            </a:pPr>
            <a:r>
              <a:rPr lang="en-US" sz="1100" b="1" dirty="0">
                <a:solidFill>
                  <a:srgbClr val="38BDF8"/>
                </a:solidFill>
                <a:latin typeface="Calibri" pitchFamily="34" charset="0"/>
                <a:ea typeface="Calibri" pitchFamily="34" charset="-122"/>
                <a:cs typeface="Calibri" pitchFamily="34" charset="-120"/>
              </a:rPr>
              <a:t>PRODUCTION VERIFICATION &amp; DEMONSTRATION LINKS:</a:t>
            </a:r>
            <a:endParaRPr lang="en-US" sz="1100" dirty="0"/>
          </a:p>
        </p:txBody>
      </p:sp>
      <p:sp>
        <p:nvSpPr>
          <p:cNvPr id="14" name="Shape 12"/>
          <p:cNvSpPr/>
          <p:nvPr/>
        </p:nvSpPr>
        <p:spPr>
          <a:xfrm>
            <a:off x="1005840" y="2194560"/>
            <a:ext cx="10149840" cy="530352"/>
          </a:xfrm>
          <a:prstGeom prst="roundRect">
            <a:avLst>
              <a:gd name="adj" fmla="val 13793"/>
            </a:avLst>
          </a:prstGeom>
          <a:solidFill>
            <a:srgbClr val="0F172A"/>
          </a:solidFill>
          <a:ln w="12700">
            <a:solidFill>
              <a:srgbClr val="1E293B"/>
            </a:solidFill>
            <a:prstDash val="solid"/>
          </a:ln>
        </p:spPr>
      </p:sp>
      <p:sp>
        <p:nvSpPr>
          <p:cNvPr id="15" name="Text 13"/>
          <p:cNvSpPr/>
          <p:nvPr/>
        </p:nvSpPr>
        <p:spPr>
          <a:xfrm>
            <a:off x="1188720" y="226771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Live Web Application (GitHub Pages):</a:t>
            </a:r>
            <a:endParaRPr lang="en-US" sz="1050" dirty="0"/>
          </a:p>
        </p:txBody>
      </p:sp>
      <p:sp>
        <p:nvSpPr>
          <p:cNvPr id="16" name="Text 14"/>
          <p:cNvSpPr/>
          <p:nvPr/>
        </p:nvSpPr>
        <p:spPr>
          <a:xfrm>
            <a:off x="1188720" y="246888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Full interactive React dashboard with simulation, audit trail &amp; claim approval.</a:t>
            </a:r>
            <a:endParaRPr lang="en-US" sz="850" dirty="0"/>
          </a:p>
        </p:txBody>
      </p:sp>
      <p:sp>
        <p:nvSpPr>
          <p:cNvPr id="17" name="Text 15"/>
          <p:cNvSpPr/>
          <p:nvPr/>
        </p:nvSpPr>
        <p:spPr>
          <a:xfrm>
            <a:off x="5120640" y="233172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a:t>
            </a:r>
            <a:endParaRPr lang="en-US" sz="1050" dirty="0"/>
          </a:p>
        </p:txBody>
      </p:sp>
      <p:sp>
        <p:nvSpPr>
          <p:cNvPr id="18" name="Shape 16"/>
          <p:cNvSpPr/>
          <p:nvPr/>
        </p:nvSpPr>
        <p:spPr>
          <a:xfrm>
            <a:off x="1005840" y="2788920"/>
            <a:ext cx="10149840" cy="530352"/>
          </a:xfrm>
          <a:prstGeom prst="roundRect">
            <a:avLst>
              <a:gd name="adj" fmla="val 13793"/>
            </a:avLst>
          </a:prstGeom>
          <a:solidFill>
            <a:srgbClr val="0F172A"/>
          </a:solidFill>
          <a:ln w="12700">
            <a:solidFill>
              <a:srgbClr val="1E293B"/>
            </a:solidFill>
            <a:prstDash val="solid"/>
          </a:ln>
        </p:spPr>
      </p:sp>
      <p:sp>
        <p:nvSpPr>
          <p:cNvPr id="19" name="Text 17"/>
          <p:cNvSpPr/>
          <p:nvPr/>
        </p:nvSpPr>
        <p:spPr>
          <a:xfrm>
            <a:off x="1188720" y="286207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Interactive Web Presentation Deck:</a:t>
            </a:r>
            <a:endParaRPr lang="en-US" sz="1050" dirty="0"/>
          </a:p>
        </p:txBody>
      </p:sp>
      <p:sp>
        <p:nvSpPr>
          <p:cNvPr id="20" name="Text 18"/>
          <p:cNvSpPr/>
          <p:nvPr/>
        </p:nvSpPr>
        <p:spPr>
          <a:xfrm>
            <a:off x="1188720" y="306324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In-browser 28-slide deck with keyboard navigation and speaker notes.</a:t>
            </a:r>
            <a:endParaRPr lang="en-US" sz="850" dirty="0"/>
          </a:p>
        </p:txBody>
      </p:sp>
      <p:sp>
        <p:nvSpPr>
          <p:cNvPr id="21" name="Text 19"/>
          <p:cNvSpPr/>
          <p:nvPr/>
        </p:nvSpPr>
        <p:spPr>
          <a:xfrm>
            <a:off x="5120640" y="292608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https://zaintahir2025.github.io/traceback-ai/presentation.html</a:t>
            </a:r>
            <a:endParaRPr lang="en-US" sz="1050" dirty="0"/>
          </a:p>
        </p:txBody>
      </p:sp>
      <p:sp>
        <p:nvSpPr>
          <p:cNvPr id="22" name="Shape 20"/>
          <p:cNvSpPr/>
          <p:nvPr/>
        </p:nvSpPr>
        <p:spPr>
          <a:xfrm>
            <a:off x="1005840" y="3383280"/>
            <a:ext cx="10149840" cy="530352"/>
          </a:xfrm>
          <a:prstGeom prst="roundRect">
            <a:avLst>
              <a:gd name="adj" fmla="val 13793"/>
            </a:avLst>
          </a:prstGeom>
          <a:solidFill>
            <a:srgbClr val="0F172A"/>
          </a:solidFill>
          <a:ln w="12700">
            <a:solidFill>
              <a:srgbClr val="1E293B"/>
            </a:solidFill>
            <a:prstDash val="solid"/>
          </a:ln>
        </p:spPr>
      </p:sp>
      <p:sp>
        <p:nvSpPr>
          <p:cNvPr id="23" name="Text 21"/>
          <p:cNvSpPr/>
          <p:nvPr/>
        </p:nvSpPr>
        <p:spPr>
          <a:xfrm>
            <a:off x="1188720" y="345643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PowerPoint File (.pptx) Download:</a:t>
            </a:r>
            <a:endParaRPr lang="en-US" sz="1050" dirty="0"/>
          </a:p>
        </p:txBody>
      </p:sp>
      <p:sp>
        <p:nvSpPr>
          <p:cNvPr id="24" name="Text 22"/>
          <p:cNvSpPr/>
          <p:nvPr/>
        </p:nvSpPr>
        <p:spPr>
          <a:xfrm>
            <a:off x="1188720" y="365760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Direct download of official 28-slide Microsoft PowerPoint deck.</a:t>
            </a:r>
            <a:endParaRPr lang="en-US" sz="850" dirty="0"/>
          </a:p>
        </p:txBody>
      </p:sp>
      <p:sp>
        <p:nvSpPr>
          <p:cNvPr id="25" name="Text 23"/>
          <p:cNvSpPr/>
          <p:nvPr/>
        </p:nvSpPr>
        <p:spPr>
          <a:xfrm>
            <a:off x="5120640" y="352044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https://zaintahir2025.github.io/traceback-ai/traceback-ai-presentation.pptx</a:t>
            </a:r>
            <a:endParaRPr lang="en-US" sz="1050" dirty="0"/>
          </a:p>
        </p:txBody>
      </p:sp>
      <p:sp>
        <p:nvSpPr>
          <p:cNvPr id="26" name="Shape 24"/>
          <p:cNvSpPr/>
          <p:nvPr/>
        </p:nvSpPr>
        <p:spPr>
          <a:xfrm>
            <a:off x="1005840" y="3977640"/>
            <a:ext cx="10149840" cy="530352"/>
          </a:xfrm>
          <a:prstGeom prst="roundRect">
            <a:avLst>
              <a:gd name="adj" fmla="val 13793"/>
            </a:avLst>
          </a:prstGeom>
          <a:solidFill>
            <a:srgbClr val="0F172A"/>
          </a:solidFill>
          <a:ln w="12700">
            <a:solidFill>
              <a:srgbClr val="1E293B"/>
            </a:solidFill>
            <a:prstDash val="solid"/>
          </a:ln>
        </p:spPr>
      </p:sp>
      <p:sp>
        <p:nvSpPr>
          <p:cNvPr id="27" name="Text 25"/>
          <p:cNvSpPr/>
          <p:nvPr/>
        </p:nvSpPr>
        <p:spPr>
          <a:xfrm>
            <a:off x="1188720" y="405079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2-Minute Demo Video Walkthrough:</a:t>
            </a:r>
            <a:endParaRPr lang="en-US" sz="1050" dirty="0"/>
          </a:p>
        </p:txBody>
      </p:sp>
      <p:sp>
        <p:nvSpPr>
          <p:cNvPr id="28" name="Text 26"/>
          <p:cNvSpPr/>
          <p:nvPr/>
        </p:nvSpPr>
        <p:spPr>
          <a:xfrm>
            <a:off x="1188720" y="425196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Standalone HTML5 presentation with synchronized speech narration.</a:t>
            </a:r>
            <a:endParaRPr lang="en-US" sz="850" dirty="0"/>
          </a:p>
        </p:txBody>
      </p:sp>
      <p:sp>
        <p:nvSpPr>
          <p:cNvPr id="29" name="Text 27"/>
          <p:cNvSpPr/>
          <p:nvPr/>
        </p:nvSpPr>
        <p:spPr>
          <a:xfrm>
            <a:off x="5120640" y="411480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https://zaintahir2025.github.io/traceback-ai/demo-video.html</a:t>
            </a:r>
            <a:endParaRPr lang="en-US" sz="1050" dirty="0"/>
          </a:p>
        </p:txBody>
      </p:sp>
      <p:sp>
        <p:nvSpPr>
          <p:cNvPr id="30" name="Shape 28"/>
          <p:cNvSpPr/>
          <p:nvPr/>
        </p:nvSpPr>
        <p:spPr>
          <a:xfrm>
            <a:off x="1005840" y="4572000"/>
            <a:ext cx="10149840" cy="530352"/>
          </a:xfrm>
          <a:prstGeom prst="roundRect">
            <a:avLst>
              <a:gd name="adj" fmla="val 13793"/>
            </a:avLst>
          </a:prstGeom>
          <a:solidFill>
            <a:srgbClr val="0F172A"/>
          </a:solidFill>
          <a:ln w="12700">
            <a:solidFill>
              <a:srgbClr val="1E293B"/>
            </a:solidFill>
            <a:prstDash val="solid"/>
          </a:ln>
        </p:spPr>
      </p:sp>
      <p:sp>
        <p:nvSpPr>
          <p:cNvPr id="31" name="Text 29"/>
          <p:cNvSpPr/>
          <p:nvPr/>
        </p:nvSpPr>
        <p:spPr>
          <a:xfrm>
            <a:off x="1188720" y="464515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Official Demo Video (MP4) File:</a:t>
            </a:r>
            <a:endParaRPr lang="en-US" sz="1050" dirty="0"/>
          </a:p>
        </p:txBody>
      </p:sp>
      <p:sp>
        <p:nvSpPr>
          <p:cNvPr id="32" name="Text 30"/>
          <p:cNvSpPr/>
          <p:nvPr/>
        </p:nvSpPr>
        <p:spPr>
          <a:xfrm>
            <a:off x="1188720" y="484632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Direct download of 107-second HD MP4 video file (4.22 MB).</a:t>
            </a:r>
            <a:endParaRPr lang="en-US" sz="850" dirty="0"/>
          </a:p>
        </p:txBody>
      </p:sp>
      <p:sp>
        <p:nvSpPr>
          <p:cNvPr id="33" name="Text 31"/>
          <p:cNvSpPr/>
          <p:nvPr/>
        </p:nvSpPr>
        <p:spPr>
          <a:xfrm>
            <a:off x="5120640" y="470916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https://zaintahir2025.github.io/traceback-ai/traceback-ai-demo.mp4</a:t>
            </a:r>
            <a:endParaRPr lang="en-US" sz="1050" dirty="0"/>
          </a:p>
        </p:txBody>
      </p:sp>
      <p:sp>
        <p:nvSpPr>
          <p:cNvPr id="34" name="Shape 32"/>
          <p:cNvSpPr/>
          <p:nvPr/>
        </p:nvSpPr>
        <p:spPr>
          <a:xfrm>
            <a:off x="1005840" y="5166360"/>
            <a:ext cx="10149840" cy="530352"/>
          </a:xfrm>
          <a:prstGeom prst="roundRect">
            <a:avLst>
              <a:gd name="adj" fmla="val 13793"/>
            </a:avLst>
          </a:prstGeom>
          <a:solidFill>
            <a:srgbClr val="0F172A"/>
          </a:solidFill>
          <a:ln w="12700">
            <a:solidFill>
              <a:srgbClr val="1E293B"/>
            </a:solidFill>
            <a:prstDash val="solid"/>
          </a:ln>
        </p:spPr>
      </p:sp>
      <p:sp>
        <p:nvSpPr>
          <p:cNvPr id="35" name="Text 33"/>
          <p:cNvSpPr/>
          <p:nvPr/>
        </p:nvSpPr>
        <p:spPr>
          <a:xfrm>
            <a:off x="1188720" y="5239512"/>
            <a:ext cx="3840480" cy="201168"/>
          </a:xfrm>
          <a:prstGeom prst="rect">
            <a:avLst/>
          </a:prstGeom>
          <a:noFill/>
          <a:ln/>
        </p:spPr>
        <p:txBody>
          <a:bodyPr wrap="square"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Open-Source GitHub Repository:</a:t>
            </a:r>
            <a:endParaRPr lang="en-US" sz="1050" dirty="0"/>
          </a:p>
        </p:txBody>
      </p:sp>
      <p:sp>
        <p:nvSpPr>
          <p:cNvPr id="36" name="Text 34"/>
          <p:cNvSpPr/>
          <p:nvPr/>
        </p:nvSpPr>
        <p:spPr>
          <a:xfrm>
            <a:off x="1188720" y="5440680"/>
            <a:ext cx="3840480" cy="201168"/>
          </a:xfrm>
          <a:prstGeom prst="rect">
            <a:avLst/>
          </a:prstGeom>
          <a:noFill/>
          <a:ln/>
        </p:spPr>
        <p:txBody>
          <a:bodyPr wrap="square" rtlCol="0" anchor="t"/>
          <a:lstStyle/>
          <a:p>
            <a:pPr indent="0" marL="0">
              <a:buNone/>
            </a:pPr>
            <a:r>
              <a:rPr lang="en-US" sz="850" dirty="0">
                <a:solidFill>
                  <a:srgbClr val="94A3B8"/>
                </a:solidFill>
                <a:latin typeface="Calibri" pitchFamily="34" charset="0"/>
                <a:ea typeface="Calibri" pitchFamily="34" charset="-122"/>
                <a:cs typeface="Calibri" pitchFamily="34" charset="-120"/>
              </a:rPr>
              <a:t>Full source code, backend API, tests, Zetaris integration &amp; Meterless engine.</a:t>
            </a:r>
            <a:endParaRPr lang="en-US" sz="850" dirty="0"/>
          </a:p>
        </p:txBody>
      </p:sp>
      <p:sp>
        <p:nvSpPr>
          <p:cNvPr id="37" name="Text 35"/>
          <p:cNvSpPr/>
          <p:nvPr/>
        </p:nvSpPr>
        <p:spPr>
          <a:xfrm>
            <a:off x="5120640" y="5303520"/>
            <a:ext cx="5852160" cy="274320"/>
          </a:xfrm>
          <a:prstGeom prst="rect">
            <a:avLst/>
          </a:prstGeom>
          <a:noFill/>
          <a:ln/>
        </p:spPr>
        <p:txBody>
          <a:bodyPr wrap="square" rtlCol="0" anchor="t"/>
          <a:lstStyle/>
          <a:p>
            <a:pPr indent="0" marL="0">
              <a:buNone/>
            </a:pPr>
            <a:r>
              <a:rPr lang="en-US" sz="1050" dirty="0">
                <a:solidFill>
                  <a:srgbClr val="38BDF8"/>
                </a:solidFill>
                <a:latin typeface="Calibri" pitchFamily="34" charset="0"/>
                <a:ea typeface="Calibri" pitchFamily="34" charset="-122"/>
                <a:cs typeface="Calibri" pitchFamily="34" charset="-120"/>
              </a:rPr>
              <a:t>https://github.com/zaintahir2025/traceback-ai</a:t>
            </a:r>
            <a:endParaRPr lang="en-US" sz="1050" dirty="0"/>
          </a:p>
        </p:txBody>
      </p:sp>
      <p:sp>
        <p:nvSpPr>
          <p:cNvPr id="38" name="Text 36"/>
          <p:cNvSpPr/>
          <p:nvPr/>
        </p:nvSpPr>
        <p:spPr>
          <a:xfrm>
            <a:off x="1005840" y="5897880"/>
            <a:ext cx="10149840" cy="274320"/>
          </a:xfrm>
          <a:prstGeom prst="rect">
            <a:avLst/>
          </a:prstGeom>
          <a:noFill/>
          <a:ln/>
        </p:spPr>
        <p:txBody>
          <a:bodyPr wrap="square" rtlCol="0" anchor="ctr"/>
          <a:lstStyle/>
          <a:p>
            <a:pPr algn="ctr" indent="0" marL="0">
              <a:buNone/>
            </a:pPr>
            <a:r>
              <a:rPr lang="en-US" sz="1100" b="1" dirty="0">
                <a:solidFill>
                  <a:srgbClr val="10B981"/>
                </a:solidFill>
                <a:latin typeface="Calibri" pitchFamily="34" charset="0"/>
                <a:ea typeface="Calibri" pitchFamily="34" charset="-122"/>
                <a:cs typeface="Calibri" pitchFamily="34" charset="-120"/>
              </a:rPr>
              <a:t>TraceBack AI is fully built, tested, and live today. Thank you for your time!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TraceBack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TraceBack AI — Enterprise 28-Slide Presentation Deck</dc:title>
  <dc:subject>Autonomous 4-Way Cross-Source Data Virtualization &amp; Spend Recovery Agent</dc:subject>
  <dc:creator>Zain Tahir</dc:creator>
  <cp:lastModifiedBy>Zain Tahir</cp:lastModifiedBy>
  <cp:revision>1</cp:revision>
  <dcterms:created xsi:type="dcterms:W3CDTF">2026-10-26T18:36:51Z</dcterms:created>
  <dcterms:modified xsi:type="dcterms:W3CDTF">2026-10-26T18:36:51Z</dcterms:modified>
</cp:coreProperties>
</file>